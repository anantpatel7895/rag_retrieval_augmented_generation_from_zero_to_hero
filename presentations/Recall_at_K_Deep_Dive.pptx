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9692640" y="-1280160"/>
            <a:ext cx="4754880" cy="4754880"/>
          </a:xfrm>
          <a:prstGeom prst="ellipse">
            <a:avLst/>
          </a:prstGeom>
          <a:solidFill>
            <a:srgbClr val="223A5E"/>
          </a:solidFill>
          <a:ln/>
        </p:spPr>
      </p:sp>
      <p:sp>
        <p:nvSpPr>
          <p:cNvPr id="3" name="Shape 1"/>
          <p:cNvSpPr/>
          <p:nvPr/>
        </p:nvSpPr>
        <p:spPr>
          <a:xfrm>
            <a:off x="-1463040" y="4846320"/>
            <a:ext cx="3840480" cy="3840480"/>
          </a:xfrm>
          <a:prstGeom prst="ellipse">
            <a:avLst/>
          </a:prstGeom>
          <a:solidFill>
            <a:srgbClr val="223A5E"/>
          </a:solidFill>
          <a:ln/>
        </p:spPr>
      </p:sp>
      <p:sp>
        <p:nvSpPr>
          <p:cNvPr id="4" name="Text 2"/>
          <p:cNvSpPr txBox="1"/>
          <p:nvPr/>
        </p:nvSpPr>
        <p:spPr>
          <a:xfrm>
            <a:off x="731520" y="1051560"/>
            <a:ext cx="8229600" cy="365760"/>
          </a:xfrm>
          <a:prstGeom prst="rect">
            <a:avLst/>
          </a:prstGeom>
          <a:noFill/>
          <a:ln/>
        </p:spPr>
        <p:txBody>
          <a:bodyPr wrap="square" lIns="0" tIns="0" rIns="0" bIns="0" rtlCol="0" anchor="ctr"/>
          <a:lstStyle/>
          <a:p>
            <a:pPr indent="0" marL="0">
              <a:buNone/>
            </a:pPr>
            <a:r>
              <a:rPr lang="en-US" sz="1400" b="1" spc="200" kern="0" dirty="0">
                <a:solidFill>
                  <a:srgbClr val="CADCFC"/>
                </a:solidFill>
                <a:latin typeface="Calibri" pitchFamily="34" charset="0"/>
                <a:ea typeface="Calibri" pitchFamily="34" charset="-122"/>
                <a:cs typeface="Calibri" pitchFamily="34" charset="-120"/>
              </a:rPr>
              <a:t>RETRIEVAL METRIC DEEP DIVE</a:t>
            </a:r>
            <a:endParaRPr lang="en-US" sz="1400" dirty="0"/>
          </a:p>
        </p:txBody>
      </p:sp>
      <p:sp>
        <p:nvSpPr>
          <p:cNvPr id="5" name="Text 3"/>
          <p:cNvSpPr txBox="1"/>
          <p:nvPr/>
        </p:nvSpPr>
        <p:spPr>
          <a:xfrm>
            <a:off x="731520" y="1463040"/>
            <a:ext cx="914400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Recall@K</a:t>
            </a:r>
            <a:endParaRPr lang="en-US" sz="5400" dirty="0"/>
          </a:p>
        </p:txBody>
      </p:sp>
      <p:sp>
        <p:nvSpPr>
          <p:cNvPr id="6" name="Text 4"/>
          <p:cNvSpPr txBox="1"/>
          <p:nvPr/>
        </p:nvSpPr>
        <p:spPr>
          <a:xfrm>
            <a:off x="731520" y="2468880"/>
            <a:ext cx="8686800" cy="502920"/>
          </a:xfrm>
          <a:prstGeom prst="rect">
            <a:avLst/>
          </a:prstGeom>
          <a:noFill/>
          <a:ln/>
        </p:spPr>
        <p:txBody>
          <a:bodyPr wrap="square" lIns="0" tIns="0" rIns="0" bIns="0" rtlCol="0" anchor="ctr"/>
          <a:lstStyle/>
          <a:p>
            <a:pPr indent="0" marL="0">
              <a:buNone/>
            </a:pPr>
            <a:r>
              <a:rPr lang="en-US" sz="1700" i="1" dirty="0">
                <a:solidFill>
                  <a:srgbClr val="CADCFC"/>
                </a:solidFill>
                <a:latin typeface="Calibri" pitchFamily="34" charset="0"/>
                <a:ea typeface="Calibri" pitchFamily="34" charset="-122"/>
                <a:cs typeface="Calibri" pitchFamily="34" charset="-120"/>
              </a:rPr>
              <a:t>How much of everything relevant did we actually find?</a:t>
            </a:r>
            <a:endParaRPr lang="en-US" sz="1700" dirty="0"/>
          </a:p>
        </p:txBody>
      </p:sp>
      <p:sp>
        <p:nvSpPr>
          <p:cNvPr id="7" name="Shape 5"/>
          <p:cNvSpPr/>
          <p:nvPr/>
        </p:nvSpPr>
        <p:spPr>
          <a:xfrm>
            <a:off x="731520" y="3246120"/>
            <a:ext cx="10698480" cy="2697480"/>
          </a:xfrm>
          <a:prstGeom prst="roundRect">
            <a:avLst>
              <a:gd name="adj" fmla="val 2712"/>
            </a:avLst>
          </a:prstGeom>
          <a:solidFill>
            <a:srgbClr val="223A5E"/>
          </a:solidFill>
          <a:ln/>
        </p:spPr>
      </p:sp>
      <p:sp>
        <p:nvSpPr>
          <p:cNvPr id="8" name="Text 6"/>
          <p:cNvSpPr txBox="1"/>
          <p:nvPr/>
        </p:nvSpPr>
        <p:spPr>
          <a:xfrm>
            <a:off x="1051560" y="3456432"/>
            <a:ext cx="5486400" cy="320040"/>
          </a:xfrm>
          <a:prstGeom prst="rect">
            <a:avLst/>
          </a:prstGeom>
          <a:noFill/>
          <a:ln/>
        </p:spPr>
        <p:txBody>
          <a:bodyPr wrap="square" lIns="0" tIns="0" rIns="0" bIns="0" rtlCol="0" anchor="ctr"/>
          <a:lstStyle/>
          <a:p>
            <a:pPr indent="0" marL="0">
              <a:buNone/>
            </a:pPr>
            <a:r>
              <a:rPr lang="en-US" sz="1400" b="1" dirty="0">
                <a:solidFill>
                  <a:srgbClr val="D9A441"/>
                </a:solidFill>
                <a:latin typeface="Calibri" pitchFamily="34" charset="0"/>
                <a:ea typeface="Calibri" pitchFamily="34" charset="-122"/>
                <a:cs typeface="Calibri" pitchFamily="34" charset="-120"/>
              </a:rPr>
              <a:t>Using our shared dataset</a:t>
            </a:r>
            <a:endParaRPr lang="en-US" sz="1400" dirty="0"/>
          </a:p>
        </p:txBody>
      </p:sp>
      <p:sp>
        <p:nvSpPr>
          <p:cNvPr id="9" name="Text 7"/>
          <p:cNvSpPr txBox="1"/>
          <p:nvPr/>
        </p:nvSpPr>
        <p:spPr>
          <a:xfrm>
            <a:off x="1051560" y="3840480"/>
            <a:ext cx="10058400" cy="868680"/>
          </a:xfrm>
          <a:prstGeom prst="rect">
            <a:avLst/>
          </a:prstGeom>
          <a:noFill/>
          <a:ln/>
        </p:spPr>
        <p:txBody>
          <a:bodyPr wrap="square" lIns="0" tIns="0" rIns="0" bIns="0" rtlCol="0" anchor="ctr"/>
          <a:lstStyle/>
          <a:p>
            <a:pPr indent="0" marL="0">
              <a:lnSpc>
                <a:spcPct val="130000"/>
              </a:lnSpc>
              <a:buNone/>
            </a:pPr>
            <a:r>
              <a:rPr lang="en-US" sz="1300" b="1" dirty="0">
                <a:solidFill>
                  <a:srgbClr val="FFFFFF"/>
                </a:solidFill>
                <a:latin typeface="Calibri" pitchFamily="34" charset="0"/>
                <a:ea typeface="Calibri" pitchFamily="34" charset="-122"/>
                <a:cs typeface="Calibri" pitchFamily="34" charset="-120"/>
              </a:rPr>
              <a:t>3 queries</a:t>
            </a:r>
            <a:pPr indent="0" marL="0">
              <a:lnSpc>
                <a:spcPct val="130000"/>
              </a:lnSpc>
              <a:buNone/>
            </a:pPr>
            <a:r>
              <a:rPr lang="en-US" sz="1300" dirty="0">
                <a:solidFill>
                  <a:srgbClr val="DCE6F7"/>
                </a:solidFill>
                <a:latin typeface="Calibri" pitchFamily="34" charset="0"/>
                <a:ea typeface="Calibri" pitchFamily="34" charset="-122"/>
                <a:cs typeface="Calibri" pitchFamily="34" charset="-120"/>
              </a:rPr>
              <a:t> (2FA reset · 2FA setup · change email) against a shared SaaS knowledge-base corpus, retrieved by </a:t>
            </a:r>
            <a:pPr indent="0" marL="0">
              <a:lnSpc>
                <a:spcPct val="130000"/>
              </a:lnSpc>
              <a:buNone/>
            </a:pPr>
            <a:r>
              <a:rPr lang="en-US" sz="1300" b="1" dirty="0">
                <a:solidFill>
                  <a:srgbClr val="FFFFFF"/>
                </a:solidFill>
                <a:latin typeface="Calibri" pitchFamily="34" charset="0"/>
                <a:ea typeface="Calibri" pitchFamily="34" charset="-122"/>
                <a:cs typeface="Calibri" pitchFamily="34" charset="-120"/>
              </a:rPr>
              <a:t>2 systems</a:t>
            </a:r>
            <a:pPr indent="0" marL="0">
              <a:lnSpc>
                <a:spcPct val="130000"/>
              </a:lnSpc>
              <a:buNone/>
            </a:pPr>
            <a:r>
              <a:rPr lang="en-US" sz="1300" dirty="0">
                <a:solidFill>
                  <a:srgbClr val="DCE6F7"/>
                </a:solidFill>
                <a:latin typeface="Calibri" pitchFamily="34" charset="0"/>
                <a:ea typeface="Calibri" pitchFamily="34" charset="-122"/>
                <a:cs typeface="Calibri" pitchFamily="34" charset="-120"/>
              </a:rPr>
              <a:t>: a naive </a:t>
            </a:r>
            <a:pPr indent="0" marL="0">
              <a:lnSpc>
                <a:spcPct val="130000"/>
              </a:lnSpc>
              <a:buNone/>
            </a:pPr>
            <a:r>
              <a:rPr lang="en-US" sz="1300" b="1" dirty="0">
                <a:solidFill>
                  <a:srgbClr val="FFFFFF"/>
                </a:solidFill>
                <a:latin typeface="Calibri" pitchFamily="34" charset="0"/>
                <a:ea typeface="Calibri" pitchFamily="34" charset="-122"/>
                <a:cs typeface="Calibri" pitchFamily="34" charset="-120"/>
              </a:rPr>
              <a:t>Baseline</a:t>
            </a:r>
            <a:pPr indent="0" marL="0">
              <a:lnSpc>
                <a:spcPct val="130000"/>
              </a:lnSpc>
              <a:buNone/>
            </a:pPr>
            <a:r>
              <a:rPr lang="en-US" sz="1300" dirty="0">
                <a:solidFill>
                  <a:srgbClr val="DCE6F7"/>
                </a:solidFill>
                <a:latin typeface="Calibri" pitchFamily="34" charset="0"/>
                <a:ea typeface="Calibri" pitchFamily="34" charset="-122"/>
                <a:cs typeface="Calibri" pitchFamily="34" charset="-120"/>
              </a:rPr>
              <a:t> (embedding similarity only) and an </a:t>
            </a:r>
            <a:pPr indent="0" marL="0">
              <a:lnSpc>
                <a:spcPct val="130000"/>
              </a:lnSpc>
              <a:buNone/>
            </a:pPr>
            <a:r>
              <a:rPr lang="en-US" sz="1300" b="1" dirty="0">
                <a:solidFill>
                  <a:srgbClr val="FFFFFF"/>
                </a:solidFill>
                <a:latin typeface="Calibri" pitchFamily="34" charset="0"/>
                <a:ea typeface="Calibri" pitchFamily="34" charset="-122"/>
                <a:cs typeface="Calibri" pitchFamily="34" charset="-120"/>
              </a:rPr>
              <a:t>Improved</a:t>
            </a:r>
            <a:pPr indent="0" marL="0">
              <a:lnSpc>
                <a:spcPct val="130000"/>
              </a:lnSpc>
              <a:buNone/>
            </a:pPr>
            <a:r>
              <a:rPr lang="en-US" sz="1300" dirty="0">
                <a:solidFill>
                  <a:srgbClr val="DCE6F7"/>
                </a:solidFill>
                <a:latin typeface="Calibri" pitchFamily="34" charset="0"/>
                <a:ea typeface="Calibri" pitchFamily="34" charset="-122"/>
                <a:cs typeface="Calibri" pitchFamily="34" charset="-120"/>
              </a:rPr>
              <a:t> system (hybrid search + cross-encoder reranker). Same data as the Precision@K deck.</a:t>
            </a:r>
            <a:endParaRPr lang="en-US" sz="1300" dirty="0"/>
          </a:p>
        </p:txBody>
      </p:sp>
      <p:sp>
        <p:nvSpPr>
          <p:cNvPr id="10" name="Text 8"/>
          <p:cNvSpPr txBox="1"/>
          <p:nvPr/>
        </p:nvSpPr>
        <p:spPr>
          <a:xfrm>
            <a:off x="1051560" y="4846320"/>
            <a:ext cx="5486400" cy="274320"/>
          </a:xfrm>
          <a:prstGeom prst="rect">
            <a:avLst/>
          </a:prstGeom>
          <a:noFill/>
          <a:ln/>
        </p:spPr>
        <p:txBody>
          <a:bodyPr wrap="square" lIns="0" tIns="0" rIns="0" bIns="0" rtlCol="0" anchor="ctr"/>
          <a:lstStyle/>
          <a:p>
            <a:pPr indent="0" marL="0">
              <a:buNone/>
            </a:pPr>
            <a:r>
              <a:rPr lang="en-US" sz="1100" b="1" dirty="0">
                <a:solidFill>
                  <a:srgbClr val="5A7CA6"/>
                </a:solidFill>
                <a:latin typeface="Calibri" pitchFamily="34" charset="0"/>
                <a:ea typeface="Calibri" pitchFamily="34" charset="-122"/>
                <a:cs typeface="Calibri" pitchFamily="34" charset="-120"/>
              </a:rPr>
              <a:t>What this deck covers</a:t>
            </a:r>
            <a:endParaRPr lang="en-US" sz="1100" dirty="0"/>
          </a:p>
        </p:txBody>
      </p:sp>
      <p:sp>
        <p:nvSpPr>
          <p:cNvPr id="11" name="Shape 9"/>
          <p:cNvSpPr/>
          <p:nvPr/>
        </p:nvSpPr>
        <p:spPr>
          <a:xfrm>
            <a:off x="1051560" y="5166360"/>
            <a:ext cx="1225296" cy="384048"/>
          </a:xfrm>
          <a:prstGeom prst="roundRect">
            <a:avLst>
              <a:gd name="adj" fmla="val 50000"/>
            </a:avLst>
          </a:prstGeom>
          <a:solidFill>
            <a:srgbClr val="1B2A4A"/>
          </a:solidFill>
          <a:ln/>
        </p:spPr>
      </p:sp>
      <p:sp>
        <p:nvSpPr>
          <p:cNvPr id="12" name="Text 10"/>
          <p:cNvSpPr txBox="1"/>
          <p:nvPr/>
        </p:nvSpPr>
        <p:spPr>
          <a:xfrm>
            <a:off x="1051560" y="5166360"/>
            <a:ext cx="1225296" cy="384048"/>
          </a:xfrm>
          <a:prstGeom prst="rect">
            <a:avLst/>
          </a:prstGeom>
          <a:noFill/>
          <a:ln/>
        </p:spPr>
        <p:txBody>
          <a:bodyPr wrap="square" lIns="0" tIns="0" rIns="0" bIns="0" rtlCol="0" anchor="ctr"/>
          <a:lstStyle/>
          <a:p>
            <a:pPr algn="ctr" indent="0" marL="0">
              <a:buNone/>
            </a:pPr>
            <a:r>
              <a:rPr lang="en-US" sz="1050" b="1" dirty="0">
                <a:solidFill>
                  <a:srgbClr val="CADCFC"/>
                </a:solidFill>
                <a:latin typeface="Calibri" pitchFamily="34" charset="0"/>
                <a:ea typeface="Calibri" pitchFamily="34" charset="-122"/>
                <a:cs typeface="Calibri" pitchFamily="34" charset="-120"/>
              </a:rPr>
              <a:t>Intuition</a:t>
            </a:r>
            <a:endParaRPr lang="en-US" sz="1050" dirty="0"/>
          </a:p>
        </p:txBody>
      </p:sp>
      <p:sp>
        <p:nvSpPr>
          <p:cNvPr id="13" name="Shape 11"/>
          <p:cNvSpPr/>
          <p:nvPr/>
        </p:nvSpPr>
        <p:spPr>
          <a:xfrm>
            <a:off x="2414016" y="5166360"/>
            <a:ext cx="722376" cy="384048"/>
          </a:xfrm>
          <a:prstGeom prst="roundRect">
            <a:avLst>
              <a:gd name="adj" fmla="val 50000"/>
            </a:avLst>
          </a:prstGeom>
          <a:solidFill>
            <a:srgbClr val="1B2A4A"/>
          </a:solidFill>
          <a:ln/>
        </p:spPr>
      </p:sp>
      <p:sp>
        <p:nvSpPr>
          <p:cNvPr id="14" name="Text 12"/>
          <p:cNvSpPr txBox="1"/>
          <p:nvPr/>
        </p:nvSpPr>
        <p:spPr>
          <a:xfrm>
            <a:off x="2414016" y="5166360"/>
            <a:ext cx="722376" cy="384048"/>
          </a:xfrm>
          <a:prstGeom prst="rect">
            <a:avLst/>
          </a:prstGeom>
          <a:noFill/>
          <a:ln/>
        </p:spPr>
        <p:txBody>
          <a:bodyPr wrap="square" lIns="0" tIns="0" rIns="0" bIns="0" rtlCol="0" anchor="ctr"/>
          <a:lstStyle/>
          <a:p>
            <a:pPr algn="ctr" indent="0" marL="0">
              <a:buNone/>
            </a:pPr>
            <a:r>
              <a:rPr lang="en-US" sz="1050" b="1" dirty="0">
                <a:solidFill>
                  <a:srgbClr val="CADCFC"/>
                </a:solidFill>
                <a:latin typeface="Calibri" pitchFamily="34" charset="0"/>
                <a:ea typeface="Calibri" pitchFamily="34" charset="-122"/>
                <a:cs typeface="Calibri" pitchFamily="34" charset="-120"/>
              </a:rPr>
              <a:t>Math</a:t>
            </a:r>
            <a:endParaRPr lang="en-US" sz="1050" dirty="0"/>
          </a:p>
        </p:txBody>
      </p:sp>
      <p:sp>
        <p:nvSpPr>
          <p:cNvPr id="15" name="Shape 13"/>
          <p:cNvSpPr/>
          <p:nvPr/>
        </p:nvSpPr>
        <p:spPr>
          <a:xfrm>
            <a:off x="3273552" y="5166360"/>
            <a:ext cx="722376" cy="384048"/>
          </a:xfrm>
          <a:prstGeom prst="roundRect">
            <a:avLst>
              <a:gd name="adj" fmla="val 50000"/>
            </a:avLst>
          </a:prstGeom>
          <a:solidFill>
            <a:srgbClr val="1B2A4A"/>
          </a:solidFill>
          <a:ln/>
        </p:spPr>
      </p:sp>
      <p:sp>
        <p:nvSpPr>
          <p:cNvPr id="16" name="Text 14"/>
          <p:cNvSpPr txBox="1"/>
          <p:nvPr/>
        </p:nvSpPr>
        <p:spPr>
          <a:xfrm>
            <a:off x="3273552" y="5166360"/>
            <a:ext cx="722376" cy="384048"/>
          </a:xfrm>
          <a:prstGeom prst="rect">
            <a:avLst/>
          </a:prstGeom>
          <a:noFill/>
          <a:ln/>
        </p:spPr>
        <p:txBody>
          <a:bodyPr wrap="square" lIns="0" tIns="0" rIns="0" bIns="0" rtlCol="0" anchor="ctr"/>
          <a:lstStyle/>
          <a:p>
            <a:pPr algn="ctr" indent="0" marL="0">
              <a:buNone/>
            </a:pPr>
            <a:r>
              <a:rPr lang="en-US" sz="1050" b="1" dirty="0">
                <a:solidFill>
                  <a:srgbClr val="CADCFC"/>
                </a:solidFill>
                <a:latin typeface="Calibri" pitchFamily="34" charset="0"/>
                <a:ea typeface="Calibri" pitchFamily="34" charset="-122"/>
                <a:cs typeface="Calibri" pitchFamily="34" charset="-120"/>
              </a:rPr>
              <a:t>Data</a:t>
            </a:r>
            <a:endParaRPr lang="en-US" sz="1050" dirty="0"/>
          </a:p>
        </p:txBody>
      </p:sp>
      <p:sp>
        <p:nvSpPr>
          <p:cNvPr id="17" name="Shape 15"/>
          <p:cNvSpPr/>
          <p:nvPr/>
        </p:nvSpPr>
        <p:spPr>
          <a:xfrm>
            <a:off x="4133088" y="5166360"/>
            <a:ext cx="1426464" cy="384048"/>
          </a:xfrm>
          <a:prstGeom prst="roundRect">
            <a:avLst>
              <a:gd name="adj" fmla="val 50000"/>
            </a:avLst>
          </a:prstGeom>
          <a:solidFill>
            <a:srgbClr val="1B2A4A"/>
          </a:solidFill>
          <a:ln/>
        </p:spPr>
      </p:sp>
      <p:sp>
        <p:nvSpPr>
          <p:cNvPr id="18" name="Text 16"/>
          <p:cNvSpPr txBox="1"/>
          <p:nvPr/>
        </p:nvSpPr>
        <p:spPr>
          <a:xfrm>
            <a:off x="4133088" y="5166360"/>
            <a:ext cx="1426464" cy="384048"/>
          </a:xfrm>
          <a:prstGeom prst="rect">
            <a:avLst/>
          </a:prstGeom>
          <a:noFill/>
          <a:ln/>
        </p:spPr>
        <p:txBody>
          <a:bodyPr wrap="square" lIns="0" tIns="0" rIns="0" bIns="0" rtlCol="0" anchor="ctr"/>
          <a:lstStyle/>
          <a:p>
            <a:pPr algn="ctr" indent="0" marL="0">
              <a:buNone/>
            </a:pPr>
            <a:r>
              <a:rPr lang="en-US" sz="1050" b="1" dirty="0">
                <a:solidFill>
                  <a:srgbClr val="CADCFC"/>
                </a:solidFill>
                <a:latin typeface="Calibri" pitchFamily="34" charset="0"/>
                <a:ea typeface="Calibri" pitchFamily="34" charset="-122"/>
                <a:cs typeface="Calibri" pitchFamily="34" charset="-120"/>
              </a:rPr>
              <a:t>Calculation</a:t>
            </a:r>
            <a:endParaRPr lang="en-US" sz="1050" dirty="0"/>
          </a:p>
        </p:txBody>
      </p:sp>
      <p:sp>
        <p:nvSpPr>
          <p:cNvPr id="19" name="Shape 17"/>
          <p:cNvSpPr/>
          <p:nvPr/>
        </p:nvSpPr>
        <p:spPr>
          <a:xfrm>
            <a:off x="5696712" y="5166360"/>
            <a:ext cx="1828800" cy="384048"/>
          </a:xfrm>
          <a:prstGeom prst="roundRect">
            <a:avLst>
              <a:gd name="adj" fmla="val 50000"/>
            </a:avLst>
          </a:prstGeom>
          <a:solidFill>
            <a:srgbClr val="1B2A4A"/>
          </a:solidFill>
          <a:ln/>
        </p:spPr>
      </p:sp>
      <p:sp>
        <p:nvSpPr>
          <p:cNvPr id="20" name="Text 18"/>
          <p:cNvSpPr txBox="1"/>
          <p:nvPr/>
        </p:nvSpPr>
        <p:spPr>
          <a:xfrm>
            <a:off x="5696712" y="5166360"/>
            <a:ext cx="1828800" cy="384048"/>
          </a:xfrm>
          <a:prstGeom prst="rect">
            <a:avLst/>
          </a:prstGeom>
          <a:noFill/>
          <a:ln/>
        </p:spPr>
        <p:txBody>
          <a:bodyPr wrap="square" lIns="0" tIns="0" rIns="0" bIns="0" rtlCol="0" anchor="ctr"/>
          <a:lstStyle/>
          <a:p>
            <a:pPr algn="ctr" indent="0" marL="0">
              <a:buNone/>
            </a:pPr>
            <a:r>
              <a:rPr lang="en-US" sz="1050" b="1" dirty="0">
                <a:solidFill>
                  <a:srgbClr val="CADCFC"/>
                </a:solidFill>
                <a:latin typeface="Calibri" pitchFamily="34" charset="0"/>
                <a:ea typeface="Calibri" pitchFamily="34" charset="-122"/>
                <a:cs typeface="Calibri" pitchFamily="34" charset="-120"/>
              </a:rPr>
              <a:t>4 Failure Modes</a:t>
            </a:r>
            <a:endParaRPr lang="en-US" sz="1050" dirty="0"/>
          </a:p>
        </p:txBody>
      </p:sp>
      <p:sp>
        <p:nvSpPr>
          <p:cNvPr id="21" name="Shape 19"/>
          <p:cNvSpPr/>
          <p:nvPr/>
        </p:nvSpPr>
        <p:spPr>
          <a:xfrm>
            <a:off x="7662672" y="5166360"/>
            <a:ext cx="1527048" cy="384048"/>
          </a:xfrm>
          <a:prstGeom prst="roundRect">
            <a:avLst>
              <a:gd name="adj" fmla="val 50000"/>
            </a:avLst>
          </a:prstGeom>
          <a:solidFill>
            <a:srgbClr val="1B2A4A"/>
          </a:solidFill>
          <a:ln/>
        </p:spPr>
      </p:sp>
      <p:sp>
        <p:nvSpPr>
          <p:cNvPr id="22" name="Text 20"/>
          <p:cNvSpPr txBox="1"/>
          <p:nvPr/>
        </p:nvSpPr>
        <p:spPr>
          <a:xfrm>
            <a:off x="7662672" y="5166360"/>
            <a:ext cx="1527048" cy="384048"/>
          </a:xfrm>
          <a:prstGeom prst="rect">
            <a:avLst/>
          </a:prstGeom>
          <a:noFill/>
          <a:ln/>
        </p:spPr>
        <p:txBody>
          <a:bodyPr wrap="square" lIns="0" tIns="0" rIns="0" bIns="0" rtlCol="0" anchor="ctr"/>
          <a:lstStyle/>
          <a:p>
            <a:pPr algn="ctr" indent="0" marL="0">
              <a:buNone/>
            </a:pPr>
            <a:r>
              <a:rPr lang="en-US" sz="1050" b="1" dirty="0">
                <a:solidFill>
                  <a:srgbClr val="CADCFC"/>
                </a:solidFill>
                <a:latin typeface="Calibri" pitchFamily="34" charset="0"/>
                <a:ea typeface="Calibri" pitchFamily="34" charset="-122"/>
                <a:cs typeface="Calibri" pitchFamily="34" charset="-120"/>
              </a:rPr>
              <a:t>Improvements</a:t>
            </a:r>
            <a:endParaRPr lang="en-US" sz="1050" dirty="0"/>
          </a:p>
        </p:txBody>
      </p:sp>
      <p:sp>
        <p:nvSpPr>
          <p:cNvPr id="23" name="Shape 21"/>
          <p:cNvSpPr/>
          <p:nvPr/>
        </p:nvSpPr>
        <p:spPr>
          <a:xfrm>
            <a:off x="9326880" y="5166360"/>
            <a:ext cx="1225296" cy="384048"/>
          </a:xfrm>
          <a:prstGeom prst="roundRect">
            <a:avLst>
              <a:gd name="adj" fmla="val 50000"/>
            </a:avLst>
          </a:prstGeom>
          <a:solidFill>
            <a:srgbClr val="1B2A4A"/>
          </a:solidFill>
          <a:ln/>
        </p:spPr>
      </p:sp>
      <p:sp>
        <p:nvSpPr>
          <p:cNvPr id="24" name="Text 22"/>
          <p:cNvSpPr txBox="1"/>
          <p:nvPr/>
        </p:nvSpPr>
        <p:spPr>
          <a:xfrm>
            <a:off x="9326880" y="5166360"/>
            <a:ext cx="1225296" cy="384048"/>
          </a:xfrm>
          <a:prstGeom prst="rect">
            <a:avLst/>
          </a:prstGeom>
          <a:noFill/>
          <a:ln/>
        </p:spPr>
        <p:txBody>
          <a:bodyPr wrap="square" lIns="0" tIns="0" rIns="0" bIns="0" rtlCol="0" anchor="ctr"/>
          <a:lstStyle/>
          <a:p>
            <a:pPr algn="ctr" indent="0" marL="0">
              <a:buNone/>
            </a:pPr>
            <a:r>
              <a:rPr lang="en-US" sz="1050" b="1" dirty="0">
                <a:solidFill>
                  <a:srgbClr val="CADCFC"/>
                </a:solidFill>
                <a:latin typeface="Calibri" pitchFamily="34" charset="0"/>
                <a:ea typeface="Calibri" pitchFamily="34" charset="-122"/>
                <a:cs typeface="Calibri" pitchFamily="34" charset="-120"/>
              </a:rPr>
              <a:t>Key Notes</a:t>
            </a:r>
            <a:endParaRPr lang="en-US" sz="1050" dirty="0"/>
          </a:p>
        </p:txBody>
      </p:sp>
      <p:sp>
        <p:nvSpPr>
          <p:cNvPr id="25" name="Text 23"/>
          <p:cNvSpPr txBox="1"/>
          <p:nvPr/>
        </p:nvSpPr>
        <p:spPr>
          <a:xfrm>
            <a:off x="11338560" y="6492240"/>
            <a:ext cx="548640" cy="274320"/>
          </a:xfrm>
          <a:prstGeom prst="rect">
            <a:avLst/>
          </a:prstGeom>
          <a:noFill/>
          <a:ln/>
        </p:spPr>
        <p:txBody>
          <a:bodyPr wrap="square" lIns="0" tIns="0" rIns="0" bIns="0" rtlCol="0" anchor="ctr"/>
          <a:lstStyle/>
          <a:p>
            <a:pPr algn="r" indent="0" marL="0">
              <a:buNone/>
            </a:pPr>
            <a:r>
              <a:rPr lang="en-US" sz="1000" dirty="0">
                <a:solidFill>
                  <a:srgbClr val="8592AC"/>
                </a:solidFill>
                <a:latin typeface="Calibri" pitchFamily="34" charset="0"/>
                <a:ea typeface="Calibri" pitchFamily="34" charset="-122"/>
                <a:cs typeface="Calibri" pitchFamily="34" charset="-120"/>
              </a:rPr>
              <a:t>1 / 13</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B2A4A"/>
          </a:solidFill>
          <a:ln/>
        </p:spPr>
      </p:sp>
      <p:sp>
        <p:nvSpPr>
          <p:cNvPr id="3" name="Text 1"/>
          <p:cNvSpPr txBox="1"/>
          <p:nvPr/>
        </p:nvSpPr>
        <p:spPr>
          <a:xfrm>
            <a:off x="457200" y="146304"/>
            <a:ext cx="9144000" cy="274320"/>
          </a:xfrm>
          <a:prstGeom prst="rect">
            <a:avLst/>
          </a:prstGeom>
          <a:noFill/>
          <a:ln/>
        </p:spPr>
        <p:txBody>
          <a:bodyPr wrap="square" lIns="0" tIns="0" rIns="0" bIns="0" rtlCol="0" anchor="ctr"/>
          <a:lstStyle/>
          <a:p>
            <a:pPr indent="0" marL="0">
              <a:buNone/>
            </a:pPr>
            <a:r>
              <a:rPr lang="en-US" sz="1150" b="1" spc="150" kern="0" dirty="0">
                <a:solidFill>
                  <a:srgbClr val="CADCFC"/>
                </a:solidFill>
                <a:latin typeface="Calibri" pitchFamily="34" charset="0"/>
                <a:ea typeface="Calibri" pitchFamily="34" charset="-122"/>
                <a:cs typeface="Calibri" pitchFamily="34" charset="-120"/>
              </a:rPr>
              <a:t>1 · INTUITION</a:t>
            </a:r>
            <a:endParaRPr lang="en-US" sz="1150" dirty="0"/>
          </a:p>
        </p:txBody>
      </p:sp>
      <p:sp>
        <p:nvSpPr>
          <p:cNvPr id="4" name="Text 2"/>
          <p:cNvSpPr txBox="1"/>
          <p:nvPr/>
        </p:nvSpPr>
        <p:spPr>
          <a:xfrm>
            <a:off x="457200" y="384048"/>
            <a:ext cx="11247120" cy="594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What Does Recall@K Measure?</a:t>
            </a:r>
            <a:endParaRPr lang="en-US" sz="2600" dirty="0"/>
          </a:p>
        </p:txBody>
      </p:sp>
      <p:sp>
        <p:nvSpPr>
          <p:cNvPr id="5" name="Text 3"/>
          <p:cNvSpPr txBox="1"/>
          <p:nvPr/>
        </p:nvSpPr>
        <p:spPr>
          <a:xfrm>
            <a:off x="11430000" y="6519672"/>
            <a:ext cx="640080" cy="274320"/>
          </a:xfrm>
          <a:prstGeom prst="rect">
            <a:avLst/>
          </a:prstGeom>
          <a:noFill/>
          <a:ln/>
        </p:spPr>
        <p:txBody>
          <a:bodyPr wrap="square" lIns="0" tIns="0" rIns="0" bIns="0" rtlCol="0" anchor="ctr"/>
          <a:lstStyle/>
          <a:p>
            <a:pPr algn="r" indent="0" marL="0">
              <a:buNone/>
            </a:pPr>
            <a:r>
              <a:rPr lang="en-US" sz="900" dirty="0">
                <a:solidFill>
                  <a:srgbClr val="8592AC"/>
                </a:solidFill>
                <a:latin typeface="Calibri" pitchFamily="34" charset="0"/>
                <a:ea typeface="Calibri" pitchFamily="34" charset="-122"/>
                <a:cs typeface="Calibri" pitchFamily="34" charset="-120"/>
              </a:rPr>
              <a:t>2 / 13</a:t>
            </a:r>
            <a:endParaRPr lang="en-US" sz="900" dirty="0"/>
          </a:p>
        </p:txBody>
      </p:sp>
      <p:sp>
        <p:nvSpPr>
          <p:cNvPr id="6" name="Shape 4"/>
          <p:cNvSpPr/>
          <p:nvPr/>
        </p:nvSpPr>
        <p:spPr>
          <a:xfrm>
            <a:off x="457200" y="1371600"/>
            <a:ext cx="5303520" cy="4480560"/>
          </a:xfrm>
          <a:prstGeom prst="roundRect">
            <a:avLst>
              <a:gd name="adj" fmla="val 1633"/>
            </a:avLst>
          </a:prstGeom>
          <a:solidFill>
            <a:srgbClr val="FFFFFF"/>
          </a:solidFill>
          <a:ln w="12700">
            <a:solidFill>
              <a:srgbClr val="D9E2F1"/>
            </a:solidFill>
            <a:prstDash val="solid"/>
          </a:ln>
          <a:effectLst>
            <a:outerShdw sx="100000" sy="100000" kx="0" ky="0" algn="bl" rotWithShape="0" blurRad="101600" dist="25400" dir="5400000">
              <a:srgbClr val="3A4A6B">
                <a:alpha val="12000"/>
              </a:srgbClr>
            </a:outerShdw>
          </a:effectLst>
        </p:spPr>
      </p:sp>
      <p:sp>
        <p:nvSpPr>
          <p:cNvPr id="7" name="Text 5"/>
          <p:cNvSpPr txBox="1"/>
          <p:nvPr/>
        </p:nvSpPr>
        <p:spPr>
          <a:xfrm>
            <a:off x="731520" y="1600200"/>
            <a:ext cx="4754880" cy="32004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The plain-English version</a:t>
            </a:r>
            <a:endParaRPr lang="en-US" sz="1600" dirty="0"/>
          </a:p>
        </p:txBody>
      </p:sp>
      <p:sp>
        <p:nvSpPr>
          <p:cNvPr id="8" name="Text 6"/>
          <p:cNvSpPr txBox="1"/>
          <p:nvPr/>
        </p:nvSpPr>
        <p:spPr>
          <a:xfrm>
            <a:off x="731520" y="2057400"/>
            <a:ext cx="4754880" cy="1645920"/>
          </a:xfrm>
          <a:prstGeom prst="rect">
            <a:avLst/>
          </a:prstGeom>
          <a:noFill/>
          <a:ln/>
        </p:spPr>
        <p:txBody>
          <a:bodyPr wrap="square" lIns="0" tIns="0" rIns="0" bIns="0" rtlCol="0" anchor="ctr"/>
          <a:lstStyle/>
          <a:p>
            <a:pPr indent="0" marL="0">
              <a:lnSpc>
                <a:spcPct val="135000"/>
              </a:lnSpc>
              <a:buNone/>
            </a:pPr>
            <a:r>
              <a:rPr lang="en-US" sz="1400" dirty="0">
                <a:solidFill>
                  <a:srgbClr val="44506B"/>
                </a:solidFill>
                <a:latin typeface="Calibri" pitchFamily="34" charset="0"/>
                <a:ea typeface="Calibri" pitchFamily="34" charset="-122"/>
                <a:cs typeface="Calibri" pitchFamily="34" charset="-120"/>
              </a:rPr>
              <a:t>Somewhere in your corpus there's a full set of documents that would actually answer the query — the ground truth.
</a:t>
            </a:r>
            <a:pPr indent="0" marL="0">
              <a:lnSpc>
                <a:spcPct val="135000"/>
              </a:lnSpc>
              <a:buNone/>
            </a:pPr>
            <a:r>
              <a:rPr lang="en-US" sz="1400" b="1" dirty="0">
                <a:solidFill>
                  <a:srgbClr val="1B2A4A"/>
                </a:solidFill>
                <a:latin typeface="Calibri" pitchFamily="34" charset="0"/>
                <a:ea typeface="Calibri" pitchFamily="34" charset="-122"/>
                <a:cs typeface="Calibri" pitchFamily="34" charset="-120"/>
              </a:rPr>
              <a:t>Recall@K</a:t>
            </a:r>
            <a:pPr indent="0" marL="0">
              <a:lnSpc>
                <a:spcPct val="135000"/>
              </a:lnSpc>
              <a:buNone/>
            </a:pPr>
            <a:r>
              <a:rPr lang="en-US" sz="1400" dirty="0">
                <a:solidFill>
                  <a:srgbClr val="44506B"/>
                </a:solidFill>
                <a:latin typeface="Calibri" pitchFamily="34" charset="0"/>
                <a:ea typeface="Calibri" pitchFamily="34" charset="-122"/>
                <a:cs typeface="Calibri" pitchFamily="34" charset="-120"/>
              </a:rPr>
              <a:t> asks: </a:t>
            </a:r>
            <a:pPr indent="0" marL="0">
              <a:lnSpc>
                <a:spcPct val="135000"/>
              </a:lnSpc>
              <a:buNone/>
            </a:pPr>
            <a:r>
              <a:rPr lang="en-US" sz="1400" i="1" dirty="0">
                <a:solidFill>
                  <a:srgbClr val="44506B"/>
                </a:solidFill>
                <a:latin typeface="Calibri" pitchFamily="34" charset="0"/>
                <a:ea typeface="Calibri" pitchFamily="34" charset="-122"/>
                <a:cs typeface="Calibri" pitchFamily="34" charset="-120"/>
              </a:rPr>
              <a:t>of everything that exists and matters, how much did we actually manage to retrieve in our top K?</a:t>
            </a:r>
            <a:endParaRPr lang="en-US" sz="1400" dirty="0"/>
          </a:p>
        </p:txBody>
      </p:sp>
      <p:sp>
        <p:nvSpPr>
          <p:cNvPr id="9" name="Shape 7"/>
          <p:cNvSpPr/>
          <p:nvPr/>
        </p:nvSpPr>
        <p:spPr>
          <a:xfrm>
            <a:off x="731520" y="3794760"/>
            <a:ext cx="4754880" cy="0"/>
          </a:xfrm>
          <a:prstGeom prst="line">
            <a:avLst/>
          </a:prstGeom>
          <a:noFill/>
          <a:ln w="12700">
            <a:solidFill>
              <a:srgbClr val="D9E2F1"/>
            </a:solidFill>
            <a:prstDash val="solid"/>
          </a:ln>
        </p:spPr>
      </p:sp>
      <p:sp>
        <p:nvSpPr>
          <p:cNvPr id="10" name="Text 8"/>
          <p:cNvSpPr txBox="1"/>
          <p:nvPr/>
        </p:nvSpPr>
        <p:spPr>
          <a:xfrm>
            <a:off x="731520" y="3950208"/>
            <a:ext cx="4754880" cy="274320"/>
          </a:xfrm>
          <a:prstGeom prst="rect">
            <a:avLst/>
          </a:prstGeom>
          <a:noFill/>
          <a:ln/>
        </p:spPr>
        <p:txBody>
          <a:bodyPr wrap="square" lIns="0" tIns="0" rIns="0" bIns="0" rtlCol="0" anchor="ctr"/>
          <a:lstStyle/>
          <a:p>
            <a:pPr indent="0" marL="0">
              <a:buNone/>
            </a:pPr>
            <a:r>
              <a:rPr lang="en-US" sz="1100" b="1" dirty="0">
                <a:solidFill>
                  <a:srgbClr val="5A7CA6"/>
                </a:solidFill>
                <a:latin typeface="Calibri" pitchFamily="34" charset="0"/>
                <a:ea typeface="Calibri" pitchFamily="34" charset="-122"/>
                <a:cs typeface="Calibri" pitchFamily="34" charset="-120"/>
              </a:rPr>
              <a:t>Think of it as:</a:t>
            </a:r>
            <a:endParaRPr lang="en-US" sz="1100" dirty="0"/>
          </a:p>
        </p:txBody>
      </p:sp>
      <p:sp>
        <p:nvSpPr>
          <p:cNvPr id="11" name="Text 9"/>
          <p:cNvSpPr txBox="1"/>
          <p:nvPr/>
        </p:nvSpPr>
        <p:spPr>
          <a:xfrm>
            <a:off x="731520" y="4251960"/>
            <a:ext cx="4754880" cy="1371600"/>
          </a:xfrm>
          <a:prstGeom prst="rect">
            <a:avLst/>
          </a:prstGeom>
          <a:noFill/>
          <a:ln/>
        </p:spPr>
        <p:txBody>
          <a:bodyPr wrap="square" lIns="0" tIns="0" rIns="0" bIns="0" rtlCol="0" anchor="ctr"/>
          <a:lstStyle/>
          <a:p>
            <a:pPr indent="0" marL="0">
              <a:lnSpc>
                <a:spcPct val="130000"/>
              </a:lnSpc>
              <a:buNone/>
            </a:pPr>
            <a:r>
              <a:rPr lang="en-US" sz="1300" i="1" dirty="0">
                <a:solidFill>
                  <a:srgbClr val="1B2A4A"/>
                </a:solidFill>
                <a:latin typeface="Calibri" pitchFamily="34" charset="0"/>
                <a:ea typeface="Calibri" pitchFamily="34" charset="-122"/>
                <a:cs typeface="Calibri" pitchFamily="34" charset="-120"/>
              </a:rPr>
              <a:t>“Of all the knowledge-base content that could help answer this, how much of it did the LLM actually get to see?”</a:t>
            </a:r>
            <a:endParaRPr lang="en-US" sz="1300" dirty="0"/>
          </a:p>
        </p:txBody>
      </p:sp>
      <p:sp>
        <p:nvSpPr>
          <p:cNvPr id="12" name="Shape 10"/>
          <p:cNvSpPr/>
          <p:nvPr/>
        </p:nvSpPr>
        <p:spPr>
          <a:xfrm>
            <a:off x="5989320" y="1371600"/>
            <a:ext cx="5760720" cy="4480560"/>
          </a:xfrm>
          <a:prstGeom prst="roundRect">
            <a:avLst>
              <a:gd name="adj" fmla="val 1633"/>
            </a:avLst>
          </a:prstGeom>
          <a:solidFill>
            <a:srgbClr val="E7EFFC"/>
          </a:solidFill>
          <a:ln/>
        </p:spPr>
      </p:sp>
      <p:sp>
        <p:nvSpPr>
          <p:cNvPr id="13" name="Text 11"/>
          <p:cNvSpPr txBox="1"/>
          <p:nvPr/>
        </p:nvSpPr>
        <p:spPr>
          <a:xfrm>
            <a:off x="6309360" y="1691640"/>
            <a:ext cx="5212080" cy="1188720"/>
          </a:xfrm>
          <a:prstGeom prst="rect">
            <a:avLst/>
          </a:prstGeom>
          <a:noFill/>
          <a:ln/>
        </p:spPr>
        <p:txBody>
          <a:bodyPr wrap="square" lIns="0" tIns="0" rIns="0" bIns="0" rtlCol="0" anchor="ctr"/>
          <a:lstStyle/>
          <a:p>
            <a:pPr indent="0" marL="0">
              <a:lnSpc>
                <a:spcPct val="130000"/>
              </a:lnSpc>
              <a:buNone/>
            </a:pPr>
            <a:r>
              <a:rPr lang="en-US" sz="1600" i="1" dirty="0">
                <a:solidFill>
                  <a:srgbClr val="1B2A4A"/>
                </a:solidFill>
                <a:latin typeface="Calibri" pitchFamily="34" charset="0"/>
                <a:ea typeface="Calibri" pitchFamily="34" charset="-122"/>
                <a:cs typeface="Calibri" pitchFamily="34" charset="-120"/>
              </a:rPr>
              <a:t>“If there are 4 relevant documents and we retrieve 3 of them in the top 5, Recall@5 = 3/4 = 0.75.”</a:t>
            </a:r>
            <a:endParaRPr lang="en-US" sz="1600" dirty="0"/>
          </a:p>
        </p:txBody>
      </p:sp>
      <p:sp>
        <p:nvSpPr>
          <p:cNvPr id="14" name="Shape 12"/>
          <p:cNvSpPr/>
          <p:nvPr/>
        </p:nvSpPr>
        <p:spPr>
          <a:xfrm>
            <a:off x="6309360" y="3017520"/>
            <a:ext cx="5120640" cy="1371600"/>
          </a:xfrm>
          <a:prstGeom prst="roundRect">
            <a:avLst>
              <a:gd name="adj" fmla="val 5333"/>
            </a:avLst>
          </a:prstGeom>
          <a:solidFill>
            <a:srgbClr val="E4F6E9"/>
          </a:solidFill>
          <a:ln/>
        </p:spPr>
      </p:sp>
      <p:sp>
        <p:nvSpPr>
          <p:cNvPr id="15" name="Text 13"/>
          <p:cNvSpPr txBox="1"/>
          <p:nvPr/>
        </p:nvSpPr>
        <p:spPr>
          <a:xfrm>
            <a:off x="6537960" y="3172968"/>
            <a:ext cx="4663440" cy="292608"/>
          </a:xfrm>
          <a:prstGeom prst="rect">
            <a:avLst/>
          </a:prstGeom>
          <a:noFill/>
          <a:ln/>
        </p:spPr>
        <p:txBody>
          <a:bodyPr wrap="square" lIns="0" tIns="0" rIns="0" bIns="0" rtlCol="0" anchor="ctr"/>
          <a:lstStyle/>
          <a:p>
            <a:pPr indent="0" marL="0">
              <a:buNone/>
            </a:pPr>
            <a:r>
              <a:rPr lang="en-US" sz="1350" b="1" dirty="0">
                <a:solidFill>
                  <a:srgbClr val="1E7A46"/>
                </a:solidFill>
                <a:latin typeface="Calibri" pitchFamily="34" charset="0"/>
                <a:ea typeface="Calibri" pitchFamily="34" charset="-122"/>
                <a:cs typeface="Calibri" pitchFamily="34" charset="-120"/>
              </a:rPr>
              <a:t>High Recall@K means:</a:t>
            </a:r>
            <a:endParaRPr lang="en-US" sz="1350" dirty="0"/>
          </a:p>
        </p:txBody>
      </p:sp>
      <p:sp>
        <p:nvSpPr>
          <p:cNvPr id="16" name="Text 14"/>
          <p:cNvSpPr txBox="1"/>
          <p:nvPr/>
        </p:nvSpPr>
        <p:spPr>
          <a:xfrm>
            <a:off x="6537960" y="3502152"/>
            <a:ext cx="4663440" cy="822960"/>
          </a:xfrm>
          <a:prstGeom prst="rect">
            <a:avLst/>
          </a:prstGeom>
          <a:noFill/>
          <a:ln/>
        </p:spPr>
        <p:txBody>
          <a:bodyPr wrap="square" lIns="0" tIns="0" rIns="0" bIns="0" rtlCol="0" anchor="ctr"/>
          <a:lstStyle/>
          <a:p>
            <a:pPr indent="0" marL="0">
              <a:lnSpc>
                <a:spcPct val="125000"/>
              </a:lnSpc>
              <a:buNone/>
            </a:pPr>
            <a:r>
              <a:rPr lang="en-US" sz="1200" dirty="0">
                <a:solidFill>
                  <a:srgbClr val="44506B"/>
                </a:solidFill>
                <a:latin typeface="Calibri" pitchFamily="34" charset="0"/>
                <a:ea typeface="Calibri" pitchFamily="34" charset="-122"/>
                <a:cs typeface="Calibri" pitchFamily="34" charset="-120"/>
              </a:rPr>
              <a:t>We're able to retrieve most of the relevant information, giving the LLM a better chance to generate a correct, well-grounded answer.</a:t>
            </a:r>
            <a:endParaRPr lang="en-US" sz="1200" dirty="0"/>
          </a:p>
        </p:txBody>
      </p:sp>
      <p:sp>
        <p:nvSpPr>
          <p:cNvPr id="17" name="Shape 15"/>
          <p:cNvSpPr/>
          <p:nvPr/>
        </p:nvSpPr>
        <p:spPr>
          <a:xfrm>
            <a:off x="6309360" y="4526280"/>
            <a:ext cx="5120640" cy="1188720"/>
          </a:xfrm>
          <a:prstGeom prst="roundRect">
            <a:avLst>
              <a:gd name="adj" fmla="val 6154"/>
            </a:avLst>
          </a:prstGeom>
          <a:solidFill>
            <a:srgbClr val="FDEAEA"/>
          </a:solidFill>
          <a:ln/>
        </p:spPr>
      </p:sp>
      <p:sp>
        <p:nvSpPr>
          <p:cNvPr id="18" name="Text 16"/>
          <p:cNvSpPr txBox="1"/>
          <p:nvPr/>
        </p:nvSpPr>
        <p:spPr>
          <a:xfrm>
            <a:off x="6537960" y="4681728"/>
            <a:ext cx="4663440" cy="292608"/>
          </a:xfrm>
          <a:prstGeom prst="rect">
            <a:avLst/>
          </a:prstGeom>
          <a:noFill/>
          <a:ln/>
        </p:spPr>
        <p:txBody>
          <a:bodyPr wrap="square" lIns="0" tIns="0" rIns="0" bIns="0" rtlCol="0" anchor="ctr"/>
          <a:lstStyle/>
          <a:p>
            <a:pPr indent="0" marL="0">
              <a:buNone/>
            </a:pPr>
            <a:r>
              <a:rPr lang="en-US" sz="1350" b="1" dirty="0">
                <a:solidFill>
                  <a:srgbClr val="B23A32"/>
                </a:solidFill>
                <a:latin typeface="Calibri" pitchFamily="34" charset="0"/>
                <a:ea typeface="Calibri" pitchFamily="34" charset="-122"/>
                <a:cs typeface="Calibri" pitchFamily="34" charset="-120"/>
              </a:rPr>
              <a:t>Low Recall@K means:</a:t>
            </a:r>
            <a:endParaRPr lang="en-US" sz="1350" dirty="0"/>
          </a:p>
        </p:txBody>
      </p:sp>
      <p:sp>
        <p:nvSpPr>
          <p:cNvPr id="19" name="Text 17"/>
          <p:cNvSpPr txBox="1"/>
          <p:nvPr/>
        </p:nvSpPr>
        <p:spPr>
          <a:xfrm>
            <a:off x="6537960" y="5010912"/>
            <a:ext cx="4663440" cy="685800"/>
          </a:xfrm>
          <a:prstGeom prst="rect">
            <a:avLst/>
          </a:prstGeom>
          <a:noFill/>
          <a:ln/>
        </p:spPr>
        <p:txBody>
          <a:bodyPr wrap="square" lIns="0" tIns="0" rIns="0" bIns="0" rtlCol="0" anchor="ctr"/>
          <a:lstStyle/>
          <a:p>
            <a:pPr indent="0" marL="0">
              <a:lnSpc>
                <a:spcPct val="120000"/>
              </a:lnSpc>
              <a:buNone/>
            </a:pPr>
            <a:r>
              <a:rPr lang="en-US" sz="1200" dirty="0">
                <a:solidFill>
                  <a:srgbClr val="44506B"/>
                </a:solidFill>
                <a:latin typeface="Calibri" pitchFamily="34" charset="0"/>
                <a:ea typeface="Calibri" pitchFamily="34" charset="-122"/>
                <a:cs typeface="Calibri" pitchFamily="34" charset="-120"/>
              </a:rPr>
              <a:t>Key facts are missing entirely from what the LLM sees — no amount of good prompting can recover information that was never retrieved.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B2A4A"/>
          </a:solidFill>
          <a:ln/>
        </p:spPr>
      </p:sp>
      <p:sp>
        <p:nvSpPr>
          <p:cNvPr id="3" name="Text 1"/>
          <p:cNvSpPr txBox="1"/>
          <p:nvPr/>
        </p:nvSpPr>
        <p:spPr>
          <a:xfrm>
            <a:off x="457200" y="146304"/>
            <a:ext cx="9144000" cy="274320"/>
          </a:xfrm>
          <a:prstGeom prst="rect">
            <a:avLst/>
          </a:prstGeom>
          <a:noFill/>
          <a:ln/>
        </p:spPr>
        <p:txBody>
          <a:bodyPr wrap="square" lIns="0" tIns="0" rIns="0" bIns="0" rtlCol="0" anchor="ctr"/>
          <a:lstStyle/>
          <a:p>
            <a:pPr indent="0" marL="0">
              <a:buNone/>
            </a:pPr>
            <a:r>
              <a:rPr lang="en-US" sz="1150" b="1" spc="150" kern="0" dirty="0">
                <a:solidFill>
                  <a:srgbClr val="CADCFC"/>
                </a:solidFill>
                <a:latin typeface="Calibri" pitchFamily="34" charset="0"/>
                <a:ea typeface="Calibri" pitchFamily="34" charset="-122"/>
                <a:cs typeface="Calibri" pitchFamily="34" charset="-120"/>
              </a:rPr>
              <a:t>2 · DEFINITION</a:t>
            </a:r>
            <a:endParaRPr lang="en-US" sz="1150" dirty="0"/>
          </a:p>
        </p:txBody>
      </p:sp>
      <p:sp>
        <p:nvSpPr>
          <p:cNvPr id="4" name="Text 2"/>
          <p:cNvSpPr txBox="1"/>
          <p:nvPr/>
        </p:nvSpPr>
        <p:spPr>
          <a:xfrm>
            <a:off x="457200" y="384048"/>
            <a:ext cx="11247120" cy="594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Recall@K — Mathematical Definition</a:t>
            </a:r>
            <a:endParaRPr lang="en-US" sz="2600" dirty="0"/>
          </a:p>
        </p:txBody>
      </p:sp>
      <p:sp>
        <p:nvSpPr>
          <p:cNvPr id="5" name="Text 3"/>
          <p:cNvSpPr txBox="1"/>
          <p:nvPr/>
        </p:nvSpPr>
        <p:spPr>
          <a:xfrm>
            <a:off x="11430000" y="6519672"/>
            <a:ext cx="640080" cy="274320"/>
          </a:xfrm>
          <a:prstGeom prst="rect">
            <a:avLst/>
          </a:prstGeom>
          <a:noFill/>
          <a:ln/>
        </p:spPr>
        <p:txBody>
          <a:bodyPr wrap="square" lIns="0" tIns="0" rIns="0" bIns="0" rtlCol="0" anchor="ctr"/>
          <a:lstStyle/>
          <a:p>
            <a:pPr algn="r" indent="0" marL="0">
              <a:buNone/>
            </a:pPr>
            <a:r>
              <a:rPr lang="en-US" sz="900" dirty="0">
                <a:solidFill>
                  <a:srgbClr val="8592AC"/>
                </a:solidFill>
                <a:latin typeface="Calibri" pitchFamily="34" charset="0"/>
                <a:ea typeface="Calibri" pitchFamily="34" charset="-122"/>
                <a:cs typeface="Calibri" pitchFamily="34" charset="-120"/>
              </a:rPr>
              <a:t>3 / 13</a:t>
            </a:r>
            <a:endParaRPr lang="en-US" sz="900" dirty="0"/>
          </a:p>
        </p:txBody>
      </p:sp>
      <p:sp>
        <p:nvSpPr>
          <p:cNvPr id="6" name="Shape 4"/>
          <p:cNvSpPr/>
          <p:nvPr/>
        </p:nvSpPr>
        <p:spPr>
          <a:xfrm>
            <a:off x="457200" y="1417320"/>
            <a:ext cx="5486400" cy="2651760"/>
          </a:xfrm>
          <a:prstGeom prst="roundRect">
            <a:avLst>
              <a:gd name="adj" fmla="val 2759"/>
            </a:avLst>
          </a:prstGeom>
          <a:solidFill>
            <a:srgbClr val="FFFFFF"/>
          </a:solidFill>
          <a:ln w="12700">
            <a:solidFill>
              <a:srgbClr val="D9E2F1"/>
            </a:solidFill>
            <a:prstDash val="solid"/>
          </a:ln>
          <a:effectLst>
            <a:outerShdw sx="100000" sy="100000" kx="0" ky="0" algn="bl" rotWithShape="0" blurRad="101600" dist="25400" dir="5400000">
              <a:srgbClr val="3A4A6B">
                <a:alpha val="12000"/>
              </a:srgbClr>
            </a:outerShdw>
          </a:effectLst>
        </p:spPr>
      </p:sp>
      <p:sp>
        <p:nvSpPr>
          <p:cNvPr id="7" name="Text 5"/>
          <p:cNvSpPr txBox="1"/>
          <p:nvPr/>
        </p:nvSpPr>
        <p:spPr>
          <a:xfrm>
            <a:off x="731520" y="1600200"/>
            <a:ext cx="4937760" cy="320040"/>
          </a:xfrm>
          <a:prstGeom prst="rect">
            <a:avLst/>
          </a:prstGeom>
          <a:noFill/>
          <a:ln/>
        </p:spPr>
        <p:txBody>
          <a:bodyPr wrap="square" lIns="0" tIns="0" rIns="0" bIns="0" rtlCol="0" anchor="ctr"/>
          <a:lstStyle/>
          <a:p>
            <a:pPr indent="0" marL="0">
              <a:buNone/>
            </a:pPr>
            <a:r>
              <a:rPr lang="en-US" sz="1250" b="1" dirty="0">
                <a:solidFill>
                  <a:srgbClr val="44506B"/>
                </a:solidFill>
                <a:latin typeface="Calibri" pitchFamily="34" charset="0"/>
                <a:ea typeface="Calibri" pitchFamily="34" charset="-122"/>
                <a:cs typeface="Calibri" pitchFamily="34" charset="-120"/>
              </a:rPr>
              <a:t>For a single query:</a:t>
            </a:r>
            <a:endParaRPr lang="en-US" sz="1250" dirty="0"/>
          </a:p>
        </p:txBody>
      </p:sp>
      <p:sp>
        <p:nvSpPr>
          <p:cNvPr id="8" name="Text 6"/>
          <p:cNvSpPr txBox="1"/>
          <p:nvPr/>
        </p:nvSpPr>
        <p:spPr>
          <a:xfrm>
            <a:off x="731520" y="2057400"/>
            <a:ext cx="1645920" cy="1463040"/>
          </a:xfrm>
          <a:prstGeom prst="rect">
            <a:avLst/>
          </a:prstGeom>
          <a:noFill/>
          <a:ln/>
        </p:spPr>
        <p:txBody>
          <a:bodyPr wrap="square" lIns="0" tIns="0" rIns="0" bIns="0" rtlCol="0" anchor="ctr"/>
          <a:lstStyle/>
          <a:p>
            <a:pPr indent="0" marL="0">
              <a:buNone/>
            </a:pPr>
            <a:r>
              <a:rPr lang="en-US" sz="2200" i="1" dirty="0">
                <a:solidFill>
                  <a:srgbClr val="1B2A4A"/>
                </a:solidFill>
                <a:latin typeface="Cambria Math" pitchFamily="34" charset="0"/>
                <a:ea typeface="Cambria Math" pitchFamily="34" charset="-122"/>
                <a:cs typeface="Cambria Math" pitchFamily="34" charset="-120"/>
              </a:rPr>
              <a:t>Recall@K</a:t>
            </a:r>
            <a:endParaRPr lang="en-US" sz="2200" dirty="0"/>
          </a:p>
        </p:txBody>
      </p:sp>
      <p:sp>
        <p:nvSpPr>
          <p:cNvPr id="9" name="Text 7"/>
          <p:cNvSpPr txBox="1"/>
          <p:nvPr/>
        </p:nvSpPr>
        <p:spPr>
          <a:xfrm>
            <a:off x="2377440" y="2057400"/>
            <a:ext cx="457200" cy="1463040"/>
          </a:xfrm>
          <a:prstGeom prst="rect">
            <a:avLst/>
          </a:prstGeom>
          <a:noFill/>
          <a:ln/>
        </p:spPr>
        <p:txBody>
          <a:bodyPr wrap="square" lIns="0" tIns="0" rIns="0" bIns="0" rtlCol="0" anchor="ctr"/>
          <a:lstStyle/>
          <a:p>
            <a:pPr algn="ctr" indent="0" marL="0">
              <a:buNone/>
            </a:pPr>
            <a:r>
              <a:rPr lang="en-US" sz="2400" dirty="0">
                <a:solidFill>
                  <a:srgbClr val="1B2A4A"/>
                </a:solidFill>
                <a:latin typeface="Cambria Math" pitchFamily="34" charset="0"/>
                <a:ea typeface="Cambria Math" pitchFamily="34" charset="-122"/>
                <a:cs typeface="Cambria Math" pitchFamily="34" charset="-120"/>
              </a:rPr>
              <a:t>=</a:t>
            </a:r>
            <a:endParaRPr lang="en-US" sz="2400" dirty="0"/>
          </a:p>
        </p:txBody>
      </p:sp>
      <p:sp>
        <p:nvSpPr>
          <p:cNvPr id="10" name="Text 8"/>
          <p:cNvSpPr txBox="1"/>
          <p:nvPr/>
        </p:nvSpPr>
        <p:spPr>
          <a:xfrm>
            <a:off x="2834640" y="2148840"/>
            <a:ext cx="2468880" cy="457200"/>
          </a:xfrm>
          <a:prstGeom prst="rect">
            <a:avLst/>
          </a:prstGeom>
          <a:noFill/>
          <a:ln/>
        </p:spPr>
        <p:txBody>
          <a:bodyPr wrap="square" lIns="0" tIns="0" rIns="0" bIns="0" rtlCol="0" anchor="b"/>
          <a:lstStyle/>
          <a:p>
            <a:pPr algn="ctr" indent="0" marL="0">
              <a:buNone/>
            </a:pPr>
            <a:r>
              <a:rPr lang="en-US" sz="2000" i="1" dirty="0">
                <a:solidFill>
                  <a:srgbClr val="1B2A4A"/>
                </a:solidFill>
                <a:latin typeface="Cambria Math" pitchFamily="34" charset="0"/>
                <a:ea typeface="Cambria Math" pitchFamily="34" charset="-122"/>
                <a:cs typeface="Cambria Math" pitchFamily="34" charset="-120"/>
              </a:rPr>
              <a:t>|R ∩ Dₖ|</a:t>
            </a:r>
            <a:endParaRPr lang="en-US" sz="2000" dirty="0"/>
          </a:p>
        </p:txBody>
      </p:sp>
      <p:sp>
        <p:nvSpPr>
          <p:cNvPr id="11" name="Shape 9"/>
          <p:cNvSpPr/>
          <p:nvPr/>
        </p:nvSpPr>
        <p:spPr>
          <a:xfrm>
            <a:off x="3130906" y="2624328"/>
            <a:ext cx="1876349" cy="0"/>
          </a:xfrm>
          <a:prstGeom prst="line">
            <a:avLst/>
          </a:prstGeom>
          <a:noFill/>
          <a:ln w="19050">
            <a:solidFill>
              <a:srgbClr val="1B2A4A"/>
            </a:solidFill>
            <a:prstDash val="solid"/>
          </a:ln>
        </p:spPr>
      </p:sp>
      <p:sp>
        <p:nvSpPr>
          <p:cNvPr id="12" name="Text 10"/>
          <p:cNvSpPr txBox="1"/>
          <p:nvPr/>
        </p:nvSpPr>
        <p:spPr>
          <a:xfrm>
            <a:off x="2834640" y="2651760"/>
            <a:ext cx="2468880" cy="457200"/>
          </a:xfrm>
          <a:prstGeom prst="rect">
            <a:avLst/>
          </a:prstGeom>
          <a:noFill/>
          <a:ln/>
        </p:spPr>
        <p:txBody>
          <a:bodyPr wrap="square" lIns="0" tIns="0" rIns="0" bIns="0" rtlCol="0" anchor="t"/>
          <a:lstStyle/>
          <a:p>
            <a:pPr algn="ctr" indent="0" marL="0">
              <a:buNone/>
            </a:pPr>
            <a:r>
              <a:rPr lang="en-US" sz="2000" i="1" dirty="0">
                <a:solidFill>
                  <a:srgbClr val="1B2A4A"/>
                </a:solidFill>
                <a:latin typeface="Cambria Math" pitchFamily="34" charset="0"/>
                <a:ea typeface="Cambria Math" pitchFamily="34" charset="-122"/>
                <a:cs typeface="Cambria Math" pitchFamily="34" charset="-120"/>
              </a:rPr>
              <a:t>|R|</a:t>
            </a:r>
            <a:endParaRPr lang="en-US" sz="2000" dirty="0"/>
          </a:p>
        </p:txBody>
      </p:sp>
      <p:sp>
        <p:nvSpPr>
          <p:cNvPr id="13" name="Shape 11"/>
          <p:cNvSpPr/>
          <p:nvPr/>
        </p:nvSpPr>
        <p:spPr>
          <a:xfrm>
            <a:off x="457200" y="4206240"/>
            <a:ext cx="5486400" cy="1645920"/>
          </a:xfrm>
          <a:prstGeom prst="roundRect">
            <a:avLst>
              <a:gd name="adj" fmla="val 4444"/>
            </a:avLst>
          </a:prstGeom>
          <a:solidFill>
            <a:srgbClr val="FDF3E0"/>
          </a:solidFill>
          <a:ln/>
        </p:spPr>
      </p:sp>
      <p:sp>
        <p:nvSpPr>
          <p:cNvPr id="14" name="Text 12"/>
          <p:cNvSpPr txBox="1"/>
          <p:nvPr/>
        </p:nvSpPr>
        <p:spPr>
          <a:xfrm>
            <a:off x="731520" y="4370832"/>
            <a:ext cx="4937760" cy="1371600"/>
          </a:xfrm>
          <a:prstGeom prst="rect">
            <a:avLst/>
          </a:prstGeom>
          <a:noFill/>
          <a:ln/>
        </p:spPr>
        <p:txBody>
          <a:bodyPr wrap="square" lIns="0" tIns="0" rIns="0" bIns="0" rtlCol="0" anchor="ctr"/>
          <a:lstStyle/>
          <a:p>
            <a:pPr indent="0" marL="0">
              <a:lnSpc>
                <a:spcPct val="125000"/>
              </a:lnSpc>
              <a:buNone/>
            </a:pPr>
            <a:r>
              <a:rPr lang="en-US" sz="1200" b="1" dirty="0">
                <a:solidFill>
                  <a:srgbClr val="8A5A10"/>
                </a:solidFill>
                <a:latin typeface="Calibri" pitchFamily="34" charset="0"/>
                <a:ea typeface="Calibri" pitchFamily="34" charset="-122"/>
                <a:cs typeface="Calibri" pitchFamily="34" charset="-120"/>
              </a:rPr>
              <a:t>Contrast with Precision@K:  </a:t>
            </a:r>
            <a:pPr indent="0" marL="0">
              <a:lnSpc>
                <a:spcPct val="125000"/>
              </a:lnSpc>
              <a:buNone/>
            </a:pPr>
            <a:r>
              <a:rPr lang="en-US" sz="1200" dirty="0">
                <a:solidFill>
                  <a:srgbClr val="8A5A10"/>
                </a:solidFill>
                <a:latin typeface="Calibri" pitchFamily="34" charset="0"/>
                <a:ea typeface="Calibri" pitchFamily="34" charset="-122"/>
                <a:cs typeface="Calibri" pitchFamily="34" charset="-120"/>
              </a:rPr>
              <a:t>same numerator (relevant docs found), but Recall@K divides by |R| — what exists — while Precision@K divides by K — what you retrieved. That single denominator swap is the whole difference between the two metrics.</a:t>
            </a:r>
            <a:endParaRPr lang="en-US" sz="1200" dirty="0"/>
          </a:p>
        </p:txBody>
      </p:sp>
      <p:sp>
        <p:nvSpPr>
          <p:cNvPr id="15" name="Shape 13"/>
          <p:cNvSpPr/>
          <p:nvPr/>
        </p:nvSpPr>
        <p:spPr>
          <a:xfrm>
            <a:off x="6172200" y="1417320"/>
            <a:ext cx="5577840" cy="4434840"/>
          </a:xfrm>
          <a:prstGeom prst="roundRect">
            <a:avLst>
              <a:gd name="adj" fmla="val 1649"/>
            </a:avLst>
          </a:prstGeom>
          <a:solidFill>
            <a:srgbClr val="FFFFFF"/>
          </a:solidFill>
          <a:ln w="12700">
            <a:solidFill>
              <a:srgbClr val="D9E2F1"/>
            </a:solidFill>
            <a:prstDash val="solid"/>
          </a:ln>
          <a:effectLst>
            <a:outerShdw sx="100000" sy="100000" kx="0" ky="0" algn="bl" rotWithShape="0" blurRad="101600" dist="25400" dir="5400000">
              <a:srgbClr val="3A4A6B">
                <a:alpha val="12000"/>
              </a:srgbClr>
            </a:outerShdw>
          </a:effectLst>
        </p:spPr>
      </p:sp>
      <p:sp>
        <p:nvSpPr>
          <p:cNvPr id="16" name="Text 14"/>
          <p:cNvSpPr txBox="1"/>
          <p:nvPr/>
        </p:nvSpPr>
        <p:spPr>
          <a:xfrm>
            <a:off x="6446520" y="1600200"/>
            <a:ext cx="4937760" cy="32004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Where:</a:t>
            </a:r>
            <a:endParaRPr lang="en-US" sz="1400" dirty="0"/>
          </a:p>
        </p:txBody>
      </p:sp>
      <p:sp>
        <p:nvSpPr>
          <p:cNvPr id="17" name="Shape 15"/>
          <p:cNvSpPr/>
          <p:nvPr/>
        </p:nvSpPr>
        <p:spPr>
          <a:xfrm>
            <a:off x="6446520" y="2112264"/>
            <a:ext cx="82296" cy="82296"/>
          </a:xfrm>
          <a:prstGeom prst="ellipse">
            <a:avLst/>
          </a:prstGeom>
          <a:solidFill>
            <a:srgbClr val="5A7CA6"/>
          </a:solidFill>
          <a:ln/>
        </p:spPr>
      </p:sp>
      <p:sp>
        <p:nvSpPr>
          <p:cNvPr id="18" name="Text 16"/>
          <p:cNvSpPr txBox="1"/>
          <p:nvPr/>
        </p:nvSpPr>
        <p:spPr>
          <a:xfrm>
            <a:off x="6656832" y="1947672"/>
            <a:ext cx="4937760" cy="868680"/>
          </a:xfrm>
          <a:prstGeom prst="rect">
            <a:avLst/>
          </a:prstGeom>
          <a:noFill/>
          <a:ln/>
        </p:spPr>
        <p:txBody>
          <a:bodyPr wrap="square" lIns="0" tIns="0" rIns="0" bIns="0" rtlCol="0" anchor="ctr"/>
          <a:lstStyle/>
          <a:p>
            <a:pPr indent="0" marL="0">
              <a:lnSpc>
                <a:spcPct val="120000"/>
              </a:lnSpc>
              <a:buNone/>
            </a:pPr>
            <a:r>
              <a:rPr lang="en-US" sz="1250" b="1" i="1" dirty="0">
                <a:solidFill>
                  <a:srgbClr val="1B2A4A"/>
                </a:solidFill>
                <a:latin typeface="Calibri" pitchFamily="34" charset="0"/>
                <a:ea typeface="Calibri" pitchFamily="34" charset="-122"/>
                <a:cs typeface="Calibri" pitchFamily="34" charset="-120"/>
              </a:rPr>
              <a:t>R = </a:t>
            </a:r>
            <a:pPr indent="0" marL="0">
              <a:lnSpc>
                <a:spcPct val="120000"/>
              </a:lnSpc>
              <a:buNone/>
            </a:pPr>
            <a:r>
              <a:rPr lang="en-US" sz="1250" dirty="0">
                <a:solidFill>
                  <a:srgbClr val="44506B"/>
                </a:solidFill>
                <a:latin typeface="Calibri" pitchFamily="34" charset="0"/>
                <a:ea typeface="Calibri" pitchFamily="34" charset="-122"/>
                <a:cs typeface="Calibri" pitchFamily="34" charset="-120"/>
              </a:rPr>
              <a:t>the set of all relevant documents for the query (ground truth)</a:t>
            </a:r>
            <a:endParaRPr lang="en-US" sz="1250" dirty="0"/>
          </a:p>
        </p:txBody>
      </p:sp>
      <p:sp>
        <p:nvSpPr>
          <p:cNvPr id="19" name="Shape 17"/>
          <p:cNvSpPr/>
          <p:nvPr/>
        </p:nvSpPr>
        <p:spPr>
          <a:xfrm>
            <a:off x="6446520" y="3026664"/>
            <a:ext cx="82296" cy="82296"/>
          </a:xfrm>
          <a:prstGeom prst="ellipse">
            <a:avLst/>
          </a:prstGeom>
          <a:solidFill>
            <a:srgbClr val="5A7CA6"/>
          </a:solidFill>
          <a:ln/>
        </p:spPr>
      </p:sp>
      <p:sp>
        <p:nvSpPr>
          <p:cNvPr id="20" name="Text 18"/>
          <p:cNvSpPr txBox="1"/>
          <p:nvPr/>
        </p:nvSpPr>
        <p:spPr>
          <a:xfrm>
            <a:off x="6656832" y="2862072"/>
            <a:ext cx="4937760" cy="868680"/>
          </a:xfrm>
          <a:prstGeom prst="rect">
            <a:avLst/>
          </a:prstGeom>
          <a:noFill/>
          <a:ln/>
        </p:spPr>
        <p:txBody>
          <a:bodyPr wrap="square" lIns="0" tIns="0" rIns="0" bIns="0" rtlCol="0" anchor="ctr"/>
          <a:lstStyle/>
          <a:p>
            <a:pPr indent="0" marL="0">
              <a:lnSpc>
                <a:spcPct val="120000"/>
              </a:lnSpc>
              <a:buNone/>
            </a:pPr>
            <a:r>
              <a:rPr lang="en-US" sz="1250" b="1" i="1" dirty="0">
                <a:solidFill>
                  <a:srgbClr val="1B2A4A"/>
                </a:solidFill>
                <a:latin typeface="Calibri" pitchFamily="34" charset="0"/>
                <a:ea typeface="Calibri" pitchFamily="34" charset="-122"/>
                <a:cs typeface="Calibri" pitchFamily="34" charset="-120"/>
              </a:rPr>
              <a:t>Dₖ = </a:t>
            </a:r>
            <a:pPr indent="0" marL="0">
              <a:lnSpc>
                <a:spcPct val="120000"/>
              </a:lnSpc>
              <a:buNone/>
            </a:pPr>
            <a:r>
              <a:rPr lang="en-US" sz="1250" dirty="0">
                <a:solidFill>
                  <a:srgbClr val="44506B"/>
                </a:solidFill>
                <a:latin typeface="Calibri" pitchFamily="34" charset="0"/>
                <a:ea typeface="Calibri" pitchFamily="34" charset="-122"/>
                <a:cs typeface="Calibri" pitchFamily="34" charset="-120"/>
              </a:rPr>
              <a:t>the set of top-K documents the retriever returned</a:t>
            </a:r>
            <a:endParaRPr lang="en-US" sz="1250" dirty="0"/>
          </a:p>
        </p:txBody>
      </p:sp>
      <p:sp>
        <p:nvSpPr>
          <p:cNvPr id="21" name="Shape 19"/>
          <p:cNvSpPr/>
          <p:nvPr/>
        </p:nvSpPr>
        <p:spPr>
          <a:xfrm>
            <a:off x="6446520" y="3941064"/>
            <a:ext cx="82296" cy="82296"/>
          </a:xfrm>
          <a:prstGeom prst="ellipse">
            <a:avLst/>
          </a:prstGeom>
          <a:solidFill>
            <a:srgbClr val="5A7CA6"/>
          </a:solidFill>
          <a:ln/>
        </p:spPr>
      </p:sp>
      <p:sp>
        <p:nvSpPr>
          <p:cNvPr id="22" name="Text 20"/>
          <p:cNvSpPr txBox="1"/>
          <p:nvPr/>
        </p:nvSpPr>
        <p:spPr>
          <a:xfrm>
            <a:off x="6656832" y="3776472"/>
            <a:ext cx="4937760" cy="868680"/>
          </a:xfrm>
          <a:prstGeom prst="rect">
            <a:avLst/>
          </a:prstGeom>
          <a:noFill/>
          <a:ln/>
        </p:spPr>
        <p:txBody>
          <a:bodyPr wrap="square" lIns="0" tIns="0" rIns="0" bIns="0" rtlCol="0" anchor="ctr"/>
          <a:lstStyle/>
          <a:p>
            <a:pPr indent="0" marL="0">
              <a:lnSpc>
                <a:spcPct val="120000"/>
              </a:lnSpc>
              <a:buNone/>
            </a:pPr>
            <a:r>
              <a:rPr lang="en-US" sz="1250" b="1" i="1" dirty="0">
                <a:solidFill>
                  <a:srgbClr val="1B2A4A"/>
                </a:solidFill>
                <a:latin typeface="Calibri" pitchFamily="34" charset="0"/>
                <a:ea typeface="Calibri" pitchFamily="34" charset="-122"/>
                <a:cs typeface="Calibri" pitchFamily="34" charset="-120"/>
              </a:rPr>
              <a:t>|R ∩ Dₖ| = </a:t>
            </a:r>
            <a:pPr indent="0" marL="0">
              <a:lnSpc>
                <a:spcPct val="120000"/>
              </a:lnSpc>
              <a:buNone/>
            </a:pPr>
            <a:r>
              <a:rPr lang="en-US" sz="1250" dirty="0">
                <a:solidFill>
                  <a:srgbClr val="44506B"/>
                </a:solidFill>
                <a:latin typeface="Calibri" pitchFamily="34" charset="0"/>
                <a:ea typeface="Calibri" pitchFamily="34" charset="-122"/>
                <a:cs typeface="Calibri" pitchFamily="34" charset="-120"/>
              </a:rPr>
              <a:t>the number of relevant documents inside those top K — the “hits”</a:t>
            </a:r>
            <a:endParaRPr lang="en-US" sz="1250" dirty="0"/>
          </a:p>
        </p:txBody>
      </p:sp>
      <p:sp>
        <p:nvSpPr>
          <p:cNvPr id="23" name="Shape 21"/>
          <p:cNvSpPr/>
          <p:nvPr/>
        </p:nvSpPr>
        <p:spPr>
          <a:xfrm>
            <a:off x="6446520" y="4855464"/>
            <a:ext cx="82296" cy="82296"/>
          </a:xfrm>
          <a:prstGeom prst="ellipse">
            <a:avLst/>
          </a:prstGeom>
          <a:solidFill>
            <a:srgbClr val="5A7CA6"/>
          </a:solidFill>
          <a:ln/>
        </p:spPr>
      </p:sp>
      <p:sp>
        <p:nvSpPr>
          <p:cNvPr id="24" name="Text 22"/>
          <p:cNvSpPr txBox="1"/>
          <p:nvPr/>
        </p:nvSpPr>
        <p:spPr>
          <a:xfrm>
            <a:off x="6656832" y="4690872"/>
            <a:ext cx="4937760" cy="868680"/>
          </a:xfrm>
          <a:prstGeom prst="rect">
            <a:avLst/>
          </a:prstGeom>
          <a:noFill/>
          <a:ln/>
        </p:spPr>
        <p:txBody>
          <a:bodyPr wrap="square" lIns="0" tIns="0" rIns="0" bIns="0" rtlCol="0" anchor="ctr"/>
          <a:lstStyle/>
          <a:p>
            <a:pPr indent="0" marL="0">
              <a:lnSpc>
                <a:spcPct val="120000"/>
              </a:lnSpc>
              <a:buNone/>
            </a:pPr>
            <a:r>
              <a:rPr lang="en-US" sz="1250" b="1" i="1" dirty="0">
                <a:solidFill>
                  <a:srgbClr val="1B2A4A"/>
                </a:solidFill>
                <a:latin typeface="Calibri" pitchFamily="34" charset="0"/>
                <a:ea typeface="Calibri" pitchFamily="34" charset="-122"/>
                <a:cs typeface="Calibri" pitchFamily="34" charset="-120"/>
              </a:rPr>
              <a:t>|R| = </a:t>
            </a:r>
            <a:pPr indent="0" marL="0">
              <a:lnSpc>
                <a:spcPct val="120000"/>
              </a:lnSpc>
              <a:buNone/>
            </a:pPr>
            <a:r>
              <a:rPr lang="en-US" sz="1250" dirty="0">
                <a:solidFill>
                  <a:srgbClr val="44506B"/>
                </a:solidFill>
                <a:latin typeface="Calibri" pitchFamily="34" charset="0"/>
                <a:ea typeface="Calibri" pitchFamily="34" charset="-122"/>
                <a:cs typeface="Calibri" pitchFamily="34" charset="-120"/>
              </a:rPr>
              <a:t>the total number of relevant documents that exist in the corpus. This is the fixed denominator — it can never shrink as K grows, so Recall@K can only go up or stay flat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B2A4A"/>
          </a:solidFill>
          <a:ln/>
        </p:spPr>
      </p:sp>
      <p:sp>
        <p:nvSpPr>
          <p:cNvPr id="3" name="Text 1"/>
          <p:cNvSpPr txBox="1"/>
          <p:nvPr/>
        </p:nvSpPr>
        <p:spPr>
          <a:xfrm>
            <a:off x="457200" y="146304"/>
            <a:ext cx="9144000" cy="274320"/>
          </a:xfrm>
          <a:prstGeom prst="rect">
            <a:avLst/>
          </a:prstGeom>
          <a:noFill/>
          <a:ln/>
        </p:spPr>
        <p:txBody>
          <a:bodyPr wrap="square" lIns="0" tIns="0" rIns="0" bIns="0" rtlCol="0" anchor="ctr"/>
          <a:lstStyle/>
          <a:p>
            <a:pPr indent="0" marL="0">
              <a:buNone/>
            </a:pPr>
            <a:r>
              <a:rPr lang="en-US" sz="1150" b="1" spc="150" kern="0" dirty="0">
                <a:solidFill>
                  <a:srgbClr val="CADCFC"/>
                </a:solidFill>
                <a:latin typeface="Calibri" pitchFamily="34" charset="0"/>
                <a:ea typeface="Calibri" pitchFamily="34" charset="-122"/>
                <a:cs typeface="Calibri" pitchFamily="34" charset="-120"/>
              </a:rPr>
              <a:t>3 · THE DATA</a:t>
            </a:r>
            <a:endParaRPr lang="en-US" sz="1150" dirty="0"/>
          </a:p>
        </p:txBody>
      </p:sp>
      <p:sp>
        <p:nvSpPr>
          <p:cNvPr id="4" name="Text 2"/>
          <p:cNvSpPr txBox="1"/>
          <p:nvPr/>
        </p:nvSpPr>
        <p:spPr>
          <a:xfrm>
            <a:off x="457200" y="384048"/>
            <a:ext cx="11247120" cy="594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Query 1, Baseline System — Retrieved Documents</a:t>
            </a:r>
            <a:endParaRPr lang="en-US" sz="2600" dirty="0"/>
          </a:p>
        </p:txBody>
      </p:sp>
      <p:sp>
        <p:nvSpPr>
          <p:cNvPr id="5" name="Text 3"/>
          <p:cNvSpPr txBox="1"/>
          <p:nvPr/>
        </p:nvSpPr>
        <p:spPr>
          <a:xfrm>
            <a:off x="11430000" y="6519672"/>
            <a:ext cx="640080" cy="274320"/>
          </a:xfrm>
          <a:prstGeom prst="rect">
            <a:avLst/>
          </a:prstGeom>
          <a:noFill/>
          <a:ln/>
        </p:spPr>
        <p:txBody>
          <a:bodyPr wrap="square" lIns="0" tIns="0" rIns="0" bIns="0" rtlCol="0" anchor="ctr"/>
          <a:lstStyle/>
          <a:p>
            <a:pPr algn="r" indent="0" marL="0">
              <a:buNone/>
            </a:pPr>
            <a:r>
              <a:rPr lang="en-US" sz="900" dirty="0">
                <a:solidFill>
                  <a:srgbClr val="8592AC"/>
                </a:solidFill>
                <a:latin typeface="Calibri" pitchFamily="34" charset="0"/>
                <a:ea typeface="Calibri" pitchFamily="34" charset="-122"/>
                <a:cs typeface="Calibri" pitchFamily="34" charset="-120"/>
              </a:rPr>
              <a:t>4 / 13</a:t>
            </a:r>
            <a:endParaRPr lang="en-US" sz="900" dirty="0"/>
          </a:p>
        </p:txBody>
      </p:sp>
      <p:sp>
        <p:nvSpPr>
          <p:cNvPr id="6" name="Shape 4"/>
          <p:cNvSpPr/>
          <p:nvPr/>
        </p:nvSpPr>
        <p:spPr>
          <a:xfrm>
            <a:off x="457200" y="1280160"/>
            <a:ext cx="11292840" cy="777240"/>
          </a:xfrm>
          <a:prstGeom prst="roundRect">
            <a:avLst>
              <a:gd name="adj" fmla="val 9412"/>
            </a:avLst>
          </a:prstGeom>
          <a:solidFill>
            <a:srgbClr val="E7EFFC"/>
          </a:solidFill>
          <a:ln/>
        </p:spPr>
      </p:sp>
      <p:sp>
        <p:nvSpPr>
          <p:cNvPr id="7" name="Text 5"/>
          <p:cNvSpPr txBox="1"/>
          <p:nvPr/>
        </p:nvSpPr>
        <p:spPr>
          <a:xfrm>
            <a:off x="731520" y="1417320"/>
            <a:ext cx="10744200" cy="50292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Query 1:  </a:t>
            </a:r>
            <a:pPr indent="0" marL="0">
              <a:buNone/>
            </a:pPr>
            <a:r>
              <a:rPr lang="en-US" sz="1300" i="1" dirty="0">
                <a:solidFill>
                  <a:srgbClr val="1B2A4A"/>
                </a:solidFill>
                <a:latin typeface="Calibri" pitchFamily="34" charset="0"/>
                <a:ea typeface="Calibri" pitchFamily="34" charset="-122"/>
                <a:cs typeface="Calibri" pitchFamily="34" charset="-120"/>
              </a:rPr>
              <a:t>“How do I reset my two-factor authentication (2FA)?”    </a:t>
            </a:r>
            <a:pPr indent="0" marL="0">
              <a:buNone/>
            </a:pPr>
            <a:r>
              <a:rPr lang="en-US" sz="1300" b="1" dirty="0">
                <a:solidFill>
                  <a:srgbClr val="1B2A4A"/>
                </a:solidFill>
                <a:latin typeface="Calibri" pitchFamily="34" charset="0"/>
                <a:ea typeface="Calibri" pitchFamily="34" charset="-122"/>
                <a:cs typeface="Calibri" pitchFamily="34" charset="-120"/>
              </a:rPr>
              <a:t>Ground truth:  |R| = 4  (KB103, KB105, KB108, KB110)</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7772400" cy="914400"/>
        </p:xfrm>
        <a:graphic>
          <a:graphicData uri="http://schemas.openxmlformats.org/drawingml/2006/table">
            <a:tbl>
              <a:tblPr/>
              <a:tblGrid>
                <a:gridCol w="731520"/>
                <a:gridCol w="1188720"/>
                <a:gridCol w="3383280"/>
                <a:gridCol w="1463040"/>
                <a:gridCol w="1005840"/>
              </a:tblGrid>
              <a:tr h="365760">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Rank</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Doc ID</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Title</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Relevant?</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Grade</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r>
              <a:tr h="365760">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1</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EEF7F0"/>
                    </a:solidFill>
                  </a:tcPr>
                </a:tc>
                <a:tc>
                  <a:txBody>
                    <a:bodyPr/>
                    <a:lstStyle/>
                    <a:p>
                      <a:pPr algn="ctr" indent="0" marL="0">
                        <a:buNone/>
                      </a:pPr>
                      <a:r>
                        <a:rPr lang="en-US" sz="1080" b="1" dirty="0">
                          <a:solidFill>
                            <a:srgbClr val="1B2A4A"/>
                          </a:solidFill>
                          <a:latin typeface="Calibri" pitchFamily="34" charset="0"/>
                          <a:ea typeface="Calibri" pitchFamily="34" charset="-122"/>
                          <a:cs typeface="Calibri" pitchFamily="34" charset="-120"/>
                        </a:rPr>
                        <a:t>KB105</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EEF7F0"/>
                    </a:solidFill>
                  </a:tcPr>
                </a:tc>
                <a:tc>
                  <a:txBody>
                    <a:bodyPr/>
                    <a:lstStyle/>
                    <a:p>
                      <a:pPr indent="0" marL="0">
                        <a:buNone/>
                      </a:pPr>
                      <a:r>
                        <a:rPr lang="en-US" sz="1020" dirty="0">
                          <a:solidFill>
                            <a:srgbClr val="44506B"/>
                          </a:solidFill>
                          <a:latin typeface="Calibri" pitchFamily="34" charset="0"/>
                          <a:ea typeface="Calibri" pitchFamily="34" charset="-122"/>
                          <a:cs typeface="Calibri" pitchFamily="34" charset="-120"/>
                        </a:rPr>
                        <a:t>Troubleshooting 2FA Login Errors</a:t>
                      </a:r>
                      <a:endParaRPr lang="en-US" sz="102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EEF7F0"/>
                    </a:solidFill>
                  </a:tcPr>
                </a:tc>
                <a:tc>
                  <a:txBody>
                    <a:bodyPr/>
                    <a:lstStyle/>
                    <a:p>
                      <a:pPr algn="ctr" indent="0" marL="0">
                        <a:buNone/>
                      </a:pPr>
                      <a:r>
                        <a:rPr lang="en-US" sz="1080" b="1" dirty="0">
                          <a:solidFill>
                            <a:srgbClr val="1E7A46"/>
                          </a:solidFill>
                          <a:latin typeface="Calibri" pitchFamily="34" charset="0"/>
                          <a:ea typeface="Calibri" pitchFamily="34" charset="-122"/>
                          <a:cs typeface="Calibri" pitchFamily="34" charset="-120"/>
                        </a:rPr>
                        <a:t>✓ Yes</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EEF7F0"/>
                    </a:solidFill>
                  </a:tcPr>
                </a:tc>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2</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EEF7F0"/>
                    </a:solidFill>
                  </a:tcPr>
                </a:tc>
              </a:tr>
              <a:tr h="365760">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2</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c>
                  <a:txBody>
                    <a:bodyPr/>
                    <a:lstStyle/>
                    <a:p>
                      <a:pPr algn="ctr" indent="0" marL="0">
                        <a:buNone/>
                      </a:pPr>
                      <a:r>
                        <a:rPr lang="en-US" sz="1080" b="1" dirty="0">
                          <a:solidFill>
                            <a:srgbClr val="1B2A4A"/>
                          </a:solidFill>
                          <a:latin typeface="Calibri" pitchFamily="34" charset="0"/>
                          <a:ea typeface="Calibri" pitchFamily="34" charset="-122"/>
                          <a:cs typeface="Calibri" pitchFamily="34" charset="-120"/>
                        </a:rPr>
                        <a:t>KB201</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c>
                  <a:txBody>
                    <a:bodyPr/>
                    <a:lstStyle/>
                    <a:p>
                      <a:pPr indent="0" marL="0">
                        <a:buNone/>
                      </a:pPr>
                      <a:r>
                        <a:rPr lang="en-US" sz="1020" dirty="0">
                          <a:solidFill>
                            <a:srgbClr val="44506B"/>
                          </a:solidFill>
                          <a:latin typeface="Calibri" pitchFamily="34" charset="0"/>
                          <a:ea typeface="Calibri" pitchFamily="34" charset="-122"/>
                          <a:cs typeface="Calibri" pitchFamily="34" charset="-120"/>
                        </a:rPr>
                        <a:t>Enable 2FA — Setup Guide</a:t>
                      </a:r>
                      <a:endParaRPr lang="en-US" sz="102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c>
                  <a:txBody>
                    <a:bodyPr/>
                    <a:lstStyle/>
                    <a:p>
                      <a:pPr algn="ctr" indent="0" marL="0">
                        <a:buNone/>
                      </a:pPr>
                      <a:r>
                        <a:rPr lang="en-US" sz="1080" b="1" dirty="0">
                          <a:solidFill>
                            <a:srgbClr val="B23A32"/>
                          </a:solidFill>
                          <a:latin typeface="Calibri" pitchFamily="34" charset="0"/>
                          <a:ea typeface="Calibri" pitchFamily="34" charset="-122"/>
                          <a:cs typeface="Calibri" pitchFamily="34" charset="-120"/>
                        </a:rPr>
                        <a:t>✗ No</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0</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r>
              <a:tr h="365760">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3</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EEF7F0"/>
                    </a:solidFill>
                  </a:tcPr>
                </a:tc>
                <a:tc>
                  <a:txBody>
                    <a:bodyPr/>
                    <a:lstStyle/>
                    <a:p>
                      <a:pPr algn="ctr" indent="0" marL="0">
                        <a:buNone/>
                      </a:pPr>
                      <a:r>
                        <a:rPr lang="en-US" sz="1080" b="1" dirty="0">
                          <a:solidFill>
                            <a:srgbClr val="1B2A4A"/>
                          </a:solidFill>
                          <a:latin typeface="Calibri" pitchFamily="34" charset="0"/>
                          <a:ea typeface="Calibri" pitchFamily="34" charset="-122"/>
                          <a:cs typeface="Calibri" pitchFamily="34" charset="-120"/>
                        </a:rPr>
                        <a:t>KB103</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EEF7F0"/>
                    </a:solidFill>
                  </a:tcPr>
                </a:tc>
                <a:tc>
                  <a:txBody>
                    <a:bodyPr/>
                    <a:lstStyle/>
                    <a:p>
                      <a:pPr indent="0" marL="0">
                        <a:buNone/>
                      </a:pPr>
                      <a:r>
                        <a:rPr lang="en-US" sz="1020" dirty="0">
                          <a:solidFill>
                            <a:srgbClr val="44506B"/>
                          </a:solidFill>
                          <a:latin typeface="Calibri" pitchFamily="34" charset="0"/>
                          <a:ea typeface="Calibri" pitchFamily="34" charset="-122"/>
                          <a:cs typeface="Calibri" pitchFamily="34" charset="-120"/>
                        </a:rPr>
                        <a:t>Reset 2FA — Step-by-Step Guide</a:t>
                      </a:r>
                      <a:endParaRPr lang="en-US" sz="102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EEF7F0"/>
                    </a:solidFill>
                  </a:tcPr>
                </a:tc>
                <a:tc>
                  <a:txBody>
                    <a:bodyPr/>
                    <a:lstStyle/>
                    <a:p>
                      <a:pPr algn="ctr" indent="0" marL="0">
                        <a:buNone/>
                      </a:pPr>
                      <a:r>
                        <a:rPr lang="en-US" sz="1080" b="1" dirty="0">
                          <a:solidFill>
                            <a:srgbClr val="1E7A46"/>
                          </a:solidFill>
                          <a:latin typeface="Calibri" pitchFamily="34" charset="0"/>
                          <a:ea typeface="Calibri" pitchFamily="34" charset="-122"/>
                          <a:cs typeface="Calibri" pitchFamily="34" charset="-120"/>
                        </a:rPr>
                        <a:t>✓ Yes</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EEF7F0"/>
                    </a:solidFill>
                  </a:tcPr>
                </a:tc>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3</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EEF7F0"/>
                    </a:solidFill>
                  </a:tcPr>
                </a:tc>
              </a:tr>
              <a:tr h="365760">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4</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EEF7F0"/>
                    </a:solidFill>
                  </a:tcPr>
                </a:tc>
                <a:tc>
                  <a:txBody>
                    <a:bodyPr/>
                    <a:lstStyle/>
                    <a:p>
                      <a:pPr algn="ctr" indent="0" marL="0">
                        <a:buNone/>
                      </a:pPr>
                      <a:r>
                        <a:rPr lang="en-US" sz="1080" b="1" dirty="0">
                          <a:solidFill>
                            <a:srgbClr val="1B2A4A"/>
                          </a:solidFill>
                          <a:latin typeface="Calibri" pitchFamily="34" charset="0"/>
                          <a:ea typeface="Calibri" pitchFamily="34" charset="-122"/>
                          <a:cs typeface="Calibri" pitchFamily="34" charset="-120"/>
                        </a:rPr>
                        <a:t>KB110</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EEF7F0"/>
                    </a:solidFill>
                  </a:tcPr>
                </a:tc>
                <a:tc>
                  <a:txBody>
                    <a:bodyPr/>
                    <a:lstStyle/>
                    <a:p>
                      <a:pPr indent="0" marL="0">
                        <a:buNone/>
                      </a:pPr>
                      <a:r>
                        <a:rPr lang="en-US" sz="1020" dirty="0">
                          <a:solidFill>
                            <a:srgbClr val="44506B"/>
                          </a:solidFill>
                          <a:latin typeface="Calibri" pitchFamily="34" charset="0"/>
                          <a:ea typeface="Calibri" pitchFamily="34" charset="-122"/>
                          <a:cs typeface="Calibri" pitchFamily="34" charset="-120"/>
                        </a:rPr>
                        <a:t>Using Backup Codes for 2FA</a:t>
                      </a:r>
                      <a:endParaRPr lang="en-US" sz="102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EEF7F0"/>
                    </a:solidFill>
                  </a:tcPr>
                </a:tc>
                <a:tc>
                  <a:txBody>
                    <a:bodyPr/>
                    <a:lstStyle/>
                    <a:p>
                      <a:pPr algn="ctr" indent="0" marL="0">
                        <a:buNone/>
                      </a:pPr>
                      <a:r>
                        <a:rPr lang="en-US" sz="1080" b="1" dirty="0">
                          <a:solidFill>
                            <a:srgbClr val="1E7A46"/>
                          </a:solidFill>
                          <a:latin typeface="Calibri" pitchFamily="34" charset="0"/>
                          <a:ea typeface="Calibri" pitchFamily="34" charset="-122"/>
                          <a:cs typeface="Calibri" pitchFamily="34" charset="-120"/>
                        </a:rPr>
                        <a:t>✓ Yes</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EEF7F0"/>
                    </a:solidFill>
                  </a:tcPr>
                </a:tc>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1</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EEF7F0"/>
                    </a:solidFill>
                  </a:tcPr>
                </a:tc>
              </a:tr>
              <a:tr h="365760">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5</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c>
                  <a:txBody>
                    <a:bodyPr/>
                    <a:lstStyle/>
                    <a:p>
                      <a:pPr algn="ctr" indent="0" marL="0">
                        <a:buNone/>
                      </a:pPr>
                      <a:r>
                        <a:rPr lang="en-US" sz="1080" b="1" dirty="0">
                          <a:solidFill>
                            <a:srgbClr val="1B2A4A"/>
                          </a:solidFill>
                          <a:latin typeface="Calibri" pitchFamily="34" charset="0"/>
                          <a:ea typeface="Calibri" pitchFamily="34" charset="-122"/>
                          <a:cs typeface="Calibri" pitchFamily="34" charset="-120"/>
                        </a:rPr>
                        <a:t>KB302</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c>
                  <a:txBody>
                    <a:bodyPr/>
                    <a:lstStyle/>
                    <a:p>
                      <a:pPr indent="0" marL="0">
                        <a:buNone/>
                      </a:pPr>
                      <a:r>
                        <a:rPr lang="en-US" sz="1020" dirty="0">
                          <a:solidFill>
                            <a:srgbClr val="44506B"/>
                          </a:solidFill>
                          <a:latin typeface="Calibri" pitchFamily="34" charset="0"/>
                          <a:ea typeface="Calibri" pitchFamily="34" charset="-122"/>
                          <a:cs typeface="Calibri" pitchFamily="34" charset="-120"/>
                        </a:rPr>
                        <a:t>Billing FAQ</a:t>
                      </a:r>
                      <a:endParaRPr lang="en-US" sz="102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c>
                  <a:txBody>
                    <a:bodyPr/>
                    <a:lstStyle/>
                    <a:p>
                      <a:pPr algn="ctr" indent="0" marL="0">
                        <a:buNone/>
                      </a:pPr>
                      <a:r>
                        <a:rPr lang="en-US" sz="1080" b="1" dirty="0">
                          <a:solidFill>
                            <a:srgbClr val="B23A32"/>
                          </a:solidFill>
                          <a:latin typeface="Calibri" pitchFamily="34" charset="0"/>
                          <a:ea typeface="Calibri" pitchFamily="34" charset="-122"/>
                          <a:cs typeface="Calibri" pitchFamily="34" charset="-120"/>
                        </a:rPr>
                        <a:t>✗ No</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0</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r>
              <a:tr h="365760">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6</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EEF7F0"/>
                    </a:solidFill>
                  </a:tcPr>
                </a:tc>
                <a:tc>
                  <a:txBody>
                    <a:bodyPr/>
                    <a:lstStyle/>
                    <a:p>
                      <a:pPr algn="ctr" indent="0" marL="0">
                        <a:buNone/>
                      </a:pPr>
                      <a:r>
                        <a:rPr lang="en-US" sz="1080" b="1" dirty="0">
                          <a:solidFill>
                            <a:srgbClr val="1B2A4A"/>
                          </a:solidFill>
                          <a:latin typeface="Calibri" pitchFamily="34" charset="0"/>
                          <a:ea typeface="Calibri" pitchFamily="34" charset="-122"/>
                          <a:cs typeface="Calibri" pitchFamily="34" charset="-120"/>
                        </a:rPr>
                        <a:t>KB108</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EEF7F0"/>
                    </a:solidFill>
                  </a:tcPr>
                </a:tc>
                <a:tc>
                  <a:txBody>
                    <a:bodyPr/>
                    <a:lstStyle/>
                    <a:p>
                      <a:pPr indent="0" marL="0">
                        <a:buNone/>
                      </a:pPr>
                      <a:r>
                        <a:rPr lang="en-US" sz="1020" dirty="0">
                          <a:solidFill>
                            <a:srgbClr val="44506B"/>
                          </a:solidFill>
                          <a:latin typeface="Calibri" pitchFamily="34" charset="0"/>
                          <a:ea typeface="Calibri" pitchFamily="34" charset="-122"/>
                          <a:cs typeface="Calibri" pitchFamily="34" charset="-120"/>
                        </a:rPr>
                        <a:t>Account Recovery Overview</a:t>
                      </a:r>
                      <a:endParaRPr lang="en-US" sz="102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EEF7F0"/>
                    </a:solidFill>
                  </a:tcPr>
                </a:tc>
                <a:tc>
                  <a:txBody>
                    <a:bodyPr/>
                    <a:lstStyle/>
                    <a:p>
                      <a:pPr algn="ctr" indent="0" marL="0">
                        <a:buNone/>
                      </a:pPr>
                      <a:r>
                        <a:rPr lang="en-US" sz="1080" b="1" dirty="0">
                          <a:solidFill>
                            <a:srgbClr val="1E7A46"/>
                          </a:solidFill>
                          <a:latin typeface="Calibri" pitchFamily="34" charset="0"/>
                          <a:ea typeface="Calibri" pitchFamily="34" charset="-122"/>
                          <a:cs typeface="Calibri" pitchFamily="34" charset="-120"/>
                        </a:rPr>
                        <a:t>✓ Yes</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EEF7F0"/>
                    </a:solidFill>
                  </a:tcPr>
                </a:tc>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2</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EEF7F0"/>
                    </a:solidFill>
                  </a:tcPr>
                </a:tc>
              </a:tr>
              <a:tr h="365760">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7</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c>
                  <a:txBody>
                    <a:bodyPr/>
                    <a:lstStyle/>
                    <a:p>
                      <a:pPr algn="ctr" indent="0" marL="0">
                        <a:buNone/>
                      </a:pPr>
                      <a:r>
                        <a:rPr lang="en-US" sz="1080" b="1" dirty="0">
                          <a:solidFill>
                            <a:srgbClr val="1B2A4A"/>
                          </a:solidFill>
                          <a:latin typeface="Calibri" pitchFamily="34" charset="0"/>
                          <a:ea typeface="Calibri" pitchFamily="34" charset="-122"/>
                          <a:cs typeface="Calibri" pitchFamily="34" charset="-120"/>
                        </a:rPr>
                        <a:t>KB410</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c>
                  <a:txBody>
                    <a:bodyPr/>
                    <a:lstStyle/>
                    <a:p>
                      <a:pPr indent="0" marL="0">
                        <a:buNone/>
                      </a:pPr>
                      <a:r>
                        <a:rPr lang="en-US" sz="1020" dirty="0">
                          <a:solidFill>
                            <a:srgbClr val="44506B"/>
                          </a:solidFill>
                          <a:latin typeface="Calibri" pitchFamily="34" charset="0"/>
                          <a:ea typeface="Calibri" pitchFamily="34" charset="-122"/>
                          <a:cs typeface="Calibri" pitchFamily="34" charset="-120"/>
                        </a:rPr>
                        <a:t>Login / Password Help</a:t>
                      </a:r>
                      <a:endParaRPr lang="en-US" sz="102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c>
                  <a:txBody>
                    <a:bodyPr/>
                    <a:lstStyle/>
                    <a:p>
                      <a:pPr algn="ctr" indent="0" marL="0">
                        <a:buNone/>
                      </a:pPr>
                      <a:r>
                        <a:rPr lang="en-US" sz="1080" b="1" dirty="0">
                          <a:solidFill>
                            <a:srgbClr val="B23A32"/>
                          </a:solidFill>
                          <a:latin typeface="Calibri" pitchFamily="34" charset="0"/>
                          <a:ea typeface="Calibri" pitchFamily="34" charset="-122"/>
                          <a:cs typeface="Calibri" pitchFamily="34" charset="-120"/>
                        </a:rPr>
                        <a:t>✗ No</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0</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r>
              <a:tr h="365760">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8</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c>
                  <a:txBody>
                    <a:bodyPr/>
                    <a:lstStyle/>
                    <a:p>
                      <a:pPr algn="ctr" indent="0" marL="0">
                        <a:buNone/>
                      </a:pPr>
                      <a:r>
                        <a:rPr lang="en-US" sz="1080" b="1" dirty="0">
                          <a:solidFill>
                            <a:srgbClr val="1B2A4A"/>
                          </a:solidFill>
                          <a:latin typeface="Calibri" pitchFamily="34" charset="0"/>
                          <a:ea typeface="Calibri" pitchFamily="34" charset="-122"/>
                          <a:cs typeface="Calibri" pitchFamily="34" charset="-120"/>
                        </a:rPr>
                        <a:t>KB120</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c>
                  <a:txBody>
                    <a:bodyPr/>
                    <a:lstStyle/>
                    <a:p>
                      <a:pPr indent="0" marL="0">
                        <a:buNone/>
                      </a:pPr>
                      <a:r>
                        <a:rPr lang="en-US" sz="1020" dirty="0">
                          <a:solidFill>
                            <a:srgbClr val="44506B"/>
                          </a:solidFill>
                          <a:latin typeface="Calibri" pitchFamily="34" charset="0"/>
                          <a:ea typeface="Calibri" pitchFamily="34" charset="-122"/>
                          <a:cs typeface="Calibri" pitchFamily="34" charset="-120"/>
                        </a:rPr>
                        <a:t>Misc FAQ</a:t>
                      </a:r>
                      <a:endParaRPr lang="en-US" sz="102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c>
                  <a:txBody>
                    <a:bodyPr/>
                    <a:lstStyle/>
                    <a:p>
                      <a:pPr algn="ctr" indent="0" marL="0">
                        <a:buNone/>
                      </a:pPr>
                      <a:r>
                        <a:rPr lang="en-US" sz="1080" b="1" dirty="0">
                          <a:solidFill>
                            <a:srgbClr val="B23A32"/>
                          </a:solidFill>
                          <a:latin typeface="Calibri" pitchFamily="34" charset="0"/>
                          <a:ea typeface="Calibri" pitchFamily="34" charset="-122"/>
                          <a:cs typeface="Calibri" pitchFamily="34" charset="-120"/>
                        </a:rPr>
                        <a:t>✗ No</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0</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r>
              <a:tr h="365760">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9</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c>
                  <a:txBody>
                    <a:bodyPr/>
                    <a:lstStyle/>
                    <a:p>
                      <a:pPr algn="ctr" indent="0" marL="0">
                        <a:buNone/>
                      </a:pPr>
                      <a:r>
                        <a:rPr lang="en-US" sz="1080" b="1" dirty="0">
                          <a:solidFill>
                            <a:srgbClr val="1B2A4A"/>
                          </a:solidFill>
                          <a:latin typeface="Calibri" pitchFamily="34" charset="0"/>
                          <a:ea typeface="Calibri" pitchFamily="34" charset="-122"/>
                          <a:cs typeface="Calibri" pitchFamily="34" charset="-120"/>
                        </a:rPr>
                        <a:t>KB130</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c>
                  <a:txBody>
                    <a:bodyPr/>
                    <a:lstStyle/>
                    <a:p>
                      <a:pPr indent="0" marL="0">
                        <a:buNone/>
                      </a:pPr>
                      <a:r>
                        <a:rPr lang="en-US" sz="1020" dirty="0">
                          <a:solidFill>
                            <a:srgbClr val="44506B"/>
                          </a:solidFill>
                          <a:latin typeface="Calibri" pitchFamily="34" charset="0"/>
                          <a:ea typeface="Calibri" pitchFamily="34" charset="-122"/>
                          <a:cs typeface="Calibri" pitchFamily="34" charset="-120"/>
                        </a:rPr>
                        <a:t>Misc FAQ</a:t>
                      </a:r>
                      <a:endParaRPr lang="en-US" sz="102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c>
                  <a:txBody>
                    <a:bodyPr/>
                    <a:lstStyle/>
                    <a:p>
                      <a:pPr algn="ctr" indent="0" marL="0">
                        <a:buNone/>
                      </a:pPr>
                      <a:r>
                        <a:rPr lang="en-US" sz="1080" b="1" dirty="0">
                          <a:solidFill>
                            <a:srgbClr val="B23A32"/>
                          </a:solidFill>
                          <a:latin typeface="Calibri" pitchFamily="34" charset="0"/>
                          <a:ea typeface="Calibri" pitchFamily="34" charset="-122"/>
                          <a:cs typeface="Calibri" pitchFamily="34" charset="-120"/>
                        </a:rPr>
                        <a:t>✗ No</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0</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r>
              <a:tr h="365760">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10</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c>
                  <a:txBody>
                    <a:bodyPr/>
                    <a:lstStyle/>
                    <a:p>
                      <a:pPr algn="ctr" indent="0" marL="0">
                        <a:buNone/>
                      </a:pPr>
                      <a:r>
                        <a:rPr lang="en-US" sz="1080" b="1" dirty="0">
                          <a:solidFill>
                            <a:srgbClr val="1B2A4A"/>
                          </a:solidFill>
                          <a:latin typeface="Calibri" pitchFamily="34" charset="0"/>
                          <a:ea typeface="Calibri" pitchFamily="34" charset="-122"/>
                          <a:cs typeface="Calibri" pitchFamily="34" charset="-120"/>
                        </a:rPr>
                        <a:t>KB140</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c>
                  <a:txBody>
                    <a:bodyPr/>
                    <a:lstStyle/>
                    <a:p>
                      <a:pPr indent="0" marL="0">
                        <a:buNone/>
                      </a:pPr>
                      <a:r>
                        <a:rPr lang="en-US" sz="1020" dirty="0">
                          <a:solidFill>
                            <a:srgbClr val="44506B"/>
                          </a:solidFill>
                          <a:latin typeface="Calibri" pitchFamily="34" charset="0"/>
                          <a:ea typeface="Calibri" pitchFamily="34" charset="-122"/>
                          <a:cs typeface="Calibri" pitchFamily="34" charset="-120"/>
                        </a:rPr>
                        <a:t>Misc FAQ</a:t>
                      </a:r>
                      <a:endParaRPr lang="en-US" sz="102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c>
                  <a:txBody>
                    <a:bodyPr/>
                    <a:lstStyle/>
                    <a:p>
                      <a:pPr algn="ctr" indent="0" marL="0">
                        <a:buNone/>
                      </a:pPr>
                      <a:r>
                        <a:rPr lang="en-US" sz="1080" b="1" dirty="0">
                          <a:solidFill>
                            <a:srgbClr val="B23A32"/>
                          </a:solidFill>
                          <a:latin typeface="Calibri" pitchFamily="34" charset="0"/>
                          <a:ea typeface="Calibri" pitchFamily="34" charset="-122"/>
                          <a:cs typeface="Calibri" pitchFamily="34" charset="-120"/>
                        </a:rPr>
                        <a:t>✗ No</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0</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FFFFFF"/>
                    </a:solidFill>
                  </a:tcPr>
                </a:tc>
              </a:tr>
            </a:tbl>
          </a:graphicData>
        </a:graphic>
      </p:graphicFrame>
      <p:sp>
        <p:nvSpPr>
          <p:cNvPr id="9" name="Shape 6"/>
          <p:cNvSpPr/>
          <p:nvPr/>
        </p:nvSpPr>
        <p:spPr>
          <a:xfrm>
            <a:off x="8458200" y="2240280"/>
            <a:ext cx="3291840" cy="3977640"/>
          </a:xfrm>
          <a:prstGeom prst="roundRect">
            <a:avLst>
              <a:gd name="adj" fmla="val 2222"/>
            </a:avLst>
          </a:prstGeom>
          <a:solidFill>
            <a:srgbClr val="FFFFFF"/>
          </a:solidFill>
          <a:ln w="12700">
            <a:solidFill>
              <a:srgbClr val="D9E2F1"/>
            </a:solidFill>
            <a:prstDash val="solid"/>
          </a:ln>
          <a:effectLst>
            <a:outerShdw sx="100000" sy="100000" kx="0" ky="0" algn="bl" rotWithShape="0" blurRad="101600" dist="25400" dir="5400000">
              <a:srgbClr val="3A4A6B">
                <a:alpha val="12000"/>
              </a:srgbClr>
            </a:outerShdw>
          </a:effectLst>
        </p:spPr>
      </p:sp>
      <p:sp>
        <p:nvSpPr>
          <p:cNvPr id="10" name="Text 7"/>
          <p:cNvSpPr txBox="1"/>
          <p:nvPr/>
        </p:nvSpPr>
        <p:spPr>
          <a:xfrm>
            <a:off x="8686800" y="2395728"/>
            <a:ext cx="2834640" cy="292608"/>
          </a:xfrm>
          <a:prstGeom prst="rect">
            <a:avLst/>
          </a:prstGeom>
          <a:noFill/>
          <a:ln/>
        </p:spPr>
        <p:txBody>
          <a:bodyPr wrap="square" lIns="0" tIns="0" rIns="0" bIns="0"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Reading this table</a:t>
            </a:r>
            <a:endParaRPr lang="en-US" sz="1350" dirty="0"/>
          </a:p>
        </p:txBody>
      </p:sp>
      <p:sp>
        <p:nvSpPr>
          <p:cNvPr id="11" name="Shape 8"/>
          <p:cNvSpPr/>
          <p:nvPr/>
        </p:nvSpPr>
        <p:spPr>
          <a:xfrm>
            <a:off x="8686800" y="2843784"/>
            <a:ext cx="73152" cy="73152"/>
          </a:xfrm>
          <a:prstGeom prst="ellipse">
            <a:avLst/>
          </a:prstGeom>
          <a:solidFill>
            <a:srgbClr val="5A7CA6"/>
          </a:solidFill>
          <a:ln/>
        </p:spPr>
      </p:sp>
      <p:sp>
        <p:nvSpPr>
          <p:cNvPr id="12" name="Text 9"/>
          <p:cNvSpPr txBox="1"/>
          <p:nvPr/>
        </p:nvSpPr>
        <p:spPr>
          <a:xfrm>
            <a:off x="8869680" y="2734056"/>
            <a:ext cx="2834640" cy="822960"/>
          </a:xfrm>
          <a:prstGeom prst="rect">
            <a:avLst/>
          </a:prstGeom>
          <a:noFill/>
          <a:ln/>
        </p:spPr>
        <p:txBody>
          <a:bodyPr wrap="square" lIns="0" tIns="0" rIns="0" bIns="0" rtlCol="0" anchor="ctr"/>
          <a:lstStyle/>
          <a:p>
            <a:pPr indent="0" marL="0">
              <a:lnSpc>
                <a:spcPct val="120000"/>
              </a:lnSpc>
              <a:buNone/>
            </a:pPr>
            <a:r>
              <a:rPr lang="en-US" sz="1080" dirty="0">
                <a:solidFill>
                  <a:srgbClr val="44506B"/>
                </a:solidFill>
                <a:latin typeface="Calibri" pitchFamily="34" charset="0"/>
                <a:ea typeface="Calibri" pitchFamily="34" charset="-122"/>
                <a:cs typeface="Calibri" pitchFamily="34" charset="-120"/>
              </a:rPr>
              <a:t>Same Baseline ranking used throughout this deck — plain embedding similarity, no reranking.</a:t>
            </a:r>
            <a:endParaRPr lang="en-US" sz="1080" dirty="0"/>
          </a:p>
        </p:txBody>
      </p:sp>
      <p:sp>
        <p:nvSpPr>
          <p:cNvPr id="13" name="Shape 10"/>
          <p:cNvSpPr/>
          <p:nvPr/>
        </p:nvSpPr>
        <p:spPr>
          <a:xfrm>
            <a:off x="8686800" y="3739896"/>
            <a:ext cx="73152" cy="73152"/>
          </a:xfrm>
          <a:prstGeom prst="ellipse">
            <a:avLst/>
          </a:prstGeom>
          <a:solidFill>
            <a:srgbClr val="5A7CA6"/>
          </a:solidFill>
          <a:ln/>
        </p:spPr>
      </p:sp>
      <p:sp>
        <p:nvSpPr>
          <p:cNvPr id="14" name="Text 11"/>
          <p:cNvSpPr txBox="1"/>
          <p:nvPr/>
        </p:nvSpPr>
        <p:spPr>
          <a:xfrm>
            <a:off x="8869680" y="3630168"/>
            <a:ext cx="2834640" cy="822960"/>
          </a:xfrm>
          <a:prstGeom prst="rect">
            <a:avLst/>
          </a:prstGeom>
          <a:noFill/>
          <a:ln/>
        </p:spPr>
        <p:txBody>
          <a:bodyPr wrap="square" lIns="0" tIns="0" rIns="0" bIns="0" rtlCol="0" anchor="ctr"/>
          <a:lstStyle/>
          <a:p>
            <a:pPr indent="0" marL="0">
              <a:lnSpc>
                <a:spcPct val="120000"/>
              </a:lnSpc>
              <a:buNone/>
            </a:pPr>
            <a:r>
              <a:rPr lang="en-US" sz="1080" dirty="0">
                <a:solidFill>
                  <a:srgbClr val="44506B"/>
                </a:solidFill>
                <a:latin typeface="Calibri" pitchFamily="34" charset="0"/>
                <a:ea typeface="Calibri" pitchFamily="34" charset="-122"/>
                <a:cs typeface="Calibri" pitchFamily="34" charset="-120"/>
              </a:rPr>
              <a:t>|R| = 4 relevant docs exist in total: KB103, KB105, KB108, KB110.</a:t>
            </a:r>
            <a:endParaRPr lang="en-US" sz="1080" dirty="0"/>
          </a:p>
        </p:txBody>
      </p:sp>
      <p:sp>
        <p:nvSpPr>
          <p:cNvPr id="15" name="Shape 12"/>
          <p:cNvSpPr/>
          <p:nvPr/>
        </p:nvSpPr>
        <p:spPr>
          <a:xfrm>
            <a:off x="8686800" y="4636008"/>
            <a:ext cx="73152" cy="73152"/>
          </a:xfrm>
          <a:prstGeom prst="ellipse">
            <a:avLst/>
          </a:prstGeom>
          <a:solidFill>
            <a:srgbClr val="5A7CA6"/>
          </a:solidFill>
          <a:ln/>
        </p:spPr>
      </p:sp>
      <p:sp>
        <p:nvSpPr>
          <p:cNvPr id="16" name="Text 13"/>
          <p:cNvSpPr txBox="1"/>
          <p:nvPr/>
        </p:nvSpPr>
        <p:spPr>
          <a:xfrm>
            <a:off x="8869680" y="4526280"/>
            <a:ext cx="2834640" cy="822960"/>
          </a:xfrm>
          <a:prstGeom prst="rect">
            <a:avLst/>
          </a:prstGeom>
          <a:noFill/>
          <a:ln/>
        </p:spPr>
        <p:txBody>
          <a:bodyPr wrap="square" lIns="0" tIns="0" rIns="0" bIns="0" rtlCol="0" anchor="ctr"/>
          <a:lstStyle/>
          <a:p>
            <a:pPr indent="0" marL="0">
              <a:lnSpc>
                <a:spcPct val="120000"/>
              </a:lnSpc>
              <a:buNone/>
            </a:pPr>
            <a:r>
              <a:rPr lang="en-US" sz="1080" dirty="0">
                <a:solidFill>
                  <a:srgbClr val="44506B"/>
                </a:solidFill>
                <a:latin typeface="Calibri" pitchFamily="34" charset="0"/>
                <a:ea typeface="Calibri" pitchFamily="34" charset="-122"/>
                <a:cs typeface="Calibri" pitchFamily="34" charset="-120"/>
              </a:rPr>
              <a:t>3 of them (KB105, KB103, KB110) are found by rank 4. The 4th (KB108) only appears at rank 6 — just outside a top-5 window.</a:t>
            </a:r>
            <a:endParaRPr lang="en-US" sz="1080" dirty="0"/>
          </a:p>
        </p:txBody>
      </p:sp>
      <p:sp>
        <p:nvSpPr>
          <p:cNvPr id="17" name="Shape 14"/>
          <p:cNvSpPr/>
          <p:nvPr/>
        </p:nvSpPr>
        <p:spPr>
          <a:xfrm>
            <a:off x="8686800" y="5532120"/>
            <a:ext cx="73152" cy="73152"/>
          </a:xfrm>
          <a:prstGeom prst="ellipse">
            <a:avLst/>
          </a:prstGeom>
          <a:solidFill>
            <a:srgbClr val="5A7CA6"/>
          </a:solidFill>
          <a:ln/>
        </p:spPr>
      </p:sp>
      <p:sp>
        <p:nvSpPr>
          <p:cNvPr id="18" name="Text 15"/>
          <p:cNvSpPr txBox="1"/>
          <p:nvPr/>
        </p:nvSpPr>
        <p:spPr>
          <a:xfrm>
            <a:off x="8869680" y="5422392"/>
            <a:ext cx="2834640" cy="822960"/>
          </a:xfrm>
          <a:prstGeom prst="rect">
            <a:avLst/>
          </a:prstGeom>
          <a:noFill/>
          <a:ln/>
        </p:spPr>
        <p:txBody>
          <a:bodyPr wrap="square" lIns="0" tIns="0" rIns="0" bIns="0" rtlCol="0" anchor="ctr"/>
          <a:lstStyle/>
          <a:p>
            <a:pPr indent="0" marL="0">
              <a:lnSpc>
                <a:spcPct val="120000"/>
              </a:lnSpc>
              <a:buNone/>
            </a:pPr>
            <a:r>
              <a:rPr lang="en-US" sz="1080" dirty="0">
                <a:solidFill>
                  <a:srgbClr val="44506B"/>
                </a:solidFill>
                <a:latin typeface="Calibri" pitchFamily="34" charset="0"/>
                <a:ea typeface="Calibri" pitchFamily="34" charset="-122"/>
                <a:cs typeface="Calibri" pitchFamily="34" charset="-120"/>
              </a:rPr>
              <a:t>We'll use this exact list to calculate Recall@5 and Recall@10 next.</a:t>
            </a:r>
            <a:endParaRPr lang="en-US" sz="10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B2A4A"/>
          </a:solidFill>
          <a:ln/>
        </p:spPr>
      </p:sp>
      <p:sp>
        <p:nvSpPr>
          <p:cNvPr id="3" name="Text 1"/>
          <p:cNvSpPr txBox="1"/>
          <p:nvPr/>
        </p:nvSpPr>
        <p:spPr>
          <a:xfrm>
            <a:off x="457200" y="146304"/>
            <a:ext cx="9144000" cy="274320"/>
          </a:xfrm>
          <a:prstGeom prst="rect">
            <a:avLst/>
          </a:prstGeom>
          <a:noFill/>
          <a:ln/>
        </p:spPr>
        <p:txBody>
          <a:bodyPr wrap="square" lIns="0" tIns="0" rIns="0" bIns="0" rtlCol="0" anchor="ctr"/>
          <a:lstStyle/>
          <a:p>
            <a:pPr indent="0" marL="0">
              <a:buNone/>
            </a:pPr>
            <a:r>
              <a:rPr lang="en-US" sz="1150" b="1" spc="150" kern="0" dirty="0">
                <a:solidFill>
                  <a:srgbClr val="CADCFC"/>
                </a:solidFill>
                <a:latin typeface="Calibri" pitchFamily="34" charset="0"/>
                <a:ea typeface="Calibri" pitchFamily="34" charset="-122"/>
                <a:cs typeface="Calibri" pitchFamily="34" charset="-120"/>
              </a:rPr>
              <a:t>4 · CALCULATION</a:t>
            </a:r>
            <a:endParaRPr lang="en-US" sz="1150" dirty="0"/>
          </a:p>
        </p:txBody>
      </p:sp>
      <p:sp>
        <p:nvSpPr>
          <p:cNvPr id="4" name="Text 2"/>
          <p:cNvSpPr txBox="1"/>
          <p:nvPr/>
        </p:nvSpPr>
        <p:spPr>
          <a:xfrm>
            <a:off x="457200" y="384048"/>
            <a:ext cx="11247120" cy="594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Recall@K — Step-by-Step</a:t>
            </a:r>
            <a:endParaRPr lang="en-US" sz="2600" dirty="0"/>
          </a:p>
        </p:txBody>
      </p:sp>
      <p:sp>
        <p:nvSpPr>
          <p:cNvPr id="5" name="Text 3"/>
          <p:cNvSpPr txBox="1"/>
          <p:nvPr/>
        </p:nvSpPr>
        <p:spPr>
          <a:xfrm>
            <a:off x="11430000" y="6519672"/>
            <a:ext cx="640080" cy="274320"/>
          </a:xfrm>
          <a:prstGeom prst="rect">
            <a:avLst/>
          </a:prstGeom>
          <a:noFill/>
          <a:ln/>
        </p:spPr>
        <p:txBody>
          <a:bodyPr wrap="square" lIns="0" tIns="0" rIns="0" bIns="0" rtlCol="0" anchor="ctr"/>
          <a:lstStyle/>
          <a:p>
            <a:pPr algn="r" indent="0" marL="0">
              <a:buNone/>
            </a:pPr>
            <a:r>
              <a:rPr lang="en-US" sz="900" dirty="0">
                <a:solidFill>
                  <a:srgbClr val="8592AC"/>
                </a:solidFill>
                <a:latin typeface="Calibri" pitchFamily="34" charset="0"/>
                <a:ea typeface="Calibri" pitchFamily="34" charset="-122"/>
                <a:cs typeface="Calibri" pitchFamily="34" charset="-120"/>
              </a:rPr>
              <a:t>5 / 13</a:t>
            </a:r>
            <a:endParaRPr lang="en-US" sz="900" dirty="0"/>
          </a:p>
        </p:txBody>
      </p:sp>
      <p:sp>
        <p:nvSpPr>
          <p:cNvPr id="6" name="Text 4"/>
          <p:cNvSpPr txBox="1"/>
          <p:nvPr/>
        </p:nvSpPr>
        <p:spPr>
          <a:xfrm>
            <a:off x="457200" y="1143000"/>
            <a:ext cx="11247120" cy="292608"/>
          </a:xfrm>
          <a:prstGeom prst="rect">
            <a:avLst/>
          </a:prstGeom>
          <a:noFill/>
          <a:ln/>
        </p:spPr>
        <p:txBody>
          <a:bodyPr wrap="square" lIns="0" tIns="0" rIns="0" bIns="0" rtlCol="0" anchor="ctr"/>
          <a:lstStyle/>
          <a:p>
            <a:pPr indent="0" marL="0">
              <a:buNone/>
            </a:pPr>
            <a:r>
              <a:rPr lang="en-US" sz="1200" i="1" dirty="0">
                <a:solidFill>
                  <a:srgbClr val="8592AC"/>
                </a:solidFill>
                <a:latin typeface="Calibri" pitchFamily="34" charset="0"/>
                <a:ea typeface="Calibri" pitchFamily="34" charset="-122"/>
                <a:cs typeface="Calibri" pitchFamily="34" charset="-120"/>
              </a:rPr>
              <a:t>Query 1, Baseline system — using the ranked list from the previous slide</a:t>
            </a:r>
            <a:endParaRPr lang="en-US" sz="1200" dirty="0"/>
          </a:p>
        </p:txBody>
      </p:sp>
      <p:sp>
        <p:nvSpPr>
          <p:cNvPr id="7" name="Shape 5"/>
          <p:cNvSpPr/>
          <p:nvPr/>
        </p:nvSpPr>
        <p:spPr>
          <a:xfrm>
            <a:off x="457200" y="1508760"/>
            <a:ext cx="6309360" cy="4754880"/>
          </a:xfrm>
          <a:prstGeom prst="roundRect">
            <a:avLst>
              <a:gd name="adj" fmla="val 1538"/>
            </a:avLst>
          </a:prstGeom>
          <a:solidFill>
            <a:srgbClr val="FFFFFF"/>
          </a:solidFill>
          <a:ln w="12700">
            <a:solidFill>
              <a:srgbClr val="D9E2F1"/>
            </a:solidFill>
            <a:prstDash val="solid"/>
          </a:ln>
          <a:effectLst>
            <a:outerShdw sx="100000" sy="100000" kx="0" ky="0" algn="bl" rotWithShape="0" blurRad="101600" dist="25400" dir="5400000">
              <a:srgbClr val="3A4A6B">
                <a:alpha val="12000"/>
              </a:srgbClr>
            </a:outerShdw>
          </a:effectLst>
        </p:spPr>
      </p:sp>
      <p:sp>
        <p:nvSpPr>
          <p:cNvPr id="8" name="Shape 6"/>
          <p:cNvSpPr/>
          <p:nvPr/>
        </p:nvSpPr>
        <p:spPr>
          <a:xfrm>
            <a:off x="713232" y="1755648"/>
            <a:ext cx="329184" cy="329184"/>
          </a:xfrm>
          <a:prstGeom prst="ellipse">
            <a:avLst/>
          </a:prstGeom>
          <a:solidFill>
            <a:srgbClr val="1B2A4A"/>
          </a:solidFill>
          <a:ln/>
        </p:spPr>
      </p:sp>
      <p:sp>
        <p:nvSpPr>
          <p:cNvPr id="9" name="Text 7"/>
          <p:cNvSpPr txBox="1"/>
          <p:nvPr/>
        </p:nvSpPr>
        <p:spPr>
          <a:xfrm>
            <a:off x="713232" y="17556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txBox="1"/>
          <p:nvPr/>
        </p:nvSpPr>
        <p:spPr>
          <a:xfrm>
            <a:off x="1170432" y="1682496"/>
            <a:ext cx="5394960" cy="746760"/>
          </a:xfrm>
          <a:prstGeom prst="rect">
            <a:avLst/>
          </a:prstGeom>
          <a:noFill/>
          <a:ln/>
        </p:spPr>
        <p:txBody>
          <a:bodyPr wrap="square" lIns="0" tIns="0" rIns="0" bIns="0" rtlCol="0" anchor="t"/>
          <a:lstStyle/>
          <a:p>
            <a:pPr indent="0" marL="0">
              <a:lnSpc>
                <a:spcPct val="120000"/>
              </a:lnSpc>
              <a:buNone/>
            </a:pPr>
            <a:r>
              <a:rPr lang="en-US" sz="1250" dirty="0">
                <a:solidFill>
                  <a:srgbClr val="44506B"/>
                </a:solidFill>
                <a:latin typeface="Calibri" pitchFamily="34" charset="0"/>
                <a:ea typeface="Calibri" pitchFamily="34" charset="-122"/>
                <a:cs typeface="Calibri" pitchFamily="34" charset="-120"/>
              </a:rPr>
              <a:t>Total relevant documents for this query: |R| = 4 (KB103, KB105, KB108, KB110).</a:t>
            </a:r>
            <a:endParaRPr lang="en-US" sz="1250" dirty="0"/>
          </a:p>
        </p:txBody>
      </p:sp>
      <p:sp>
        <p:nvSpPr>
          <p:cNvPr id="11" name="Shape 9"/>
          <p:cNvSpPr/>
          <p:nvPr/>
        </p:nvSpPr>
        <p:spPr>
          <a:xfrm>
            <a:off x="713232" y="2502408"/>
            <a:ext cx="329184" cy="329184"/>
          </a:xfrm>
          <a:prstGeom prst="ellipse">
            <a:avLst/>
          </a:prstGeom>
          <a:solidFill>
            <a:srgbClr val="1B2A4A"/>
          </a:solidFill>
          <a:ln/>
        </p:spPr>
      </p:sp>
      <p:sp>
        <p:nvSpPr>
          <p:cNvPr id="12" name="Text 10"/>
          <p:cNvSpPr txBox="1"/>
          <p:nvPr/>
        </p:nvSpPr>
        <p:spPr>
          <a:xfrm>
            <a:off x="713232" y="25024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txBox="1"/>
          <p:nvPr/>
        </p:nvSpPr>
        <p:spPr>
          <a:xfrm>
            <a:off x="1170432" y="2429256"/>
            <a:ext cx="5394960" cy="746760"/>
          </a:xfrm>
          <a:prstGeom prst="rect">
            <a:avLst/>
          </a:prstGeom>
          <a:noFill/>
          <a:ln/>
        </p:spPr>
        <p:txBody>
          <a:bodyPr wrap="square" lIns="0" tIns="0" rIns="0" bIns="0" rtlCol="0" anchor="t"/>
          <a:lstStyle/>
          <a:p>
            <a:pPr indent="0" marL="0">
              <a:lnSpc>
                <a:spcPct val="120000"/>
              </a:lnSpc>
              <a:buNone/>
            </a:pPr>
            <a:r>
              <a:rPr lang="en-US" sz="1250" dirty="0">
                <a:solidFill>
                  <a:srgbClr val="44506B"/>
                </a:solidFill>
                <a:latin typeface="Calibri" pitchFamily="34" charset="0"/>
                <a:ea typeface="Calibri" pitchFamily="34" charset="-122"/>
                <a:cs typeface="Calibri" pitchFamily="34" charset="-120"/>
              </a:rPr>
              <a:t>Cut the retrieved list at K = 5: {KB105, KB201, KB103, KB110, KB302}.</a:t>
            </a:r>
            <a:endParaRPr lang="en-US" sz="1250" dirty="0"/>
          </a:p>
        </p:txBody>
      </p:sp>
      <p:sp>
        <p:nvSpPr>
          <p:cNvPr id="14" name="Shape 12"/>
          <p:cNvSpPr/>
          <p:nvPr/>
        </p:nvSpPr>
        <p:spPr>
          <a:xfrm>
            <a:off x="713232" y="3249168"/>
            <a:ext cx="329184" cy="329184"/>
          </a:xfrm>
          <a:prstGeom prst="ellipse">
            <a:avLst/>
          </a:prstGeom>
          <a:solidFill>
            <a:srgbClr val="1B2A4A"/>
          </a:solidFill>
          <a:ln/>
        </p:spPr>
      </p:sp>
      <p:sp>
        <p:nvSpPr>
          <p:cNvPr id="15" name="Text 13"/>
          <p:cNvSpPr txBox="1"/>
          <p:nvPr/>
        </p:nvSpPr>
        <p:spPr>
          <a:xfrm>
            <a:off x="713232" y="32491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txBox="1"/>
          <p:nvPr/>
        </p:nvSpPr>
        <p:spPr>
          <a:xfrm>
            <a:off x="1170432" y="3176016"/>
            <a:ext cx="5394960" cy="746760"/>
          </a:xfrm>
          <a:prstGeom prst="rect">
            <a:avLst/>
          </a:prstGeom>
          <a:noFill/>
          <a:ln/>
        </p:spPr>
        <p:txBody>
          <a:bodyPr wrap="square" lIns="0" tIns="0" rIns="0" bIns="0" rtlCol="0" anchor="t"/>
          <a:lstStyle/>
          <a:p>
            <a:pPr indent="0" marL="0">
              <a:lnSpc>
                <a:spcPct val="120000"/>
              </a:lnSpc>
              <a:buNone/>
            </a:pPr>
            <a:r>
              <a:rPr lang="en-US" sz="1250" dirty="0">
                <a:solidFill>
                  <a:srgbClr val="44506B"/>
                </a:solidFill>
                <a:latin typeface="Calibri" pitchFamily="34" charset="0"/>
                <a:ea typeface="Calibri" pitchFamily="34" charset="-122"/>
                <a:cs typeface="Calibri" pitchFamily="34" charset="-120"/>
              </a:rPr>
              <a:t>Relevant docs found in top 5: {KB105, KB103, KB110} → |R ∩ D₅| = 3.</a:t>
            </a:r>
            <a:endParaRPr lang="en-US" sz="1250" dirty="0"/>
          </a:p>
        </p:txBody>
      </p:sp>
      <p:sp>
        <p:nvSpPr>
          <p:cNvPr id="17" name="Shape 15"/>
          <p:cNvSpPr/>
          <p:nvPr/>
        </p:nvSpPr>
        <p:spPr>
          <a:xfrm>
            <a:off x="713232" y="3995928"/>
            <a:ext cx="329184" cy="329184"/>
          </a:xfrm>
          <a:prstGeom prst="ellipse">
            <a:avLst/>
          </a:prstGeom>
          <a:solidFill>
            <a:srgbClr val="1B2A4A"/>
          </a:solidFill>
          <a:ln/>
        </p:spPr>
      </p:sp>
      <p:sp>
        <p:nvSpPr>
          <p:cNvPr id="18" name="Text 16"/>
          <p:cNvSpPr txBox="1"/>
          <p:nvPr/>
        </p:nvSpPr>
        <p:spPr>
          <a:xfrm>
            <a:off x="713232" y="39959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9" name="Text 17"/>
          <p:cNvSpPr txBox="1"/>
          <p:nvPr/>
        </p:nvSpPr>
        <p:spPr>
          <a:xfrm>
            <a:off x="1170432" y="3922776"/>
            <a:ext cx="5394960" cy="746760"/>
          </a:xfrm>
          <a:prstGeom prst="rect">
            <a:avLst/>
          </a:prstGeom>
          <a:noFill/>
          <a:ln/>
        </p:spPr>
        <p:txBody>
          <a:bodyPr wrap="square" lIns="0" tIns="0" rIns="0" bIns="0" rtlCol="0" anchor="t"/>
          <a:lstStyle/>
          <a:p>
            <a:pPr indent="0" marL="0">
              <a:lnSpc>
                <a:spcPct val="120000"/>
              </a:lnSpc>
              <a:buNone/>
            </a:pPr>
            <a:r>
              <a:rPr lang="en-US" sz="1250" dirty="0">
                <a:solidFill>
                  <a:srgbClr val="44506B"/>
                </a:solidFill>
                <a:latin typeface="Calibri" pitchFamily="34" charset="0"/>
                <a:ea typeface="Calibri" pitchFamily="34" charset="-122"/>
                <a:cs typeface="Calibri" pitchFamily="34" charset="-120"/>
              </a:rPr>
              <a:t>Recall@5 = 3 / 4 = 0.75.</a:t>
            </a:r>
            <a:endParaRPr lang="en-US" sz="1250" dirty="0"/>
          </a:p>
        </p:txBody>
      </p:sp>
      <p:sp>
        <p:nvSpPr>
          <p:cNvPr id="20" name="Shape 18"/>
          <p:cNvSpPr/>
          <p:nvPr/>
        </p:nvSpPr>
        <p:spPr>
          <a:xfrm>
            <a:off x="713232" y="4742688"/>
            <a:ext cx="329184" cy="329184"/>
          </a:xfrm>
          <a:prstGeom prst="ellipse">
            <a:avLst/>
          </a:prstGeom>
          <a:solidFill>
            <a:srgbClr val="1B2A4A"/>
          </a:solidFill>
          <a:ln/>
        </p:spPr>
      </p:sp>
      <p:sp>
        <p:nvSpPr>
          <p:cNvPr id="21" name="Text 19"/>
          <p:cNvSpPr txBox="1"/>
          <p:nvPr/>
        </p:nvSpPr>
        <p:spPr>
          <a:xfrm>
            <a:off x="713232" y="47426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2" name="Text 20"/>
          <p:cNvSpPr txBox="1"/>
          <p:nvPr/>
        </p:nvSpPr>
        <p:spPr>
          <a:xfrm>
            <a:off x="1170432" y="4669536"/>
            <a:ext cx="5394960" cy="746760"/>
          </a:xfrm>
          <a:prstGeom prst="rect">
            <a:avLst/>
          </a:prstGeom>
          <a:noFill/>
          <a:ln/>
        </p:spPr>
        <p:txBody>
          <a:bodyPr wrap="square" lIns="0" tIns="0" rIns="0" bIns="0" rtlCol="0" anchor="t"/>
          <a:lstStyle/>
          <a:p>
            <a:pPr indent="0" marL="0">
              <a:lnSpc>
                <a:spcPct val="120000"/>
              </a:lnSpc>
              <a:buNone/>
            </a:pPr>
            <a:r>
              <a:rPr lang="en-US" sz="1250" dirty="0">
                <a:solidFill>
                  <a:srgbClr val="44506B"/>
                </a:solidFill>
                <a:latin typeface="Calibri" pitchFamily="34" charset="0"/>
                <a:ea typeface="Calibri" pitchFamily="34" charset="-122"/>
                <a:cs typeface="Calibri" pitchFamily="34" charset="-120"/>
              </a:rPr>
              <a:t>Now cut at K = 10 instead: KB108 also appears (at rank 6), so all 4 relevant docs are found.</a:t>
            </a:r>
            <a:endParaRPr lang="en-US" sz="1250" dirty="0"/>
          </a:p>
        </p:txBody>
      </p:sp>
      <p:sp>
        <p:nvSpPr>
          <p:cNvPr id="23" name="Shape 21"/>
          <p:cNvSpPr/>
          <p:nvPr/>
        </p:nvSpPr>
        <p:spPr>
          <a:xfrm>
            <a:off x="713232" y="5489448"/>
            <a:ext cx="329184" cy="329184"/>
          </a:xfrm>
          <a:prstGeom prst="ellipse">
            <a:avLst/>
          </a:prstGeom>
          <a:solidFill>
            <a:srgbClr val="1B2A4A"/>
          </a:solidFill>
          <a:ln/>
        </p:spPr>
      </p:sp>
      <p:sp>
        <p:nvSpPr>
          <p:cNvPr id="24" name="Text 22"/>
          <p:cNvSpPr txBox="1"/>
          <p:nvPr/>
        </p:nvSpPr>
        <p:spPr>
          <a:xfrm>
            <a:off x="713232" y="54894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5" name="Text 23"/>
          <p:cNvSpPr txBox="1"/>
          <p:nvPr/>
        </p:nvSpPr>
        <p:spPr>
          <a:xfrm>
            <a:off x="1170432" y="5416296"/>
            <a:ext cx="5394960" cy="746760"/>
          </a:xfrm>
          <a:prstGeom prst="rect">
            <a:avLst/>
          </a:prstGeom>
          <a:noFill/>
          <a:ln/>
        </p:spPr>
        <p:txBody>
          <a:bodyPr wrap="square" lIns="0" tIns="0" rIns="0" bIns="0" rtlCol="0" anchor="t"/>
          <a:lstStyle/>
          <a:p>
            <a:pPr indent="0" marL="0">
              <a:lnSpc>
                <a:spcPct val="120000"/>
              </a:lnSpc>
              <a:buNone/>
            </a:pPr>
            <a:r>
              <a:rPr lang="en-US" sz="1250" dirty="0">
                <a:solidFill>
                  <a:srgbClr val="44506B"/>
                </a:solidFill>
                <a:latin typeface="Calibri" pitchFamily="34" charset="0"/>
                <a:ea typeface="Calibri" pitchFamily="34" charset="-122"/>
                <a:cs typeface="Calibri" pitchFamily="34" charset="-120"/>
              </a:rPr>
              <a:t>Recall@10 = 4 / 4 = 1.0.</a:t>
            </a:r>
            <a:endParaRPr lang="en-US" sz="1250" dirty="0"/>
          </a:p>
        </p:txBody>
      </p:sp>
      <p:sp>
        <p:nvSpPr>
          <p:cNvPr id="26" name="Shape 24"/>
          <p:cNvSpPr/>
          <p:nvPr/>
        </p:nvSpPr>
        <p:spPr>
          <a:xfrm>
            <a:off x="6949440" y="1508760"/>
            <a:ext cx="4800600" cy="1920240"/>
          </a:xfrm>
          <a:prstGeom prst="roundRect">
            <a:avLst>
              <a:gd name="adj" fmla="val 3810"/>
            </a:avLst>
          </a:prstGeom>
          <a:solidFill>
            <a:srgbClr val="223A5E"/>
          </a:solidFill>
          <a:ln/>
        </p:spPr>
      </p:sp>
      <p:sp>
        <p:nvSpPr>
          <p:cNvPr id="27" name="Text 25"/>
          <p:cNvSpPr txBox="1"/>
          <p:nvPr/>
        </p:nvSpPr>
        <p:spPr>
          <a:xfrm>
            <a:off x="7223760" y="1645920"/>
            <a:ext cx="4206240" cy="274320"/>
          </a:xfrm>
          <a:prstGeom prst="rect">
            <a:avLst/>
          </a:prstGeom>
          <a:noFill/>
          <a:ln/>
        </p:spPr>
        <p:txBody>
          <a:bodyPr wrap="square" lIns="0" tIns="0" rIns="0" bIns="0" rtlCol="0" anchor="ctr"/>
          <a:lstStyle/>
          <a:p>
            <a:pPr indent="0" marL="0">
              <a:buNone/>
            </a:pPr>
            <a:r>
              <a:rPr lang="en-US" sz="1250" b="1" dirty="0">
                <a:solidFill>
                  <a:srgbClr val="CADCFC"/>
                </a:solidFill>
                <a:latin typeface="Calibri" pitchFamily="34" charset="0"/>
                <a:ea typeface="Calibri" pitchFamily="34" charset="-122"/>
                <a:cs typeface="Calibri" pitchFamily="34" charset="-120"/>
              </a:rPr>
              <a:t>Result</a:t>
            </a:r>
            <a:endParaRPr lang="en-US" sz="1250" dirty="0"/>
          </a:p>
        </p:txBody>
      </p:sp>
      <p:sp>
        <p:nvSpPr>
          <p:cNvPr id="28" name="Text 26"/>
          <p:cNvSpPr txBox="1"/>
          <p:nvPr/>
        </p:nvSpPr>
        <p:spPr>
          <a:xfrm>
            <a:off x="7223760" y="2011680"/>
            <a:ext cx="201168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Recall@5</a:t>
            </a:r>
            <a:endParaRPr lang="en-US" sz="1100" dirty="0"/>
          </a:p>
        </p:txBody>
      </p:sp>
      <p:sp>
        <p:nvSpPr>
          <p:cNvPr id="29" name="Text 27"/>
          <p:cNvSpPr txBox="1"/>
          <p:nvPr/>
        </p:nvSpPr>
        <p:spPr>
          <a:xfrm>
            <a:off x="7223760" y="2286000"/>
            <a:ext cx="201168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0.75</a:t>
            </a:r>
            <a:endParaRPr lang="en-US" sz="3400" dirty="0"/>
          </a:p>
        </p:txBody>
      </p:sp>
      <p:sp>
        <p:nvSpPr>
          <p:cNvPr id="30" name="Text 28"/>
          <p:cNvSpPr txBox="1"/>
          <p:nvPr/>
        </p:nvSpPr>
        <p:spPr>
          <a:xfrm>
            <a:off x="9326880" y="2011680"/>
            <a:ext cx="219456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Recall@10</a:t>
            </a:r>
            <a:endParaRPr lang="en-US" sz="1100" dirty="0"/>
          </a:p>
        </p:txBody>
      </p:sp>
      <p:sp>
        <p:nvSpPr>
          <p:cNvPr id="31" name="Text 29"/>
          <p:cNvSpPr txBox="1"/>
          <p:nvPr/>
        </p:nvSpPr>
        <p:spPr>
          <a:xfrm>
            <a:off x="9326880" y="2286000"/>
            <a:ext cx="219456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1.0</a:t>
            </a:r>
            <a:endParaRPr lang="en-US" sz="3400" dirty="0"/>
          </a:p>
        </p:txBody>
      </p:sp>
      <p:sp>
        <p:nvSpPr>
          <p:cNvPr id="32" name="Shape 30"/>
          <p:cNvSpPr/>
          <p:nvPr/>
        </p:nvSpPr>
        <p:spPr>
          <a:xfrm>
            <a:off x="6949440" y="3611880"/>
            <a:ext cx="4800600" cy="2651760"/>
          </a:xfrm>
          <a:prstGeom prst="roundRect">
            <a:avLst>
              <a:gd name="adj" fmla="val 2759"/>
            </a:avLst>
          </a:prstGeom>
          <a:solidFill>
            <a:srgbClr val="E4F6E9"/>
          </a:solidFill>
          <a:ln/>
        </p:spPr>
      </p:sp>
      <p:sp>
        <p:nvSpPr>
          <p:cNvPr id="33" name="Text 31"/>
          <p:cNvSpPr txBox="1"/>
          <p:nvPr/>
        </p:nvSpPr>
        <p:spPr>
          <a:xfrm>
            <a:off x="7223760" y="3767328"/>
            <a:ext cx="4206240" cy="274320"/>
          </a:xfrm>
          <a:prstGeom prst="rect">
            <a:avLst/>
          </a:prstGeom>
          <a:noFill/>
          <a:ln/>
        </p:spPr>
        <p:txBody>
          <a:bodyPr wrap="square" lIns="0" tIns="0" rIns="0" bIns="0" rtlCol="0" anchor="ctr"/>
          <a:lstStyle/>
          <a:p>
            <a:pPr indent="0" marL="0">
              <a:buNone/>
            </a:pPr>
            <a:r>
              <a:rPr lang="en-US" sz="1300" b="1" dirty="0">
                <a:solidFill>
                  <a:srgbClr val="1E7A46"/>
                </a:solidFill>
                <a:latin typeface="Calibri" pitchFamily="34" charset="0"/>
                <a:ea typeface="Calibri" pitchFamily="34" charset="-122"/>
                <a:cs typeface="Calibri" pitchFamily="34" charset="-120"/>
              </a:rPr>
              <a:t>Interpretation</a:t>
            </a:r>
            <a:endParaRPr lang="en-US" sz="1300" dirty="0"/>
          </a:p>
        </p:txBody>
      </p:sp>
      <p:sp>
        <p:nvSpPr>
          <p:cNvPr id="34" name="Text 32"/>
          <p:cNvSpPr txBox="1"/>
          <p:nvPr/>
        </p:nvSpPr>
        <p:spPr>
          <a:xfrm>
            <a:off x="7223760" y="4114800"/>
            <a:ext cx="4251960" cy="2057400"/>
          </a:xfrm>
          <a:prstGeom prst="rect">
            <a:avLst/>
          </a:prstGeom>
          <a:noFill/>
          <a:ln/>
        </p:spPr>
        <p:txBody>
          <a:bodyPr wrap="square" lIns="0" tIns="0" rIns="0" bIns="0" rtlCol="0" anchor="ctr"/>
          <a:lstStyle/>
          <a:p>
            <a:pPr indent="0" marL="0">
              <a:lnSpc>
                <a:spcPct val="122000"/>
              </a:lnSpc>
              <a:buNone/>
            </a:pPr>
            <a:r>
              <a:rPr lang="en-US" sz="1130" dirty="0">
                <a:solidFill>
                  <a:srgbClr val="44506B"/>
                </a:solidFill>
                <a:latin typeface="Calibri" pitchFamily="34" charset="0"/>
                <a:ea typeface="Calibri" pitchFamily="34" charset="-122"/>
                <a:cs typeface="Calibri" pitchFamily="34" charset="-120"/>
              </a:rPr>
              <a:t>At K=5 we've found 75% of the relevant knowledge — good, but KB108 (the account-recovery doc) is still missing from what the LLM sees. By K=10 we've captured everything: full recall. Notice this came at zero extra cost to Recall itself — but Precision@10 dropped to 0.4 for the same reason (previous deck). That trade-off is the whole story of Precision vs. Recall.</a:t>
            </a:r>
            <a:endParaRPr lang="en-US" sz="113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B2A4A"/>
          </a:solidFill>
          <a:ln/>
        </p:spPr>
      </p:sp>
      <p:sp>
        <p:nvSpPr>
          <p:cNvPr id="3" name="Text 1"/>
          <p:cNvSpPr txBox="1"/>
          <p:nvPr/>
        </p:nvSpPr>
        <p:spPr>
          <a:xfrm>
            <a:off x="457200" y="146304"/>
            <a:ext cx="9144000" cy="274320"/>
          </a:xfrm>
          <a:prstGeom prst="rect">
            <a:avLst/>
          </a:prstGeom>
          <a:noFill/>
          <a:ln/>
        </p:spPr>
        <p:txBody>
          <a:bodyPr wrap="square" lIns="0" tIns="0" rIns="0" bIns="0" rtlCol="0" anchor="ctr"/>
          <a:lstStyle/>
          <a:p>
            <a:pPr indent="0" marL="0">
              <a:buNone/>
            </a:pPr>
            <a:r>
              <a:rPr lang="en-US" sz="1150" b="1" spc="150" kern="0" dirty="0">
                <a:solidFill>
                  <a:srgbClr val="CADCFC"/>
                </a:solidFill>
                <a:latin typeface="Calibri" pitchFamily="34" charset="0"/>
                <a:ea typeface="Calibri" pitchFamily="34" charset="-122"/>
                <a:cs typeface="Calibri" pitchFamily="34" charset="-120"/>
              </a:rPr>
              <a:t>5 · WHERE IT FAILS  —  FAILURE 1 OF 4</a:t>
            </a:r>
            <a:endParaRPr lang="en-US" sz="1150" dirty="0"/>
          </a:p>
        </p:txBody>
      </p:sp>
      <p:sp>
        <p:nvSpPr>
          <p:cNvPr id="4" name="Text 2"/>
          <p:cNvSpPr txBox="1"/>
          <p:nvPr/>
        </p:nvSpPr>
        <p:spPr>
          <a:xfrm>
            <a:off x="457200" y="384048"/>
            <a:ext cx="11247120" cy="594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 Perfect Recall Score Can Hide a Terrible Retriever</a:t>
            </a:r>
            <a:endParaRPr lang="en-US" sz="2600" dirty="0"/>
          </a:p>
        </p:txBody>
      </p:sp>
      <p:sp>
        <p:nvSpPr>
          <p:cNvPr id="5" name="Text 3"/>
          <p:cNvSpPr txBox="1"/>
          <p:nvPr/>
        </p:nvSpPr>
        <p:spPr>
          <a:xfrm>
            <a:off x="11430000" y="6519672"/>
            <a:ext cx="640080" cy="274320"/>
          </a:xfrm>
          <a:prstGeom prst="rect">
            <a:avLst/>
          </a:prstGeom>
          <a:noFill/>
          <a:ln/>
        </p:spPr>
        <p:txBody>
          <a:bodyPr wrap="square" lIns="0" tIns="0" rIns="0" bIns="0" rtlCol="0" anchor="ctr"/>
          <a:lstStyle/>
          <a:p>
            <a:pPr algn="r" indent="0" marL="0">
              <a:buNone/>
            </a:pPr>
            <a:r>
              <a:rPr lang="en-US" sz="900" dirty="0">
                <a:solidFill>
                  <a:srgbClr val="8592AC"/>
                </a:solidFill>
                <a:latin typeface="Calibri" pitchFamily="34" charset="0"/>
                <a:ea typeface="Calibri" pitchFamily="34" charset="-122"/>
                <a:cs typeface="Calibri" pitchFamily="34" charset="-120"/>
              </a:rPr>
              <a:t>6 / 13</a:t>
            </a:r>
            <a:endParaRPr lang="en-US" sz="900" dirty="0"/>
          </a:p>
        </p:txBody>
      </p:sp>
      <p:sp>
        <p:nvSpPr>
          <p:cNvPr id="6" name="Text 4"/>
          <p:cNvSpPr txBox="1"/>
          <p:nvPr/>
        </p:nvSpPr>
        <p:spPr>
          <a:xfrm>
            <a:off x="457200" y="1207008"/>
            <a:ext cx="11247120" cy="365760"/>
          </a:xfrm>
          <a:prstGeom prst="rect">
            <a:avLst/>
          </a:prstGeom>
          <a:noFill/>
          <a:ln/>
        </p:spPr>
        <p:txBody>
          <a:bodyPr wrap="square" lIns="0" tIns="0" rIns="0" bIns="0" rtlCol="0" anchor="ctr"/>
          <a:lstStyle/>
          <a:p>
            <a:pPr indent="0" marL="0">
              <a:lnSpc>
                <a:spcPct val="120000"/>
              </a:lnSpc>
              <a:buNone/>
            </a:pPr>
            <a:r>
              <a:rPr lang="en-US" sz="1250" dirty="0">
                <a:solidFill>
                  <a:srgbClr val="44506B"/>
                </a:solidFill>
                <a:latin typeface="Calibri" pitchFamily="34" charset="0"/>
                <a:ea typeface="Calibri" pitchFamily="34" charset="-122"/>
                <a:cs typeface="Calibri" pitchFamily="34" charset="-120"/>
              </a:rPr>
              <a:t>Query 1, Baseline system. We already know Recall@10 = 1.0. What happens if we keep padding K with junk?</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11247120" cy="914400"/>
        </p:xfrm>
        <a:graphic>
          <a:graphicData uri="http://schemas.openxmlformats.org/drawingml/2006/table">
            <a:tbl>
              <a:tblPr/>
              <a:tblGrid>
                <a:gridCol w="731520"/>
                <a:gridCol w="4937760"/>
                <a:gridCol w="1463040"/>
                <a:gridCol w="1965960"/>
                <a:gridCol w="2148840"/>
              </a:tblGrid>
              <a:tr h="685800">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K</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What's added beyond the last cutoff</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Relevant Found</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Recall@K</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Precision@K</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r>
              <a:tr h="685800">
                <a:tc>
                  <a:txBody>
                    <a:bodyPr/>
                    <a:lstStyle/>
                    <a:p>
                      <a:pPr algn="ctr" indent="0" marL="0">
                        <a:buNone/>
                      </a:pPr>
                      <a:r>
                        <a:rPr lang="en-US" sz="1300" b="1" dirty="0">
                          <a:solidFill>
                            <a:srgbClr val="1B2A4A"/>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indent="0" marL="0">
                        <a:buNone/>
                      </a:pPr>
                      <a:r>
                        <a:rPr lang="en-US" sz="1130" dirty="0">
                          <a:solidFill>
                            <a:srgbClr val="44506B"/>
                          </a:solidFill>
                          <a:latin typeface="Calibri" pitchFamily="34" charset="0"/>
                          <a:ea typeface="Calibri" pitchFamily="34" charset="-122"/>
                          <a:cs typeface="Calibri" pitchFamily="34" charset="-120"/>
                        </a:rPr>
                        <a:t>(baseline ranking, ranks 1–10)</a:t>
                      </a:r>
                      <a:endParaRPr lang="en-US" sz="113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250" dirty="0">
                          <a:solidFill>
                            <a:srgbClr val="44506B"/>
                          </a:solidFill>
                          <a:latin typeface="Calibri" pitchFamily="34" charset="0"/>
                          <a:ea typeface="Calibri" pitchFamily="34" charset="-122"/>
                          <a:cs typeface="Calibri" pitchFamily="34" charset="-120"/>
                        </a:rPr>
                        <a:t>4 / 4</a:t>
                      </a:r>
                      <a:endParaRPr lang="en-US" sz="12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500" b="1" dirty="0">
                          <a:solidFill>
                            <a:srgbClr val="1E7A46"/>
                          </a:solidFill>
                          <a:latin typeface="Calibri" pitchFamily="34" charset="0"/>
                          <a:ea typeface="Calibri" pitchFamily="34" charset="-122"/>
                          <a:cs typeface="Calibri" pitchFamily="34" charset="-120"/>
                        </a:rPr>
                        <a:t>1.00</a:t>
                      </a:r>
                      <a:endParaRPr lang="en-US" sz="150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500" b="1" dirty="0">
                          <a:solidFill>
                            <a:srgbClr val="B23A32"/>
                          </a:solidFill>
                          <a:latin typeface="Calibri" pitchFamily="34" charset="0"/>
                          <a:ea typeface="Calibri" pitchFamily="34" charset="-122"/>
                          <a:cs typeface="Calibri" pitchFamily="34" charset="-120"/>
                        </a:rPr>
                        <a:t>0.40</a:t>
                      </a:r>
                      <a:endParaRPr lang="en-US" sz="150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r h="685800">
                <a:tc>
                  <a:txBody>
                    <a:bodyPr/>
                    <a:lstStyle/>
                    <a:p>
                      <a:pPr algn="ctr" indent="0" marL="0">
                        <a:buNone/>
                      </a:pPr>
                      <a:r>
                        <a:rPr lang="en-US" sz="1300" b="1" dirty="0">
                          <a:solidFill>
                            <a:srgbClr val="1B2A4A"/>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indent="0" marL="0">
                        <a:buNone/>
                      </a:pPr>
                      <a:r>
                        <a:rPr lang="en-US" sz="1130" dirty="0">
                          <a:solidFill>
                            <a:srgbClr val="44506B"/>
                          </a:solidFill>
                          <a:latin typeface="Calibri" pitchFamily="34" charset="0"/>
                          <a:ea typeface="Calibri" pitchFamily="34" charset="-122"/>
                          <a:cs typeface="Calibri" pitchFamily="34" charset="-120"/>
                        </a:rPr>
                        <a:t>+ 10 more irrelevant filler docs (KB150–KB250, all grade 0)</a:t>
                      </a:r>
                      <a:endParaRPr lang="en-US" sz="113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250" dirty="0">
                          <a:solidFill>
                            <a:srgbClr val="44506B"/>
                          </a:solidFill>
                          <a:latin typeface="Calibri" pitchFamily="34" charset="0"/>
                          <a:ea typeface="Calibri" pitchFamily="34" charset="-122"/>
                          <a:cs typeface="Calibri" pitchFamily="34" charset="-120"/>
                        </a:rPr>
                        <a:t>4 / 4</a:t>
                      </a:r>
                      <a:endParaRPr lang="en-US" sz="12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500" b="1" dirty="0">
                          <a:solidFill>
                            <a:srgbClr val="1E7A46"/>
                          </a:solidFill>
                          <a:latin typeface="Calibri" pitchFamily="34" charset="0"/>
                          <a:ea typeface="Calibri" pitchFamily="34" charset="-122"/>
                          <a:cs typeface="Calibri" pitchFamily="34" charset="-120"/>
                        </a:rPr>
                        <a:t>1.00</a:t>
                      </a:r>
                      <a:endParaRPr lang="en-US" sz="150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500" b="1" dirty="0">
                          <a:solidFill>
                            <a:srgbClr val="B23A32"/>
                          </a:solidFill>
                          <a:latin typeface="Calibri" pitchFamily="34" charset="0"/>
                          <a:ea typeface="Calibri" pitchFamily="34" charset="-122"/>
                          <a:cs typeface="Calibri" pitchFamily="34" charset="-120"/>
                        </a:rPr>
                        <a:t>0.20</a:t>
                      </a:r>
                      <a:endParaRPr lang="en-US" sz="150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bl>
          </a:graphicData>
        </a:graphic>
      </p:graphicFrame>
      <p:sp>
        <p:nvSpPr>
          <p:cNvPr id="8" name="Shape 5"/>
          <p:cNvSpPr/>
          <p:nvPr/>
        </p:nvSpPr>
        <p:spPr>
          <a:xfrm>
            <a:off x="457200" y="3931920"/>
            <a:ext cx="11292840" cy="2468880"/>
          </a:xfrm>
          <a:prstGeom prst="roundRect">
            <a:avLst>
              <a:gd name="adj" fmla="val 2963"/>
            </a:avLst>
          </a:prstGeom>
          <a:solidFill>
            <a:srgbClr val="FDEAEA"/>
          </a:solidFill>
          <a:ln/>
        </p:spPr>
      </p:sp>
      <p:sp>
        <p:nvSpPr>
          <p:cNvPr id="9" name="Text 6"/>
          <p:cNvSpPr txBox="1"/>
          <p:nvPr/>
        </p:nvSpPr>
        <p:spPr>
          <a:xfrm>
            <a:off x="731520" y="4087368"/>
            <a:ext cx="10515600" cy="292608"/>
          </a:xfrm>
          <a:prstGeom prst="rect">
            <a:avLst/>
          </a:prstGeom>
          <a:noFill/>
          <a:ln/>
        </p:spPr>
        <p:txBody>
          <a:bodyPr wrap="square" lIns="0" tIns="0" rIns="0" bIns="0" rtlCol="0" anchor="ctr"/>
          <a:lstStyle/>
          <a:p>
            <a:pPr indent="0" marL="0">
              <a:buNone/>
            </a:pPr>
            <a:r>
              <a:rPr lang="en-US" sz="1400" b="1" dirty="0">
                <a:solidFill>
                  <a:srgbClr val="B23A32"/>
                </a:solidFill>
                <a:latin typeface="Calibri" pitchFamily="34" charset="0"/>
                <a:ea typeface="Calibri" pitchFamily="34" charset="-122"/>
                <a:cs typeface="Calibri" pitchFamily="34" charset="-120"/>
              </a:rPr>
              <a:t>The failure</a:t>
            </a:r>
            <a:endParaRPr lang="en-US" sz="1400" dirty="0"/>
          </a:p>
        </p:txBody>
      </p:sp>
      <p:sp>
        <p:nvSpPr>
          <p:cNvPr id="10" name="Text 7"/>
          <p:cNvSpPr txBox="1"/>
          <p:nvPr/>
        </p:nvSpPr>
        <p:spPr>
          <a:xfrm>
            <a:off x="731520" y="4453128"/>
            <a:ext cx="10744200" cy="1783080"/>
          </a:xfrm>
          <a:prstGeom prst="rect">
            <a:avLst/>
          </a:prstGeom>
          <a:noFill/>
          <a:ln/>
        </p:spPr>
        <p:txBody>
          <a:bodyPr wrap="square" lIns="0" tIns="0" rIns="0" bIns="0" rtlCol="0" anchor="ctr"/>
          <a:lstStyle/>
          <a:p>
            <a:pPr indent="0" marL="0">
              <a:lnSpc>
                <a:spcPct val="130000"/>
              </a:lnSpc>
              <a:buNone/>
            </a:pPr>
            <a:r>
              <a:rPr lang="en-US" sz="1300" dirty="0">
                <a:solidFill>
                  <a:srgbClr val="B23A32"/>
                </a:solidFill>
                <a:latin typeface="Calibri" pitchFamily="34" charset="0"/>
                <a:ea typeface="Calibri" pitchFamily="34" charset="-122"/>
                <a:cs typeface="Calibri" pitchFamily="34" charset="-120"/>
              </a:rPr>
              <a:t>Recall@K can never go down as K grows — the denominator |R| is fixed, so once you've found all the relevant docs, retrieving 10 more pieces of pure noise doesn't cost you anything on this metric. </a:t>
            </a:r>
            <a:pPr indent="0" marL="0">
              <a:lnSpc>
                <a:spcPct val="130000"/>
              </a:lnSpc>
              <a:buNone/>
            </a:pPr>
            <a:r>
              <a:rPr lang="en-US" sz="1300" b="1" dirty="0">
                <a:solidFill>
                  <a:srgbClr val="B23A32"/>
                </a:solidFill>
                <a:latin typeface="Calibri" pitchFamily="34" charset="0"/>
                <a:ea typeface="Calibri" pitchFamily="34" charset="-122"/>
                <a:cs typeface="Calibri" pitchFamily="34" charset="-120"/>
              </a:rPr>
              <a:t>Recall@20 stays perfect at 1.00 while Precision@20 collapses to 0.20.</a:t>
            </a:r>
            <a:pPr indent="0" marL="0">
              <a:lnSpc>
                <a:spcPct val="130000"/>
              </a:lnSpc>
              <a:buNone/>
            </a:pPr>
            <a:r>
              <a:rPr lang="en-US" sz="1300" dirty="0">
                <a:solidFill>
                  <a:srgbClr val="B23A32"/>
                </a:solidFill>
                <a:latin typeface="Calibri" pitchFamily="34" charset="0"/>
                <a:ea typeface="Calibri" pitchFamily="34" charset="-122"/>
                <a:cs typeface="Calibri" pitchFamily="34" charset="-120"/>
              </a:rPr>
              <a:t> A retriever that simply returns hundreds of documents for every query can trivially maximize recall while being useless in practice — which is exactly why Recall@K should never be reported alone.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B2A4A"/>
          </a:solidFill>
          <a:ln/>
        </p:spPr>
      </p:sp>
      <p:sp>
        <p:nvSpPr>
          <p:cNvPr id="3" name="Text 1"/>
          <p:cNvSpPr txBox="1"/>
          <p:nvPr/>
        </p:nvSpPr>
        <p:spPr>
          <a:xfrm>
            <a:off x="457200" y="146304"/>
            <a:ext cx="9144000" cy="274320"/>
          </a:xfrm>
          <a:prstGeom prst="rect">
            <a:avLst/>
          </a:prstGeom>
          <a:noFill/>
          <a:ln/>
        </p:spPr>
        <p:txBody>
          <a:bodyPr wrap="square" lIns="0" tIns="0" rIns="0" bIns="0" rtlCol="0" anchor="ctr"/>
          <a:lstStyle/>
          <a:p>
            <a:pPr indent="0" marL="0">
              <a:buNone/>
            </a:pPr>
            <a:r>
              <a:rPr lang="en-US" sz="1150" b="1" spc="150" kern="0" dirty="0">
                <a:solidFill>
                  <a:srgbClr val="CADCFC"/>
                </a:solidFill>
                <a:latin typeface="Calibri" pitchFamily="34" charset="0"/>
                <a:ea typeface="Calibri" pitchFamily="34" charset="-122"/>
                <a:cs typeface="Calibri" pitchFamily="34" charset="-120"/>
              </a:rPr>
              <a:t>5 · WHERE IT FAILS  —  FAILURE 2 OF 4</a:t>
            </a:r>
            <a:endParaRPr lang="en-US" sz="1150" dirty="0"/>
          </a:p>
        </p:txBody>
      </p:sp>
      <p:sp>
        <p:nvSpPr>
          <p:cNvPr id="4" name="Text 2"/>
          <p:cNvSpPr txBox="1"/>
          <p:nvPr/>
        </p:nvSpPr>
        <p:spPr>
          <a:xfrm>
            <a:off x="457200" y="384048"/>
            <a:ext cx="11247120" cy="594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Two Very Different Rankings Can Score Identically</a:t>
            </a:r>
            <a:endParaRPr lang="en-US" sz="2600" dirty="0"/>
          </a:p>
        </p:txBody>
      </p:sp>
      <p:sp>
        <p:nvSpPr>
          <p:cNvPr id="5" name="Text 3"/>
          <p:cNvSpPr txBox="1"/>
          <p:nvPr/>
        </p:nvSpPr>
        <p:spPr>
          <a:xfrm>
            <a:off x="11430000" y="6519672"/>
            <a:ext cx="640080" cy="274320"/>
          </a:xfrm>
          <a:prstGeom prst="rect">
            <a:avLst/>
          </a:prstGeom>
          <a:noFill/>
          <a:ln/>
        </p:spPr>
        <p:txBody>
          <a:bodyPr wrap="square" lIns="0" tIns="0" rIns="0" bIns="0" rtlCol="0" anchor="ctr"/>
          <a:lstStyle/>
          <a:p>
            <a:pPr algn="r" indent="0" marL="0">
              <a:buNone/>
            </a:pPr>
            <a:r>
              <a:rPr lang="en-US" sz="900" dirty="0">
                <a:solidFill>
                  <a:srgbClr val="8592AC"/>
                </a:solidFill>
                <a:latin typeface="Calibri" pitchFamily="34" charset="0"/>
                <a:ea typeface="Calibri" pitchFamily="34" charset="-122"/>
                <a:cs typeface="Calibri" pitchFamily="34" charset="-120"/>
              </a:rPr>
              <a:t>7 / 13</a:t>
            </a:r>
            <a:endParaRPr lang="en-US" sz="900" dirty="0"/>
          </a:p>
        </p:txBody>
      </p:sp>
      <p:sp>
        <p:nvSpPr>
          <p:cNvPr id="6" name="Text 4"/>
          <p:cNvSpPr txBox="1"/>
          <p:nvPr/>
        </p:nvSpPr>
        <p:spPr>
          <a:xfrm>
            <a:off x="457200" y="1207008"/>
            <a:ext cx="11247120" cy="292608"/>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Same 5 documents, same relevant set — just reordered. Query 1, K = 5.</a:t>
            </a:r>
            <a:endParaRPr lang="en-US" sz="1250" dirty="0"/>
          </a:p>
        </p:txBody>
      </p:sp>
      <p:sp>
        <p:nvSpPr>
          <p:cNvPr id="7" name="Shape 5"/>
          <p:cNvSpPr/>
          <p:nvPr/>
        </p:nvSpPr>
        <p:spPr>
          <a:xfrm>
            <a:off x="457200" y="1600200"/>
            <a:ext cx="5486400" cy="3246120"/>
          </a:xfrm>
          <a:prstGeom prst="roundRect">
            <a:avLst>
              <a:gd name="adj" fmla="val 2254"/>
            </a:avLst>
          </a:prstGeom>
          <a:solidFill>
            <a:srgbClr val="FFFFFF"/>
          </a:solidFill>
          <a:ln w="12700">
            <a:solidFill>
              <a:srgbClr val="D9E2F1"/>
            </a:solidFill>
            <a:prstDash val="solid"/>
          </a:ln>
          <a:effectLst>
            <a:outerShdw sx="100000" sy="100000" kx="0" ky="0" algn="bl" rotWithShape="0" blurRad="101600" dist="25400" dir="5400000">
              <a:srgbClr val="3A4A6B">
                <a:alpha val="12000"/>
              </a:srgbClr>
            </a:outerShdw>
          </a:effectLst>
        </p:spPr>
      </p:sp>
      <p:sp>
        <p:nvSpPr>
          <p:cNvPr id="8" name="Text 6"/>
          <p:cNvSpPr txBox="1"/>
          <p:nvPr/>
        </p:nvSpPr>
        <p:spPr>
          <a:xfrm>
            <a:off x="731520" y="1755648"/>
            <a:ext cx="4937760" cy="292608"/>
          </a:xfrm>
          <a:prstGeom prst="rect">
            <a:avLst/>
          </a:prstGeom>
          <a:noFill/>
          <a:ln/>
        </p:spPr>
        <p:txBody>
          <a:bodyPr wrap="square" lIns="0" tIns="0" rIns="0" bIns="0"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Ranking A  (the actual Baseline)</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2103120"/>
          <a:ext cx="4937760" cy="914400"/>
        </p:xfrm>
        <a:graphic>
          <a:graphicData uri="http://schemas.openxmlformats.org/drawingml/2006/table">
            <a:tbl>
              <a:tblPr/>
              <a:tblGrid>
                <a:gridCol w="914400"/>
                <a:gridCol w="2011680"/>
                <a:gridCol w="2011680"/>
              </a:tblGrid>
              <a:tr h="365760">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Rank</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Doc</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Relevant?</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r>
              <a:tr h="365760">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1</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1B2A4A"/>
                          </a:solidFill>
                          <a:latin typeface="Calibri" pitchFamily="34" charset="0"/>
                          <a:ea typeface="Calibri" pitchFamily="34" charset="-122"/>
                          <a:cs typeface="Calibri" pitchFamily="34" charset="-120"/>
                        </a:rPr>
                        <a:t>KB105</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1E7A46"/>
                          </a:solidFill>
                          <a:latin typeface="Calibri" pitchFamily="34" charset="0"/>
                          <a:ea typeface="Calibri" pitchFamily="34" charset="-122"/>
                          <a:cs typeface="Calibri" pitchFamily="34" charset="-120"/>
                        </a:rPr>
                        <a:t>✓ Yes</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r h="365760">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2</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1B2A4A"/>
                          </a:solidFill>
                          <a:latin typeface="Calibri" pitchFamily="34" charset="0"/>
                          <a:ea typeface="Calibri" pitchFamily="34" charset="-122"/>
                          <a:cs typeface="Calibri" pitchFamily="34" charset="-120"/>
                        </a:rPr>
                        <a:t>KB201</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B23A32"/>
                          </a:solidFill>
                          <a:latin typeface="Calibri" pitchFamily="34" charset="0"/>
                          <a:ea typeface="Calibri" pitchFamily="34" charset="-122"/>
                          <a:cs typeface="Calibri" pitchFamily="34" charset="-120"/>
                        </a:rPr>
                        <a:t>✗ No</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r h="365760">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3</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1B2A4A"/>
                          </a:solidFill>
                          <a:latin typeface="Calibri" pitchFamily="34" charset="0"/>
                          <a:ea typeface="Calibri" pitchFamily="34" charset="-122"/>
                          <a:cs typeface="Calibri" pitchFamily="34" charset="-120"/>
                        </a:rPr>
                        <a:t>KB103</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1E7A46"/>
                          </a:solidFill>
                          <a:latin typeface="Calibri" pitchFamily="34" charset="0"/>
                          <a:ea typeface="Calibri" pitchFamily="34" charset="-122"/>
                          <a:cs typeface="Calibri" pitchFamily="34" charset="-120"/>
                        </a:rPr>
                        <a:t>✓ Yes</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r h="365760">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4</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1B2A4A"/>
                          </a:solidFill>
                          <a:latin typeface="Calibri" pitchFamily="34" charset="0"/>
                          <a:ea typeface="Calibri" pitchFamily="34" charset="-122"/>
                          <a:cs typeface="Calibri" pitchFamily="34" charset="-120"/>
                        </a:rPr>
                        <a:t>KB110</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1E7A46"/>
                          </a:solidFill>
                          <a:latin typeface="Calibri" pitchFamily="34" charset="0"/>
                          <a:ea typeface="Calibri" pitchFamily="34" charset="-122"/>
                          <a:cs typeface="Calibri" pitchFamily="34" charset="-120"/>
                        </a:rPr>
                        <a:t>✓ Yes</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r h="365760">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5</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1B2A4A"/>
                          </a:solidFill>
                          <a:latin typeface="Calibri" pitchFamily="34" charset="0"/>
                          <a:ea typeface="Calibri" pitchFamily="34" charset="-122"/>
                          <a:cs typeface="Calibri" pitchFamily="34" charset="-120"/>
                        </a:rPr>
                        <a:t>KB302</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B23A32"/>
                          </a:solidFill>
                          <a:latin typeface="Calibri" pitchFamily="34" charset="0"/>
                          <a:ea typeface="Calibri" pitchFamily="34" charset="-122"/>
                          <a:cs typeface="Calibri" pitchFamily="34" charset="-120"/>
                        </a:rPr>
                        <a:t>✗ No</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bl>
          </a:graphicData>
        </a:graphic>
      </p:graphicFrame>
      <p:sp>
        <p:nvSpPr>
          <p:cNvPr id="10" name="Text 7"/>
          <p:cNvSpPr txBox="1"/>
          <p:nvPr/>
        </p:nvSpPr>
        <p:spPr>
          <a:xfrm>
            <a:off x="731520" y="4251960"/>
            <a:ext cx="4937760" cy="320040"/>
          </a:xfrm>
          <a:prstGeom prst="rect">
            <a:avLst/>
          </a:prstGeom>
          <a:noFill/>
          <a:ln/>
        </p:spPr>
        <p:txBody>
          <a:bodyPr wrap="square" lIns="0" tIns="0" rIns="0" bIns="0" rtlCol="0" anchor="ctr"/>
          <a:lstStyle/>
          <a:p>
            <a:pPr indent="0" marL="0">
              <a:buNone/>
            </a:pPr>
            <a:r>
              <a:rPr lang="en-US" sz="1100" i="1" dirty="0">
                <a:solidFill>
                  <a:srgbClr val="8592AC"/>
                </a:solidFill>
                <a:latin typeface="Calibri" pitchFamily="34" charset="0"/>
                <a:ea typeface="Calibri" pitchFamily="34" charset="-122"/>
                <a:cs typeface="Calibri" pitchFamily="34" charset="-120"/>
              </a:rPr>
              <a:t>First relevant doc at rank 1 — useful immediately.</a:t>
            </a:r>
            <a:endParaRPr lang="en-US" sz="1100" dirty="0"/>
          </a:p>
        </p:txBody>
      </p:sp>
      <p:sp>
        <p:nvSpPr>
          <p:cNvPr id="11" name="Shape 8"/>
          <p:cNvSpPr/>
          <p:nvPr/>
        </p:nvSpPr>
        <p:spPr>
          <a:xfrm>
            <a:off x="6263640" y="1600200"/>
            <a:ext cx="5440680" cy="3246120"/>
          </a:xfrm>
          <a:prstGeom prst="roundRect">
            <a:avLst>
              <a:gd name="adj" fmla="val 2254"/>
            </a:avLst>
          </a:prstGeom>
          <a:solidFill>
            <a:srgbClr val="FFFFFF"/>
          </a:solidFill>
          <a:ln w="12700">
            <a:solidFill>
              <a:srgbClr val="D9E2F1"/>
            </a:solidFill>
            <a:prstDash val="solid"/>
          </a:ln>
          <a:effectLst>
            <a:outerShdw sx="100000" sy="100000" kx="0" ky="0" algn="bl" rotWithShape="0" blurRad="101600" dist="25400" dir="5400000">
              <a:srgbClr val="3A4A6B">
                <a:alpha val="12000"/>
              </a:srgbClr>
            </a:outerShdw>
          </a:effectLst>
        </p:spPr>
      </p:sp>
      <p:sp>
        <p:nvSpPr>
          <p:cNvPr id="12" name="Text 9"/>
          <p:cNvSpPr txBox="1"/>
          <p:nvPr/>
        </p:nvSpPr>
        <p:spPr>
          <a:xfrm>
            <a:off x="6537960" y="1755648"/>
            <a:ext cx="4937760" cy="292608"/>
          </a:xfrm>
          <a:prstGeom prst="rect">
            <a:avLst/>
          </a:prstGeom>
          <a:noFill/>
          <a:ln/>
        </p:spPr>
        <p:txBody>
          <a:bodyPr wrap="square" lIns="0" tIns="0" rIns="0" bIns="0"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Ranking B  (hypothetical reorder)</a:t>
            </a:r>
            <a:endParaRPr lang="en-US" sz="135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537960" y="2103120"/>
          <a:ext cx="4937760" cy="914400"/>
        </p:xfrm>
        <a:graphic>
          <a:graphicData uri="http://schemas.openxmlformats.org/drawingml/2006/table">
            <a:tbl>
              <a:tblPr/>
              <a:tblGrid>
                <a:gridCol w="914400"/>
                <a:gridCol w="2011680"/>
                <a:gridCol w="2011680"/>
              </a:tblGrid>
              <a:tr h="365760">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Rank</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Doc</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Relevant?</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r>
              <a:tr h="365760">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1</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1B2A4A"/>
                          </a:solidFill>
                          <a:latin typeface="Calibri" pitchFamily="34" charset="0"/>
                          <a:ea typeface="Calibri" pitchFamily="34" charset="-122"/>
                          <a:cs typeface="Calibri" pitchFamily="34" charset="-120"/>
                        </a:rPr>
                        <a:t>KB201</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B23A32"/>
                          </a:solidFill>
                          <a:latin typeface="Calibri" pitchFamily="34" charset="0"/>
                          <a:ea typeface="Calibri" pitchFamily="34" charset="-122"/>
                          <a:cs typeface="Calibri" pitchFamily="34" charset="-120"/>
                        </a:rPr>
                        <a:t>✗ No</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r h="365760">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2</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1B2A4A"/>
                          </a:solidFill>
                          <a:latin typeface="Calibri" pitchFamily="34" charset="0"/>
                          <a:ea typeface="Calibri" pitchFamily="34" charset="-122"/>
                          <a:cs typeface="Calibri" pitchFamily="34" charset="-120"/>
                        </a:rPr>
                        <a:t>KB302</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B23A32"/>
                          </a:solidFill>
                          <a:latin typeface="Calibri" pitchFamily="34" charset="0"/>
                          <a:ea typeface="Calibri" pitchFamily="34" charset="-122"/>
                          <a:cs typeface="Calibri" pitchFamily="34" charset="-120"/>
                        </a:rPr>
                        <a:t>✗ No</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r h="365760">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3</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1B2A4A"/>
                          </a:solidFill>
                          <a:latin typeface="Calibri" pitchFamily="34" charset="0"/>
                          <a:ea typeface="Calibri" pitchFamily="34" charset="-122"/>
                          <a:cs typeface="Calibri" pitchFamily="34" charset="-120"/>
                        </a:rPr>
                        <a:t>KB105</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1E7A46"/>
                          </a:solidFill>
                          <a:latin typeface="Calibri" pitchFamily="34" charset="0"/>
                          <a:ea typeface="Calibri" pitchFamily="34" charset="-122"/>
                          <a:cs typeface="Calibri" pitchFamily="34" charset="-120"/>
                        </a:rPr>
                        <a:t>✓ Yes</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r h="365760">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4</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1B2A4A"/>
                          </a:solidFill>
                          <a:latin typeface="Calibri" pitchFamily="34" charset="0"/>
                          <a:ea typeface="Calibri" pitchFamily="34" charset="-122"/>
                          <a:cs typeface="Calibri" pitchFamily="34" charset="-120"/>
                        </a:rPr>
                        <a:t>KB103</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1E7A46"/>
                          </a:solidFill>
                          <a:latin typeface="Calibri" pitchFamily="34" charset="0"/>
                          <a:ea typeface="Calibri" pitchFamily="34" charset="-122"/>
                          <a:cs typeface="Calibri" pitchFamily="34" charset="-120"/>
                        </a:rPr>
                        <a:t>✓ Yes</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r h="365760">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5</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1B2A4A"/>
                          </a:solidFill>
                          <a:latin typeface="Calibri" pitchFamily="34" charset="0"/>
                          <a:ea typeface="Calibri" pitchFamily="34" charset="-122"/>
                          <a:cs typeface="Calibri" pitchFamily="34" charset="-120"/>
                        </a:rPr>
                        <a:t>KB110</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1E7A46"/>
                          </a:solidFill>
                          <a:latin typeface="Calibri" pitchFamily="34" charset="0"/>
                          <a:ea typeface="Calibri" pitchFamily="34" charset="-122"/>
                          <a:cs typeface="Calibri" pitchFamily="34" charset="-120"/>
                        </a:rPr>
                        <a:t>✓ Yes</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bl>
          </a:graphicData>
        </a:graphic>
      </p:graphicFrame>
      <p:sp>
        <p:nvSpPr>
          <p:cNvPr id="14" name="Text 10"/>
          <p:cNvSpPr txBox="1"/>
          <p:nvPr/>
        </p:nvSpPr>
        <p:spPr>
          <a:xfrm>
            <a:off x="6537960" y="4251960"/>
            <a:ext cx="4937760" cy="320040"/>
          </a:xfrm>
          <a:prstGeom prst="rect">
            <a:avLst/>
          </a:prstGeom>
          <a:noFill/>
          <a:ln/>
        </p:spPr>
        <p:txBody>
          <a:bodyPr wrap="square" lIns="0" tIns="0" rIns="0" bIns="0" rtlCol="0" anchor="ctr"/>
          <a:lstStyle/>
          <a:p>
            <a:pPr indent="0" marL="0">
              <a:buNone/>
            </a:pPr>
            <a:r>
              <a:rPr lang="en-US" sz="1100" i="1" dirty="0">
                <a:solidFill>
                  <a:srgbClr val="8592AC"/>
                </a:solidFill>
                <a:latin typeface="Calibri" pitchFamily="34" charset="0"/>
                <a:ea typeface="Calibri" pitchFamily="34" charset="-122"/>
                <a:cs typeface="Calibri" pitchFamily="34" charset="-120"/>
              </a:rPr>
              <a:t>First relevant doc at rank 3 — both irrelevant docs read first.</a:t>
            </a:r>
            <a:endParaRPr lang="en-US" sz="1100" dirty="0"/>
          </a:p>
        </p:txBody>
      </p:sp>
      <p:sp>
        <p:nvSpPr>
          <p:cNvPr id="15" name="Shape 11"/>
          <p:cNvSpPr/>
          <p:nvPr/>
        </p:nvSpPr>
        <p:spPr>
          <a:xfrm>
            <a:off x="457200" y="4983480"/>
            <a:ext cx="11292840" cy="1234440"/>
          </a:xfrm>
          <a:prstGeom prst="roundRect">
            <a:avLst>
              <a:gd name="adj" fmla="val 5926"/>
            </a:avLst>
          </a:prstGeom>
          <a:solidFill>
            <a:srgbClr val="FDEAEA"/>
          </a:solidFill>
          <a:ln/>
        </p:spPr>
      </p:sp>
      <p:sp>
        <p:nvSpPr>
          <p:cNvPr id="16" name="Text 12"/>
          <p:cNvSpPr txBox="1"/>
          <p:nvPr/>
        </p:nvSpPr>
        <p:spPr>
          <a:xfrm>
            <a:off x="731520" y="5138928"/>
            <a:ext cx="10744200" cy="1005840"/>
          </a:xfrm>
          <a:prstGeom prst="rect">
            <a:avLst/>
          </a:prstGeom>
          <a:noFill/>
          <a:ln/>
        </p:spPr>
        <p:txBody>
          <a:bodyPr wrap="square" lIns="0" tIns="0" rIns="0" bIns="0" rtlCol="0" anchor="ctr"/>
          <a:lstStyle/>
          <a:p>
            <a:pPr indent="0" marL="0">
              <a:lnSpc>
                <a:spcPct val="125000"/>
              </a:lnSpc>
              <a:buNone/>
            </a:pPr>
            <a:r>
              <a:rPr lang="en-US" sz="1220" b="1" dirty="0">
                <a:solidFill>
                  <a:srgbClr val="B23A32"/>
                </a:solidFill>
                <a:latin typeface="Calibri" pitchFamily="34" charset="0"/>
                <a:ea typeface="Calibri" pitchFamily="34" charset="-122"/>
                <a:cs typeface="Calibri" pitchFamily="34" charset="-120"/>
              </a:rPr>
              <a:t>Both score Recall@5 = 3 / 4 = 0.75 — identical.  </a:t>
            </a:r>
            <a:pPr indent="0" marL="0">
              <a:lnSpc>
                <a:spcPct val="125000"/>
              </a:lnSpc>
              <a:buNone/>
            </a:pPr>
            <a:r>
              <a:rPr lang="en-US" sz="1220" dirty="0">
                <a:solidFill>
                  <a:srgbClr val="B23A32"/>
                </a:solidFill>
                <a:latin typeface="Calibri" pitchFamily="34" charset="0"/>
                <a:ea typeface="Calibri" pitchFamily="34" charset="-122"/>
                <a:cs typeface="Calibri" pitchFamily="34" charset="-120"/>
              </a:rPr>
              <a:t>Just like Precision@K, Recall@K only counts </a:t>
            </a:r>
            <a:pPr indent="0" marL="0">
              <a:lnSpc>
                <a:spcPct val="125000"/>
              </a:lnSpc>
              <a:buNone/>
            </a:pPr>
            <a:r>
              <a:rPr lang="en-US" sz="1220" b="1" i="1" dirty="0">
                <a:solidFill>
                  <a:srgbClr val="B23A32"/>
                </a:solidFill>
                <a:latin typeface="Calibri" pitchFamily="34" charset="0"/>
                <a:ea typeface="Calibri" pitchFamily="34" charset="-122"/>
                <a:cs typeface="Calibri" pitchFamily="34" charset="-120"/>
              </a:rPr>
              <a:t>which</a:t>
            </a:r>
            <a:pPr indent="0" marL="0">
              <a:lnSpc>
                <a:spcPct val="125000"/>
              </a:lnSpc>
              <a:buNone/>
            </a:pPr>
            <a:r>
              <a:rPr lang="en-US" sz="1220" dirty="0">
                <a:solidFill>
                  <a:srgbClr val="B23A32"/>
                </a:solidFill>
                <a:latin typeface="Calibri" pitchFamily="34" charset="0"/>
                <a:ea typeface="Calibri" pitchFamily="34" charset="-122"/>
                <a:cs typeface="Calibri" pitchFamily="34" charset="-120"/>
              </a:rPr>
              <a:t> relevant documents made it into the top K — never </a:t>
            </a:r>
            <a:pPr indent="0" marL="0">
              <a:lnSpc>
                <a:spcPct val="125000"/>
              </a:lnSpc>
              <a:buNone/>
            </a:pPr>
            <a:r>
              <a:rPr lang="en-US" sz="1220" b="1" i="1" dirty="0">
                <a:solidFill>
                  <a:srgbClr val="B23A32"/>
                </a:solidFill>
                <a:latin typeface="Calibri" pitchFamily="34" charset="0"/>
                <a:ea typeface="Calibri" pitchFamily="34" charset="-122"/>
                <a:cs typeface="Calibri" pitchFamily="34" charset="-120"/>
              </a:rPr>
              <a:t>where</a:t>
            </a:r>
            <a:pPr indent="0" marL="0">
              <a:lnSpc>
                <a:spcPct val="125000"/>
              </a:lnSpc>
              <a:buNone/>
            </a:pPr>
            <a:r>
              <a:rPr lang="en-US" sz="1220" dirty="0">
                <a:solidFill>
                  <a:srgbClr val="B23A32"/>
                </a:solidFill>
                <a:latin typeface="Calibri" pitchFamily="34" charset="0"/>
                <a:ea typeface="Calibri" pitchFamily="34" charset="-122"/>
                <a:cs typeface="Calibri" pitchFamily="34" charset="-120"/>
              </a:rPr>
              <a:t> they landed. Ranking B forces a reader through two irrelevant docs before any payoff, yet Recall@K can't tell these two rankings apart. This is the same blind spot from the Precision@K deck — it isn't unique to one metric, it's inherent to any “set overlap” metric.</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B2A4A"/>
          </a:solidFill>
          <a:ln/>
        </p:spPr>
      </p:sp>
      <p:sp>
        <p:nvSpPr>
          <p:cNvPr id="3" name="Text 1"/>
          <p:cNvSpPr txBox="1"/>
          <p:nvPr/>
        </p:nvSpPr>
        <p:spPr>
          <a:xfrm>
            <a:off x="457200" y="146304"/>
            <a:ext cx="9144000" cy="274320"/>
          </a:xfrm>
          <a:prstGeom prst="rect">
            <a:avLst/>
          </a:prstGeom>
          <a:noFill/>
          <a:ln/>
        </p:spPr>
        <p:txBody>
          <a:bodyPr wrap="square" lIns="0" tIns="0" rIns="0" bIns="0" rtlCol="0" anchor="ctr"/>
          <a:lstStyle/>
          <a:p>
            <a:pPr indent="0" marL="0">
              <a:buNone/>
            </a:pPr>
            <a:r>
              <a:rPr lang="en-US" sz="1150" b="1" spc="150" kern="0" dirty="0">
                <a:solidFill>
                  <a:srgbClr val="CADCFC"/>
                </a:solidFill>
                <a:latin typeface="Calibri" pitchFamily="34" charset="0"/>
                <a:ea typeface="Calibri" pitchFamily="34" charset="-122"/>
                <a:cs typeface="Calibri" pitchFamily="34" charset="-120"/>
              </a:rPr>
              <a:t>5 · WHERE IT FAILS  —  FAILURE 3 OF 4</a:t>
            </a:r>
            <a:endParaRPr lang="en-US" sz="1150" dirty="0"/>
          </a:p>
        </p:txBody>
      </p:sp>
      <p:sp>
        <p:nvSpPr>
          <p:cNvPr id="4" name="Text 2"/>
          <p:cNvSpPr txBox="1"/>
          <p:nvPr/>
        </p:nvSpPr>
        <p:spPr>
          <a:xfrm>
            <a:off x="457200" y="384048"/>
            <a:ext cx="11247120" cy="594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 Bundle of Marginal Docs Scores the Same as a Bundle of Great Ones</a:t>
            </a:r>
            <a:endParaRPr lang="en-US" sz="2600" dirty="0"/>
          </a:p>
        </p:txBody>
      </p:sp>
      <p:sp>
        <p:nvSpPr>
          <p:cNvPr id="5" name="Text 3"/>
          <p:cNvSpPr txBox="1"/>
          <p:nvPr/>
        </p:nvSpPr>
        <p:spPr>
          <a:xfrm>
            <a:off x="11430000" y="6519672"/>
            <a:ext cx="640080" cy="274320"/>
          </a:xfrm>
          <a:prstGeom prst="rect">
            <a:avLst/>
          </a:prstGeom>
          <a:noFill/>
          <a:ln/>
        </p:spPr>
        <p:txBody>
          <a:bodyPr wrap="square" lIns="0" tIns="0" rIns="0" bIns="0" rtlCol="0" anchor="ctr"/>
          <a:lstStyle/>
          <a:p>
            <a:pPr algn="r" indent="0" marL="0">
              <a:buNone/>
            </a:pPr>
            <a:r>
              <a:rPr lang="en-US" sz="900" dirty="0">
                <a:solidFill>
                  <a:srgbClr val="8592AC"/>
                </a:solidFill>
                <a:latin typeface="Calibri" pitchFamily="34" charset="0"/>
                <a:ea typeface="Calibri" pitchFamily="34" charset="-122"/>
                <a:cs typeface="Calibri" pitchFamily="34" charset="-120"/>
              </a:rPr>
              <a:t>8 / 13</a:t>
            </a:r>
            <a:endParaRPr lang="en-US" sz="900" dirty="0"/>
          </a:p>
        </p:txBody>
      </p:sp>
      <p:sp>
        <p:nvSpPr>
          <p:cNvPr id="6" name="Text 4"/>
          <p:cNvSpPr txBox="1"/>
          <p:nvPr/>
        </p:nvSpPr>
        <p:spPr>
          <a:xfrm>
            <a:off x="457200" y="1207008"/>
            <a:ext cx="11247120" cy="292608"/>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Query 1, Baseline system, K = 10. Compare the actual found set to a hypothetical higher-quality one:</a:t>
            </a:r>
            <a:endParaRPr lang="en-US" sz="1250" dirty="0"/>
          </a:p>
        </p:txBody>
      </p:sp>
      <p:sp>
        <p:nvSpPr>
          <p:cNvPr id="7" name="Shape 5"/>
          <p:cNvSpPr/>
          <p:nvPr/>
        </p:nvSpPr>
        <p:spPr>
          <a:xfrm>
            <a:off x="457200" y="1600200"/>
            <a:ext cx="5486400" cy="3429000"/>
          </a:xfrm>
          <a:prstGeom prst="roundRect">
            <a:avLst>
              <a:gd name="adj" fmla="val 2133"/>
            </a:avLst>
          </a:prstGeom>
          <a:solidFill>
            <a:srgbClr val="FFFFFF"/>
          </a:solidFill>
          <a:ln w="12700">
            <a:solidFill>
              <a:srgbClr val="D9E2F1"/>
            </a:solidFill>
            <a:prstDash val="solid"/>
          </a:ln>
          <a:effectLst>
            <a:outerShdw sx="100000" sy="100000" kx="0" ky="0" algn="bl" rotWithShape="0" blurRad="101600" dist="25400" dir="5400000">
              <a:srgbClr val="3A4A6B">
                <a:alpha val="12000"/>
              </a:srgbClr>
            </a:outerShdw>
          </a:effectLst>
        </p:spPr>
      </p:sp>
      <p:sp>
        <p:nvSpPr>
          <p:cNvPr id="8" name="Text 6"/>
          <p:cNvSpPr txBox="1"/>
          <p:nvPr/>
        </p:nvSpPr>
        <p:spPr>
          <a:xfrm>
            <a:off x="731520" y="1755648"/>
            <a:ext cx="4937760" cy="292608"/>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Actual found set (all 4 relevant docs)</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1520" y="2103120"/>
          <a:ext cx="4937760" cy="914400"/>
        </p:xfrm>
        <a:graphic>
          <a:graphicData uri="http://schemas.openxmlformats.org/drawingml/2006/table">
            <a:tbl>
              <a:tblPr/>
              <a:tblGrid>
                <a:gridCol w="2468880"/>
                <a:gridCol w="2468880"/>
              </a:tblGrid>
              <a:tr h="384048">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Doc</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Grade</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r>
              <a:tr h="384048">
                <a:tc>
                  <a:txBody>
                    <a:bodyPr/>
                    <a:lstStyle/>
                    <a:p>
                      <a:pPr algn="ctr" indent="0" marL="0">
                        <a:buNone/>
                      </a:pPr>
                      <a:r>
                        <a:rPr lang="en-US" sz="1150" b="1" dirty="0">
                          <a:solidFill>
                            <a:srgbClr val="1B2A4A"/>
                          </a:solidFill>
                          <a:latin typeface="Calibri" pitchFamily="34" charset="0"/>
                          <a:ea typeface="Calibri" pitchFamily="34" charset="-122"/>
                          <a:cs typeface="Calibri" pitchFamily="34" charset="-120"/>
                        </a:rPr>
                        <a:t>KB105</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200" dirty="0">
                          <a:solidFill>
                            <a:srgbClr val="44506B"/>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r h="384048">
                <a:tc>
                  <a:txBody>
                    <a:bodyPr/>
                    <a:lstStyle/>
                    <a:p>
                      <a:pPr algn="ctr" indent="0" marL="0">
                        <a:buNone/>
                      </a:pPr>
                      <a:r>
                        <a:rPr lang="en-US" sz="1150" b="1" dirty="0">
                          <a:solidFill>
                            <a:srgbClr val="1B2A4A"/>
                          </a:solidFill>
                          <a:latin typeface="Calibri" pitchFamily="34" charset="0"/>
                          <a:ea typeface="Calibri" pitchFamily="34" charset="-122"/>
                          <a:cs typeface="Calibri" pitchFamily="34" charset="-120"/>
                        </a:rPr>
                        <a:t>KB103</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200" dirty="0">
                          <a:solidFill>
                            <a:srgbClr val="44506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r h="384048">
                <a:tc>
                  <a:txBody>
                    <a:bodyPr/>
                    <a:lstStyle/>
                    <a:p>
                      <a:pPr algn="ctr" indent="0" marL="0">
                        <a:buNone/>
                      </a:pPr>
                      <a:r>
                        <a:rPr lang="en-US" sz="1150" b="1" dirty="0">
                          <a:solidFill>
                            <a:srgbClr val="1B2A4A"/>
                          </a:solidFill>
                          <a:latin typeface="Calibri" pitchFamily="34" charset="0"/>
                          <a:ea typeface="Calibri" pitchFamily="34" charset="-122"/>
                          <a:cs typeface="Calibri" pitchFamily="34" charset="-120"/>
                        </a:rPr>
                        <a:t>KB110</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200" dirty="0">
                          <a:solidFill>
                            <a:srgbClr val="44506B"/>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r h="384048">
                <a:tc>
                  <a:txBody>
                    <a:bodyPr/>
                    <a:lstStyle/>
                    <a:p>
                      <a:pPr algn="ctr" indent="0" marL="0">
                        <a:buNone/>
                      </a:pPr>
                      <a:r>
                        <a:rPr lang="en-US" sz="1150" b="1" dirty="0">
                          <a:solidFill>
                            <a:srgbClr val="1B2A4A"/>
                          </a:solidFill>
                          <a:latin typeface="Calibri" pitchFamily="34" charset="0"/>
                          <a:ea typeface="Calibri" pitchFamily="34" charset="-122"/>
                          <a:cs typeface="Calibri" pitchFamily="34" charset="-120"/>
                        </a:rPr>
                        <a:t>KB108</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200" dirty="0">
                          <a:solidFill>
                            <a:srgbClr val="44506B"/>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bl>
          </a:graphicData>
        </a:graphic>
      </p:graphicFrame>
      <p:sp>
        <p:nvSpPr>
          <p:cNvPr id="10" name="Text 7"/>
          <p:cNvSpPr txBox="1"/>
          <p:nvPr/>
        </p:nvSpPr>
        <p:spPr>
          <a:xfrm>
            <a:off x="731520" y="4069080"/>
            <a:ext cx="4937760" cy="32004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Average grade: (2+3+1+2) / 4 = 2.0</a:t>
            </a:r>
            <a:endParaRPr lang="en-US" sz="1200" dirty="0"/>
          </a:p>
        </p:txBody>
      </p:sp>
      <p:sp>
        <p:nvSpPr>
          <p:cNvPr id="11" name="Text 8"/>
          <p:cNvSpPr txBox="1"/>
          <p:nvPr/>
        </p:nvSpPr>
        <p:spPr>
          <a:xfrm>
            <a:off x="731520" y="4389120"/>
            <a:ext cx="4937760" cy="548640"/>
          </a:xfrm>
          <a:prstGeom prst="rect">
            <a:avLst/>
          </a:prstGeom>
          <a:noFill/>
          <a:ln/>
        </p:spPr>
        <p:txBody>
          <a:bodyPr wrap="square" lIns="0" tIns="0" rIns="0" bIns="0" rtlCol="0" anchor="ctr"/>
          <a:lstStyle/>
          <a:p>
            <a:pPr indent="0" marL="0">
              <a:lnSpc>
                <a:spcPct val="120000"/>
              </a:lnSpc>
              <a:buNone/>
            </a:pPr>
            <a:r>
              <a:rPr lang="en-US" sz="1100" i="1" dirty="0">
                <a:solidFill>
                  <a:srgbClr val="8592AC"/>
                </a:solidFill>
                <a:latin typeface="Calibri" pitchFamily="34" charset="0"/>
                <a:ea typeface="Calibri" pitchFamily="34" charset="-122"/>
                <a:cs typeface="Calibri" pitchFamily="34" charset="-120"/>
              </a:rPr>
              <a:t>KB110 is only marginally relevant (grade 1) — yet it counts as a full “hit.”</a:t>
            </a:r>
            <a:endParaRPr lang="en-US" sz="1100" dirty="0"/>
          </a:p>
        </p:txBody>
      </p:sp>
      <p:sp>
        <p:nvSpPr>
          <p:cNvPr id="12" name="Shape 9"/>
          <p:cNvSpPr/>
          <p:nvPr/>
        </p:nvSpPr>
        <p:spPr>
          <a:xfrm>
            <a:off x="6263640" y="1600200"/>
            <a:ext cx="5440680" cy="3429000"/>
          </a:xfrm>
          <a:prstGeom prst="roundRect">
            <a:avLst>
              <a:gd name="adj" fmla="val 2133"/>
            </a:avLst>
          </a:prstGeom>
          <a:solidFill>
            <a:srgbClr val="FFFFFF"/>
          </a:solidFill>
          <a:ln w="12700">
            <a:solidFill>
              <a:srgbClr val="D9E2F1"/>
            </a:solidFill>
            <a:prstDash val="solid"/>
          </a:ln>
          <a:effectLst>
            <a:outerShdw sx="100000" sy="100000" kx="0" ky="0" algn="bl" rotWithShape="0" blurRad="101600" dist="25400" dir="5400000">
              <a:srgbClr val="3A4A6B">
                <a:alpha val="12000"/>
              </a:srgbClr>
            </a:outerShdw>
          </a:effectLst>
        </p:spPr>
      </p:sp>
      <p:sp>
        <p:nvSpPr>
          <p:cNvPr id="13" name="Text 10"/>
          <p:cNvSpPr txBox="1"/>
          <p:nvPr/>
        </p:nvSpPr>
        <p:spPr>
          <a:xfrm>
            <a:off x="6537960" y="1755648"/>
            <a:ext cx="4937760" cy="292608"/>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Hypothetical: swap KB110 for a better doc</a:t>
            </a:r>
            <a:endParaRPr lang="en-US" sz="13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537960" y="2103120"/>
          <a:ext cx="4937760" cy="914400"/>
        </p:xfrm>
        <a:graphic>
          <a:graphicData uri="http://schemas.openxmlformats.org/drawingml/2006/table">
            <a:tbl>
              <a:tblPr/>
              <a:tblGrid>
                <a:gridCol w="2468880"/>
                <a:gridCol w="2468880"/>
              </a:tblGrid>
              <a:tr h="384048">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Doc</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Grade</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r>
              <a:tr h="384048">
                <a:tc>
                  <a:txBody>
                    <a:bodyPr/>
                    <a:lstStyle/>
                    <a:p>
                      <a:pPr algn="ctr" indent="0" marL="0">
                        <a:buNone/>
                      </a:pPr>
                      <a:r>
                        <a:rPr lang="en-US" sz="1150" b="1" dirty="0">
                          <a:solidFill>
                            <a:srgbClr val="1B2A4A"/>
                          </a:solidFill>
                          <a:latin typeface="Calibri" pitchFamily="34" charset="0"/>
                          <a:ea typeface="Calibri" pitchFamily="34" charset="-122"/>
                          <a:cs typeface="Calibri" pitchFamily="34" charset="-120"/>
                        </a:rPr>
                        <a:t>KB105</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200" dirty="0">
                          <a:solidFill>
                            <a:srgbClr val="44506B"/>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r h="384048">
                <a:tc>
                  <a:txBody>
                    <a:bodyPr/>
                    <a:lstStyle/>
                    <a:p>
                      <a:pPr algn="ctr" indent="0" marL="0">
                        <a:buNone/>
                      </a:pPr>
                      <a:r>
                        <a:rPr lang="en-US" sz="1150" b="1" dirty="0">
                          <a:solidFill>
                            <a:srgbClr val="1B2A4A"/>
                          </a:solidFill>
                          <a:latin typeface="Calibri" pitchFamily="34" charset="0"/>
                          <a:ea typeface="Calibri" pitchFamily="34" charset="-122"/>
                          <a:cs typeface="Calibri" pitchFamily="34" charset="-120"/>
                        </a:rPr>
                        <a:t>KB103</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200" dirty="0">
                          <a:solidFill>
                            <a:srgbClr val="44506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r h="384048">
                <a:tc>
                  <a:txBody>
                    <a:bodyPr/>
                    <a:lstStyle/>
                    <a:p>
                      <a:pPr algn="ctr" indent="0" marL="0">
                        <a:buNone/>
                      </a:pPr>
                      <a:r>
                        <a:rPr lang="en-US" sz="1150" b="1" dirty="0">
                          <a:solidFill>
                            <a:srgbClr val="1B2A4A"/>
                          </a:solidFill>
                          <a:latin typeface="Calibri" pitchFamily="34" charset="0"/>
                          <a:ea typeface="Calibri" pitchFamily="34" charset="-122"/>
                          <a:cs typeface="Calibri" pitchFamily="34" charset="-120"/>
                        </a:rPr>
                        <a:t>KB999*</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200" dirty="0">
                          <a:solidFill>
                            <a:srgbClr val="44506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r h="384048">
                <a:tc>
                  <a:txBody>
                    <a:bodyPr/>
                    <a:lstStyle/>
                    <a:p>
                      <a:pPr algn="ctr" indent="0" marL="0">
                        <a:buNone/>
                      </a:pPr>
                      <a:r>
                        <a:rPr lang="en-US" sz="1150" b="1" dirty="0">
                          <a:solidFill>
                            <a:srgbClr val="1B2A4A"/>
                          </a:solidFill>
                          <a:latin typeface="Calibri" pitchFamily="34" charset="0"/>
                          <a:ea typeface="Calibri" pitchFamily="34" charset="-122"/>
                          <a:cs typeface="Calibri" pitchFamily="34" charset="-120"/>
                        </a:rPr>
                        <a:t>KB108</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200" dirty="0">
                          <a:solidFill>
                            <a:srgbClr val="44506B"/>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bl>
          </a:graphicData>
        </a:graphic>
      </p:graphicFrame>
      <p:sp>
        <p:nvSpPr>
          <p:cNvPr id="15" name="Text 11"/>
          <p:cNvSpPr txBox="1"/>
          <p:nvPr/>
        </p:nvSpPr>
        <p:spPr>
          <a:xfrm>
            <a:off x="6537960" y="4069080"/>
            <a:ext cx="4937760" cy="32004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Average grade: (2+3+3+2) / 4 = 2.5</a:t>
            </a:r>
            <a:endParaRPr lang="en-US" sz="1200" dirty="0"/>
          </a:p>
        </p:txBody>
      </p:sp>
      <p:sp>
        <p:nvSpPr>
          <p:cNvPr id="16" name="Text 12"/>
          <p:cNvSpPr txBox="1"/>
          <p:nvPr/>
        </p:nvSpPr>
        <p:spPr>
          <a:xfrm>
            <a:off x="6537960" y="4389120"/>
            <a:ext cx="4937760" cy="548640"/>
          </a:xfrm>
          <a:prstGeom prst="rect">
            <a:avLst/>
          </a:prstGeom>
          <a:noFill/>
          <a:ln/>
        </p:spPr>
        <p:txBody>
          <a:bodyPr wrap="square" lIns="0" tIns="0" rIns="0" bIns="0" rtlCol="0" anchor="ctr"/>
          <a:lstStyle/>
          <a:p>
            <a:pPr indent="0" marL="0">
              <a:lnSpc>
                <a:spcPct val="120000"/>
              </a:lnSpc>
              <a:buNone/>
            </a:pPr>
            <a:r>
              <a:rPr lang="en-US" sz="1100" i="1" dirty="0">
                <a:solidFill>
                  <a:srgbClr val="8592AC"/>
                </a:solidFill>
                <a:latin typeface="Calibri" pitchFamily="34" charset="0"/>
                <a:ea typeface="Calibri" pitchFamily="34" charset="-122"/>
                <a:cs typeface="Calibri" pitchFamily="34" charset="-120"/>
              </a:rPr>
              <a:t>*KB999 = a hypothetical grade-3 doc replacing marginal KB110.</a:t>
            </a:r>
            <a:endParaRPr lang="en-US" sz="1100" dirty="0"/>
          </a:p>
        </p:txBody>
      </p:sp>
      <p:sp>
        <p:nvSpPr>
          <p:cNvPr id="17" name="Shape 13"/>
          <p:cNvSpPr/>
          <p:nvPr/>
        </p:nvSpPr>
        <p:spPr>
          <a:xfrm>
            <a:off x="457200" y="5166360"/>
            <a:ext cx="11292840" cy="1143000"/>
          </a:xfrm>
          <a:prstGeom prst="roundRect">
            <a:avLst>
              <a:gd name="adj" fmla="val 6400"/>
            </a:avLst>
          </a:prstGeom>
          <a:solidFill>
            <a:srgbClr val="FDEAEA"/>
          </a:solidFill>
          <a:ln/>
        </p:spPr>
      </p:sp>
      <p:sp>
        <p:nvSpPr>
          <p:cNvPr id="18" name="Text 14"/>
          <p:cNvSpPr txBox="1"/>
          <p:nvPr/>
        </p:nvSpPr>
        <p:spPr>
          <a:xfrm>
            <a:off x="731520" y="5321808"/>
            <a:ext cx="10744200" cy="868680"/>
          </a:xfrm>
          <a:prstGeom prst="rect">
            <a:avLst/>
          </a:prstGeom>
          <a:noFill/>
          <a:ln/>
        </p:spPr>
        <p:txBody>
          <a:bodyPr wrap="square" lIns="0" tIns="0" rIns="0" bIns="0" rtlCol="0" anchor="ctr"/>
          <a:lstStyle/>
          <a:p>
            <a:pPr indent="0" marL="0">
              <a:lnSpc>
                <a:spcPct val="125000"/>
              </a:lnSpc>
              <a:buNone/>
            </a:pPr>
            <a:r>
              <a:rPr lang="en-US" sz="1230" b="1" dirty="0">
                <a:solidFill>
                  <a:srgbClr val="B23A32"/>
                </a:solidFill>
                <a:latin typeface="Calibri" pitchFamily="34" charset="0"/>
                <a:ea typeface="Calibri" pitchFamily="34" charset="-122"/>
                <a:cs typeface="Calibri" pitchFamily="34" charset="-120"/>
              </a:rPr>
              <a:t>Both score Recall@10 = 4 / 4 = 1.00 — identical.  </a:t>
            </a:r>
            <a:pPr indent="0" marL="0">
              <a:lnSpc>
                <a:spcPct val="125000"/>
              </a:lnSpc>
              <a:buNone/>
            </a:pPr>
            <a:r>
              <a:rPr lang="en-US" sz="1230" dirty="0">
                <a:solidFill>
                  <a:srgbClr val="B23A32"/>
                </a:solidFill>
                <a:latin typeface="Calibri" pitchFamily="34" charset="0"/>
                <a:ea typeface="Calibri" pitchFamily="34" charset="-122"/>
                <a:cs typeface="Calibri" pitchFamily="34" charset="-120"/>
              </a:rPr>
              <a:t>The right-hand bundle is objectively higher quality (average grade 2.5 vs. 2.0), but Recall@K only counts “found vs. not found.” It can't reward finding better matches, only more of them. NDCG@K (its own deck) is the metric built to capture this.</a:t>
            </a:r>
            <a:endParaRPr lang="en-US" sz="123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B2A4A"/>
          </a:solidFill>
          <a:ln/>
        </p:spPr>
      </p:sp>
      <p:sp>
        <p:nvSpPr>
          <p:cNvPr id="3" name="Text 1"/>
          <p:cNvSpPr txBox="1"/>
          <p:nvPr/>
        </p:nvSpPr>
        <p:spPr>
          <a:xfrm>
            <a:off x="457200" y="146304"/>
            <a:ext cx="9144000" cy="274320"/>
          </a:xfrm>
          <a:prstGeom prst="rect">
            <a:avLst/>
          </a:prstGeom>
          <a:noFill/>
          <a:ln/>
        </p:spPr>
        <p:txBody>
          <a:bodyPr wrap="square" lIns="0" tIns="0" rIns="0" bIns="0" rtlCol="0" anchor="ctr"/>
          <a:lstStyle/>
          <a:p>
            <a:pPr indent="0" marL="0">
              <a:buNone/>
            </a:pPr>
            <a:r>
              <a:rPr lang="en-US" sz="1150" b="1" spc="150" kern="0" dirty="0">
                <a:solidFill>
                  <a:srgbClr val="CADCFC"/>
                </a:solidFill>
                <a:latin typeface="Calibri" pitchFamily="34" charset="0"/>
                <a:ea typeface="Calibri" pitchFamily="34" charset="-122"/>
                <a:cs typeface="Calibri" pitchFamily="34" charset="-120"/>
              </a:rPr>
              <a:t>5 · WHERE IT FAILS  —  FAILURE 4 OF 4</a:t>
            </a:r>
            <a:endParaRPr lang="en-US" sz="1150" dirty="0"/>
          </a:p>
        </p:txBody>
      </p:sp>
      <p:sp>
        <p:nvSpPr>
          <p:cNvPr id="4" name="Text 2"/>
          <p:cNvSpPr txBox="1"/>
          <p:nvPr/>
        </p:nvSpPr>
        <p:spPr>
          <a:xfrm>
            <a:off x="457200" y="384048"/>
            <a:ext cx="11247120" cy="594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Recall Is Only As Trustworthy As Your Ground Truth</a:t>
            </a:r>
            <a:endParaRPr lang="en-US" sz="2600" dirty="0"/>
          </a:p>
        </p:txBody>
      </p:sp>
      <p:sp>
        <p:nvSpPr>
          <p:cNvPr id="5" name="Text 3"/>
          <p:cNvSpPr txBox="1"/>
          <p:nvPr/>
        </p:nvSpPr>
        <p:spPr>
          <a:xfrm>
            <a:off x="11430000" y="6519672"/>
            <a:ext cx="640080" cy="274320"/>
          </a:xfrm>
          <a:prstGeom prst="rect">
            <a:avLst/>
          </a:prstGeom>
          <a:noFill/>
          <a:ln/>
        </p:spPr>
        <p:txBody>
          <a:bodyPr wrap="square" lIns="0" tIns="0" rIns="0" bIns="0" rtlCol="0" anchor="ctr"/>
          <a:lstStyle/>
          <a:p>
            <a:pPr algn="r" indent="0" marL="0">
              <a:buNone/>
            </a:pPr>
            <a:r>
              <a:rPr lang="en-US" sz="900" dirty="0">
                <a:solidFill>
                  <a:srgbClr val="8592AC"/>
                </a:solidFill>
                <a:latin typeface="Calibri" pitchFamily="34" charset="0"/>
                <a:ea typeface="Calibri" pitchFamily="34" charset="-122"/>
                <a:cs typeface="Calibri" pitchFamily="34" charset="-120"/>
              </a:rPr>
              <a:t>9 / 13</a:t>
            </a:r>
            <a:endParaRPr lang="en-US" sz="900" dirty="0"/>
          </a:p>
        </p:txBody>
      </p:sp>
      <p:sp>
        <p:nvSpPr>
          <p:cNvPr id="6" name="Shape 4"/>
          <p:cNvSpPr/>
          <p:nvPr/>
        </p:nvSpPr>
        <p:spPr>
          <a:xfrm>
            <a:off x="457200" y="1325880"/>
            <a:ext cx="11292840" cy="1417320"/>
          </a:xfrm>
          <a:prstGeom prst="roundRect">
            <a:avLst>
              <a:gd name="adj" fmla="val 5161"/>
            </a:avLst>
          </a:prstGeom>
          <a:solidFill>
            <a:srgbClr val="E7EFFC"/>
          </a:solidFill>
          <a:ln/>
        </p:spPr>
      </p:sp>
      <p:sp>
        <p:nvSpPr>
          <p:cNvPr id="7" name="Text 5"/>
          <p:cNvSpPr txBox="1"/>
          <p:nvPr/>
        </p:nvSpPr>
        <p:spPr>
          <a:xfrm>
            <a:off x="731520" y="1463040"/>
            <a:ext cx="10515600" cy="27432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The setup</a:t>
            </a:r>
            <a:endParaRPr lang="en-US" sz="1300" dirty="0"/>
          </a:p>
        </p:txBody>
      </p:sp>
      <p:sp>
        <p:nvSpPr>
          <p:cNvPr id="8" name="Text 6"/>
          <p:cNvSpPr txBox="1"/>
          <p:nvPr/>
        </p:nvSpPr>
        <p:spPr>
          <a:xfrm>
            <a:off x="731520" y="1755648"/>
            <a:ext cx="10744200" cy="868680"/>
          </a:xfrm>
          <a:prstGeom prst="rect">
            <a:avLst/>
          </a:prstGeom>
          <a:noFill/>
          <a:ln/>
        </p:spPr>
        <p:txBody>
          <a:bodyPr wrap="square" lIns="0" tIns="0" rIns="0" bIns="0" rtlCol="0" anchor="ctr"/>
          <a:lstStyle/>
          <a:p>
            <a:pPr indent="0" marL="0">
              <a:lnSpc>
                <a:spcPct val="125000"/>
              </a:lnSpc>
              <a:buNone/>
            </a:pPr>
            <a:r>
              <a:rPr lang="en-US" sz="1230" dirty="0">
                <a:solidFill>
                  <a:srgbClr val="1B2A4A"/>
                </a:solidFill>
                <a:latin typeface="Calibri" pitchFamily="34" charset="0"/>
                <a:ea typeface="Calibri" pitchFamily="34" charset="-122"/>
                <a:cs typeface="Calibri" pitchFamily="34" charset="-120"/>
              </a:rPr>
              <a:t>Suppose our annotators missed a document when building ground truth for Query 1: </a:t>
            </a:r>
            <a:pPr indent="0" marL="0">
              <a:lnSpc>
                <a:spcPct val="125000"/>
              </a:lnSpc>
              <a:buNone/>
            </a:pPr>
            <a:r>
              <a:rPr lang="en-US" sz="1230" b="1" i="1" dirty="0">
                <a:solidFill>
                  <a:srgbClr val="1B2A4A"/>
                </a:solidFill>
                <a:latin typeface="Calibri" pitchFamily="34" charset="0"/>
                <a:ea typeface="Calibri" pitchFamily="34" charset="-122"/>
                <a:cs typeface="Calibri" pitchFamily="34" charset="-120"/>
              </a:rPr>
              <a:t>KB115 — “Recovering 2FA Access After Device Loss”</a:t>
            </a:r>
            <a:pPr indent="0" marL="0">
              <a:lnSpc>
                <a:spcPct val="125000"/>
              </a:lnSpc>
              <a:buNone/>
            </a:pPr>
            <a:r>
              <a:rPr lang="en-US" sz="1230" dirty="0">
                <a:solidFill>
                  <a:srgbClr val="1B2A4A"/>
                </a:solidFill>
                <a:latin typeface="Calibri" pitchFamily="34" charset="0"/>
                <a:ea typeface="Calibri" pitchFamily="34" charset="-122"/>
                <a:cs typeface="Calibri" pitchFamily="34" charset="-120"/>
              </a:rPr>
              <a:t> — which is genuinely relevant (grade 2) but was never added to our |R| = 4 list. It's a real gap: at 200+ articles, no annotation pass is perfectly exhaustive.</a:t>
            </a:r>
            <a:endParaRPr lang="en-US" sz="123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2926080"/>
          <a:ext cx="11247120" cy="914400"/>
        </p:xfrm>
        <a:graphic>
          <a:graphicData uri="http://schemas.openxmlformats.org/drawingml/2006/table">
            <a:tbl>
              <a:tblPr/>
              <a:tblGrid>
                <a:gridCol w="3657600"/>
                <a:gridCol w="3200400"/>
                <a:gridCol w="2468880"/>
                <a:gridCol w="1920240"/>
              </a:tblGrid>
              <a:tr h="548640">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Ground truth used</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Relevant found @10</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Recall@10</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r>
              <a:tr h="548640">
                <a:tc>
                  <a:txBody>
                    <a:bodyPr/>
                    <a:lstStyle/>
                    <a:p>
                      <a:pPr indent="0" marL="0">
                        <a:buNone/>
                      </a:pPr>
                      <a:r>
                        <a:rPr lang="en-US" sz="1200" b="1" dirty="0">
                          <a:solidFill>
                            <a:srgbClr val="1B2A4A"/>
                          </a:solidFill>
                          <a:latin typeface="Calibri" pitchFamily="34" charset="0"/>
                          <a:ea typeface="Calibri" pitchFamily="34" charset="-122"/>
                          <a:cs typeface="Calibri" pitchFamily="34" charset="-120"/>
                        </a:rPr>
                        <a:t>Reported (what we calculated earlier)</a:t>
                      </a:r>
                      <a:endParaRPr lang="en-US" sz="120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150" dirty="0">
                          <a:solidFill>
                            <a:srgbClr val="44506B"/>
                          </a:solidFill>
                          <a:latin typeface="Calibri" pitchFamily="34" charset="0"/>
                          <a:ea typeface="Calibri" pitchFamily="34" charset="-122"/>
                          <a:cs typeface="Calibri" pitchFamily="34" charset="-120"/>
                        </a:rPr>
                        <a:t>|R| = 4  (KB115 missing)</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200" dirty="0">
                          <a:solidFill>
                            <a:srgbClr val="44506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600" b="1" dirty="0">
                          <a:solidFill>
                            <a:srgbClr val="1E7A46"/>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r h="548640">
                <a:tc>
                  <a:txBody>
                    <a:bodyPr/>
                    <a:lstStyle/>
                    <a:p>
                      <a:pPr indent="0" marL="0">
                        <a:buNone/>
                      </a:pPr>
                      <a:r>
                        <a:rPr lang="en-US" sz="1200" b="1" dirty="0">
                          <a:solidFill>
                            <a:srgbClr val="1B2A4A"/>
                          </a:solidFill>
                          <a:latin typeface="Calibri" pitchFamily="34" charset="0"/>
                          <a:ea typeface="Calibri" pitchFamily="34" charset="-122"/>
                          <a:cs typeface="Calibri" pitchFamily="34" charset="-120"/>
                        </a:rPr>
                        <a:t>True (if KB115 had been included)</a:t>
                      </a:r>
                      <a:endParaRPr lang="en-US" sz="120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150" dirty="0">
                          <a:solidFill>
                            <a:srgbClr val="44506B"/>
                          </a:solidFill>
                          <a:latin typeface="Calibri" pitchFamily="34" charset="0"/>
                          <a:ea typeface="Calibri" pitchFamily="34" charset="-122"/>
                          <a:cs typeface="Calibri" pitchFamily="34" charset="-120"/>
                        </a:rPr>
                        <a:t>|R| = 5  (KB115 included)</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200" dirty="0">
                          <a:solidFill>
                            <a:srgbClr val="44506B"/>
                          </a:solidFill>
                          <a:latin typeface="Calibri" pitchFamily="34" charset="0"/>
                          <a:ea typeface="Calibri" pitchFamily="34" charset="-122"/>
                          <a:cs typeface="Calibri" pitchFamily="34" charset="-120"/>
                        </a:rPr>
                        <a:t>4  (KB115 not retrieved)</a:t>
                      </a:r>
                      <a:endParaRPr lang="en-US" sz="120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600" b="1" dirty="0">
                          <a:solidFill>
                            <a:srgbClr val="B23A32"/>
                          </a:solidFill>
                          <a:latin typeface="Calibri" pitchFamily="34" charset="0"/>
                          <a:ea typeface="Calibri" pitchFamily="34" charset="-122"/>
                          <a:cs typeface="Calibri" pitchFamily="34" charset="-120"/>
                        </a:rPr>
                        <a:t>0.80</a:t>
                      </a:r>
                      <a:endParaRPr lang="en-US" sz="160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bl>
          </a:graphicData>
        </a:graphic>
      </p:graphicFrame>
      <p:sp>
        <p:nvSpPr>
          <p:cNvPr id="10" name="Shape 7"/>
          <p:cNvSpPr/>
          <p:nvPr/>
        </p:nvSpPr>
        <p:spPr>
          <a:xfrm>
            <a:off x="457200" y="4709160"/>
            <a:ext cx="11292840" cy="1691640"/>
          </a:xfrm>
          <a:prstGeom prst="roundRect">
            <a:avLst>
              <a:gd name="adj" fmla="val 4324"/>
            </a:avLst>
          </a:prstGeom>
          <a:solidFill>
            <a:srgbClr val="FDEAEA"/>
          </a:solidFill>
          <a:ln/>
        </p:spPr>
      </p:sp>
      <p:sp>
        <p:nvSpPr>
          <p:cNvPr id="11" name="Text 8"/>
          <p:cNvSpPr txBox="1"/>
          <p:nvPr/>
        </p:nvSpPr>
        <p:spPr>
          <a:xfrm>
            <a:off x="731520" y="4846320"/>
            <a:ext cx="10515600" cy="274320"/>
          </a:xfrm>
          <a:prstGeom prst="rect">
            <a:avLst/>
          </a:prstGeom>
          <a:noFill/>
          <a:ln/>
        </p:spPr>
        <p:txBody>
          <a:bodyPr wrap="square" lIns="0" tIns="0" rIns="0" bIns="0" rtlCol="0" anchor="ctr"/>
          <a:lstStyle/>
          <a:p>
            <a:pPr indent="0" marL="0">
              <a:buNone/>
            </a:pPr>
            <a:r>
              <a:rPr lang="en-US" sz="1400" b="1" dirty="0">
                <a:solidFill>
                  <a:srgbClr val="B23A32"/>
                </a:solidFill>
                <a:latin typeface="Calibri" pitchFamily="34" charset="0"/>
                <a:ea typeface="Calibri" pitchFamily="34" charset="-122"/>
                <a:cs typeface="Calibri" pitchFamily="34" charset="-120"/>
              </a:rPr>
              <a:t>The failure</a:t>
            </a:r>
            <a:endParaRPr lang="en-US" sz="1400" dirty="0"/>
          </a:p>
        </p:txBody>
      </p:sp>
      <p:sp>
        <p:nvSpPr>
          <p:cNvPr id="12" name="Text 9"/>
          <p:cNvSpPr txBox="1"/>
          <p:nvPr/>
        </p:nvSpPr>
        <p:spPr>
          <a:xfrm>
            <a:off x="731520" y="5138928"/>
            <a:ext cx="10744200" cy="1188720"/>
          </a:xfrm>
          <a:prstGeom prst="rect">
            <a:avLst/>
          </a:prstGeom>
          <a:noFill/>
          <a:ln/>
        </p:spPr>
        <p:txBody>
          <a:bodyPr wrap="square" lIns="0" tIns="0" rIns="0" bIns="0" rtlCol="0" anchor="ctr"/>
          <a:lstStyle/>
          <a:p>
            <a:pPr indent="0" marL="0">
              <a:lnSpc>
                <a:spcPct val="122000"/>
              </a:lnSpc>
              <a:buNone/>
            </a:pPr>
            <a:r>
              <a:rPr lang="en-US" sz="1180" dirty="0">
                <a:solidFill>
                  <a:srgbClr val="B23A32"/>
                </a:solidFill>
                <a:latin typeface="Calibri" pitchFamily="34" charset="0"/>
                <a:ea typeface="Calibri" pitchFamily="34" charset="-122"/>
                <a:cs typeface="Calibri" pitchFamily="34" charset="-120"/>
              </a:rPr>
              <a:t>A single missed relevant document quietly inflated our reported score from 0.80 to a false 1.00 — a 20-point gap we'd never notice, because we don't know what we don't know. </a:t>
            </a:r>
            <a:pPr indent="0" marL="0">
              <a:lnSpc>
                <a:spcPct val="122000"/>
              </a:lnSpc>
              <a:buNone/>
            </a:pPr>
            <a:r>
              <a:rPr lang="en-US" sz="1180" b="1" dirty="0">
                <a:solidFill>
                  <a:srgbClr val="B23A32"/>
                </a:solidFill>
                <a:latin typeface="Calibri" pitchFamily="34" charset="0"/>
                <a:ea typeface="Calibri" pitchFamily="34" charset="-122"/>
                <a:cs typeface="Calibri" pitchFamily="34" charset="-120"/>
              </a:rPr>
              <a:t>Recall@K silently assumes |R| is exhaustive.</a:t>
            </a:r>
            <a:pPr indent="0" marL="0">
              <a:lnSpc>
                <a:spcPct val="122000"/>
              </a:lnSpc>
              <a:buNone/>
            </a:pPr>
            <a:r>
              <a:rPr lang="en-US" sz="1180" dirty="0">
                <a:solidFill>
                  <a:srgbClr val="B23A32"/>
                </a:solidFill>
                <a:latin typeface="Calibri" pitchFamily="34" charset="0"/>
                <a:ea typeface="Calibri" pitchFamily="34" charset="-122"/>
                <a:cs typeface="Calibri" pitchFamily="34" charset="-120"/>
              </a:rPr>
              <a:t> At scale, building and maintaining a truly complete relevance set is expensive and error-prone — which means every Recall@K number should be read as “recall against our best-known ground truth,” not an absolute truth.</a:t>
            </a:r>
            <a:endParaRPr lang="en-US" sz="11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B2A4A"/>
          </a:solidFill>
          <a:ln/>
        </p:spPr>
      </p:sp>
      <p:sp>
        <p:nvSpPr>
          <p:cNvPr id="3" name="Text 1"/>
          <p:cNvSpPr txBox="1"/>
          <p:nvPr/>
        </p:nvSpPr>
        <p:spPr>
          <a:xfrm>
            <a:off x="457200" y="146304"/>
            <a:ext cx="9144000" cy="274320"/>
          </a:xfrm>
          <a:prstGeom prst="rect">
            <a:avLst/>
          </a:prstGeom>
          <a:noFill/>
          <a:ln/>
        </p:spPr>
        <p:txBody>
          <a:bodyPr wrap="square" lIns="0" tIns="0" rIns="0" bIns="0" rtlCol="0" anchor="ctr"/>
          <a:lstStyle/>
          <a:p>
            <a:pPr indent="0" marL="0">
              <a:buNone/>
            </a:pPr>
            <a:r>
              <a:rPr lang="en-US" sz="1150" b="1" spc="150" kern="0" dirty="0">
                <a:solidFill>
                  <a:srgbClr val="CADCFC"/>
                </a:solidFill>
                <a:latin typeface="Calibri" pitchFamily="34" charset="0"/>
                <a:ea typeface="Calibri" pitchFamily="34" charset="-122"/>
                <a:cs typeface="Calibri" pitchFamily="34" charset="-120"/>
              </a:rPr>
              <a:t>6 · HOW TO IMPROVE</a:t>
            </a:r>
            <a:endParaRPr lang="en-US" sz="1150" dirty="0"/>
          </a:p>
        </p:txBody>
      </p:sp>
      <p:sp>
        <p:nvSpPr>
          <p:cNvPr id="4" name="Text 2"/>
          <p:cNvSpPr txBox="1"/>
          <p:nvPr/>
        </p:nvSpPr>
        <p:spPr>
          <a:xfrm>
            <a:off x="457200" y="384048"/>
            <a:ext cx="11247120" cy="594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Two Systems, Same Queries — What Changed?</a:t>
            </a:r>
            <a:endParaRPr lang="en-US" sz="2600" dirty="0"/>
          </a:p>
        </p:txBody>
      </p:sp>
      <p:sp>
        <p:nvSpPr>
          <p:cNvPr id="5" name="Text 3"/>
          <p:cNvSpPr txBox="1"/>
          <p:nvPr/>
        </p:nvSpPr>
        <p:spPr>
          <a:xfrm>
            <a:off x="11430000" y="6519672"/>
            <a:ext cx="640080" cy="274320"/>
          </a:xfrm>
          <a:prstGeom prst="rect">
            <a:avLst/>
          </a:prstGeom>
          <a:noFill/>
          <a:ln/>
        </p:spPr>
        <p:txBody>
          <a:bodyPr wrap="square" lIns="0" tIns="0" rIns="0" bIns="0" rtlCol="0" anchor="ctr"/>
          <a:lstStyle/>
          <a:p>
            <a:pPr algn="r" indent="0" marL="0">
              <a:buNone/>
            </a:pPr>
            <a:r>
              <a:rPr lang="en-US" sz="900" dirty="0">
                <a:solidFill>
                  <a:srgbClr val="8592AC"/>
                </a:solidFill>
                <a:latin typeface="Calibri" pitchFamily="34" charset="0"/>
                <a:ea typeface="Calibri" pitchFamily="34" charset="-122"/>
                <a:cs typeface="Calibri" pitchFamily="34" charset="-120"/>
              </a:rPr>
              <a:t>10 / 13</a:t>
            </a:r>
            <a:endParaRPr lang="en-US" sz="900" dirty="0"/>
          </a:p>
        </p:txBody>
      </p:sp>
      <p:sp>
        <p:nvSpPr>
          <p:cNvPr id="6" name="Text 4"/>
          <p:cNvSpPr txBox="1"/>
          <p:nvPr/>
        </p:nvSpPr>
        <p:spPr>
          <a:xfrm>
            <a:off x="457200" y="1188720"/>
            <a:ext cx="11247120" cy="292608"/>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Baseline = plain embedding similarity.  Improved = hybrid (BM25 + vector) search + a cross-encoder reranker.</a:t>
            </a:r>
            <a:endParaRPr lang="en-US" sz="1250" dirty="0"/>
          </a:p>
        </p:txBody>
      </p:sp>
      <p:sp>
        <p:nvSpPr>
          <p:cNvPr id="7" name="Shape 5"/>
          <p:cNvSpPr/>
          <p:nvPr/>
        </p:nvSpPr>
        <p:spPr>
          <a:xfrm>
            <a:off x="457200" y="1600200"/>
            <a:ext cx="5486400" cy="3566160"/>
          </a:xfrm>
          <a:prstGeom prst="roundRect">
            <a:avLst>
              <a:gd name="adj" fmla="val 2051"/>
            </a:avLst>
          </a:prstGeom>
          <a:solidFill>
            <a:srgbClr val="FFFFFF"/>
          </a:solidFill>
          <a:ln w="12700">
            <a:solidFill>
              <a:srgbClr val="D9E2F1"/>
            </a:solidFill>
            <a:prstDash val="solid"/>
          </a:ln>
          <a:effectLst>
            <a:outerShdw sx="100000" sy="100000" kx="0" ky="0" algn="bl" rotWithShape="0" blurRad="101600" dist="25400" dir="5400000">
              <a:srgbClr val="3A4A6B">
                <a:alpha val="12000"/>
              </a:srgbClr>
            </a:outerShdw>
          </a:effectLst>
        </p:spPr>
      </p:sp>
      <p:sp>
        <p:nvSpPr>
          <p:cNvPr id="8" name="Text 6"/>
          <p:cNvSpPr txBox="1"/>
          <p:nvPr/>
        </p:nvSpPr>
        <p:spPr>
          <a:xfrm>
            <a:off x="731520" y="1755648"/>
            <a:ext cx="4937760" cy="292608"/>
          </a:xfrm>
          <a:prstGeom prst="rect">
            <a:avLst/>
          </a:prstGeom>
          <a:noFill/>
          <a:ln/>
        </p:spPr>
        <p:txBody>
          <a:bodyPr wrap="square" lIns="0" tIns="0" rIns="0" bIns="0"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Query 1: “reset my 2FA” — top 5</a:t>
            </a:r>
            <a:endParaRPr lang="en-US" sz="13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 y="2103120"/>
          <a:ext cx="4937760" cy="914400"/>
        </p:xfrm>
        <a:graphic>
          <a:graphicData uri="http://schemas.openxmlformats.org/drawingml/2006/table">
            <a:tbl>
              <a:tblPr/>
              <a:tblGrid>
                <a:gridCol w="914400"/>
                <a:gridCol w="2011680"/>
                <a:gridCol w="2011680"/>
              </a:tblGrid>
              <a:tr h="384048">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Rank</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Baseline</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Improved</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r>
              <a:tr h="384048">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1</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1E7A46"/>
                          </a:solidFill>
                          <a:latin typeface="Calibri" pitchFamily="34" charset="0"/>
                          <a:ea typeface="Calibri" pitchFamily="34" charset="-122"/>
                          <a:cs typeface="Calibri" pitchFamily="34" charset="-120"/>
                        </a:rPr>
                        <a:t>KB105 ✓</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1E7A46"/>
                          </a:solidFill>
                          <a:latin typeface="Calibri" pitchFamily="34" charset="0"/>
                          <a:ea typeface="Calibri" pitchFamily="34" charset="-122"/>
                          <a:cs typeface="Calibri" pitchFamily="34" charset="-120"/>
                        </a:rPr>
                        <a:t>KB103 ✓</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r h="384048">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2</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B23A32"/>
                          </a:solidFill>
                          <a:latin typeface="Calibri" pitchFamily="34" charset="0"/>
                          <a:ea typeface="Calibri" pitchFamily="34" charset="-122"/>
                          <a:cs typeface="Calibri" pitchFamily="34" charset="-120"/>
                        </a:rPr>
                        <a:t>KB201 ✗</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1E7A46"/>
                          </a:solidFill>
                          <a:latin typeface="Calibri" pitchFamily="34" charset="0"/>
                          <a:ea typeface="Calibri" pitchFamily="34" charset="-122"/>
                          <a:cs typeface="Calibri" pitchFamily="34" charset="-120"/>
                        </a:rPr>
                        <a:t>KB108 ✓</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r h="384048">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3</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1E7A46"/>
                          </a:solidFill>
                          <a:latin typeface="Calibri" pitchFamily="34" charset="0"/>
                          <a:ea typeface="Calibri" pitchFamily="34" charset="-122"/>
                          <a:cs typeface="Calibri" pitchFamily="34" charset="-120"/>
                        </a:rPr>
                        <a:t>KB103 ✓</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1E7A46"/>
                          </a:solidFill>
                          <a:latin typeface="Calibri" pitchFamily="34" charset="0"/>
                          <a:ea typeface="Calibri" pitchFamily="34" charset="-122"/>
                          <a:cs typeface="Calibri" pitchFamily="34" charset="-120"/>
                        </a:rPr>
                        <a:t>KB105 ✓</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r h="384048">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4</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1E7A46"/>
                          </a:solidFill>
                          <a:latin typeface="Calibri" pitchFamily="34" charset="0"/>
                          <a:ea typeface="Calibri" pitchFamily="34" charset="-122"/>
                          <a:cs typeface="Calibri" pitchFamily="34" charset="-120"/>
                        </a:rPr>
                        <a:t>KB110 ✓</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B23A32"/>
                          </a:solidFill>
                          <a:latin typeface="Calibri" pitchFamily="34" charset="0"/>
                          <a:ea typeface="Calibri" pitchFamily="34" charset="-122"/>
                          <a:cs typeface="Calibri" pitchFamily="34" charset="-120"/>
                        </a:rPr>
                        <a:t>KB302 ✗</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r h="384048">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5</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B23A32"/>
                          </a:solidFill>
                          <a:latin typeface="Calibri" pitchFamily="34" charset="0"/>
                          <a:ea typeface="Calibri" pitchFamily="34" charset="-122"/>
                          <a:cs typeface="Calibri" pitchFamily="34" charset="-120"/>
                        </a:rPr>
                        <a:t>KB302 ✗</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1E7A46"/>
                          </a:solidFill>
                          <a:latin typeface="Calibri" pitchFamily="34" charset="0"/>
                          <a:ea typeface="Calibri" pitchFamily="34" charset="-122"/>
                          <a:cs typeface="Calibri" pitchFamily="34" charset="-120"/>
                        </a:rPr>
                        <a:t>KB110 ✓</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bl>
          </a:graphicData>
        </a:graphic>
      </p:graphicFrame>
      <p:sp>
        <p:nvSpPr>
          <p:cNvPr id="10" name="Text 7"/>
          <p:cNvSpPr txBox="1"/>
          <p:nvPr/>
        </p:nvSpPr>
        <p:spPr>
          <a:xfrm>
            <a:off x="731520" y="4572000"/>
            <a:ext cx="4937760" cy="548640"/>
          </a:xfrm>
          <a:prstGeom prst="rect">
            <a:avLst/>
          </a:prstGeom>
          <a:noFill/>
          <a:ln/>
        </p:spPr>
        <p:txBody>
          <a:bodyPr wrap="square" lIns="0" tIns="0" rIns="0" bIns="0" rtlCol="0" anchor="ctr"/>
          <a:lstStyle/>
          <a:p>
            <a:pPr indent="0" marL="0">
              <a:lnSpc>
                <a:spcPct val="120000"/>
              </a:lnSpc>
              <a:buNone/>
            </a:pPr>
            <a:r>
              <a:rPr lang="en-US" sz="1080" b="1" dirty="0">
                <a:solidFill>
                  <a:srgbClr val="1B2A4A"/>
                </a:solidFill>
                <a:latin typeface="Calibri" pitchFamily="34" charset="0"/>
                <a:ea typeface="Calibri" pitchFamily="34" charset="-122"/>
                <a:cs typeface="Calibri" pitchFamily="34" charset="-120"/>
              </a:rPr>
              <a:t>What happened: </a:t>
            </a:r>
            <a:pPr indent="0" marL="0">
              <a:lnSpc>
                <a:spcPct val="120000"/>
              </a:lnSpc>
              <a:buNone/>
            </a:pPr>
            <a:r>
              <a:rPr lang="en-US" sz="1080" dirty="0">
                <a:solidFill>
                  <a:srgbClr val="44506B"/>
                </a:solidFill>
                <a:latin typeface="Calibri" pitchFamily="34" charset="0"/>
                <a:ea typeface="Calibri" pitchFamily="34" charset="-122"/>
                <a:cs typeface="Calibri" pitchFamily="34" charset="-120"/>
              </a:rPr>
              <a:t>KB108 was always eventually found by the Baseline (rank 6), but that's outside a top-5 window — Recall@5 missed it. The reranker moved it to rank 2, so now all 4 relevant docs fit inside K=5.</a:t>
            </a:r>
            <a:endParaRPr lang="en-US" sz="1080" dirty="0"/>
          </a:p>
        </p:txBody>
      </p:sp>
      <p:sp>
        <p:nvSpPr>
          <p:cNvPr id="11" name="Shape 8"/>
          <p:cNvSpPr/>
          <p:nvPr/>
        </p:nvSpPr>
        <p:spPr>
          <a:xfrm>
            <a:off x="6263640" y="1600200"/>
            <a:ext cx="5440680" cy="3566160"/>
          </a:xfrm>
          <a:prstGeom prst="roundRect">
            <a:avLst>
              <a:gd name="adj" fmla="val 2051"/>
            </a:avLst>
          </a:prstGeom>
          <a:solidFill>
            <a:srgbClr val="FFFFFF"/>
          </a:solidFill>
          <a:ln w="12700">
            <a:solidFill>
              <a:srgbClr val="D9E2F1"/>
            </a:solidFill>
            <a:prstDash val="solid"/>
          </a:ln>
          <a:effectLst>
            <a:outerShdw sx="100000" sy="100000" kx="0" ky="0" algn="bl" rotWithShape="0" blurRad="101600" dist="25400" dir="5400000">
              <a:srgbClr val="3A4A6B">
                <a:alpha val="12000"/>
              </a:srgbClr>
            </a:outerShdw>
          </a:effectLst>
        </p:spPr>
      </p:sp>
      <p:sp>
        <p:nvSpPr>
          <p:cNvPr id="12" name="Text 9"/>
          <p:cNvSpPr txBox="1"/>
          <p:nvPr/>
        </p:nvSpPr>
        <p:spPr>
          <a:xfrm>
            <a:off x="6537960" y="1755648"/>
            <a:ext cx="4937760" cy="292608"/>
          </a:xfrm>
          <a:prstGeom prst="rect">
            <a:avLst/>
          </a:prstGeom>
          <a:noFill/>
          <a:ln/>
        </p:spPr>
        <p:txBody>
          <a:bodyPr wrap="square" lIns="0" tIns="0" rIns="0" bIns="0"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Query 3: “change my email” — top 5</a:t>
            </a:r>
            <a:endParaRPr lang="en-US" sz="135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6537960" y="2103120"/>
          <a:ext cx="4937760" cy="914400"/>
        </p:xfrm>
        <a:graphic>
          <a:graphicData uri="http://schemas.openxmlformats.org/drawingml/2006/table">
            <a:tbl>
              <a:tblPr/>
              <a:tblGrid>
                <a:gridCol w="914400"/>
                <a:gridCol w="2011680"/>
                <a:gridCol w="2011680"/>
              </a:tblGrid>
              <a:tr h="384048">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Rank</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Baseline</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Improved</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r>
              <a:tr h="384048">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1</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B23A32"/>
                          </a:solidFill>
                          <a:latin typeface="Calibri" pitchFamily="34" charset="0"/>
                          <a:ea typeface="Calibri" pitchFamily="34" charset="-122"/>
                          <a:cs typeface="Calibri" pitchFamily="34" charset="-120"/>
                        </a:rPr>
                        <a:t>KB101 ✗</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1E7A46"/>
                          </a:solidFill>
                          <a:latin typeface="Calibri" pitchFamily="34" charset="0"/>
                          <a:ea typeface="Calibri" pitchFamily="34" charset="-122"/>
                          <a:cs typeface="Calibri" pitchFamily="34" charset="-120"/>
                        </a:rPr>
                        <a:t>KB501 ✓</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r h="384048">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2</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B23A32"/>
                          </a:solidFill>
                          <a:latin typeface="Calibri" pitchFamily="34" charset="0"/>
                          <a:ea typeface="Calibri" pitchFamily="34" charset="-122"/>
                          <a:cs typeface="Calibri" pitchFamily="34" charset="-120"/>
                        </a:rPr>
                        <a:t>KB102 ✗</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1E7A46"/>
                          </a:solidFill>
                          <a:latin typeface="Calibri" pitchFamily="34" charset="0"/>
                          <a:ea typeface="Calibri" pitchFamily="34" charset="-122"/>
                          <a:cs typeface="Calibri" pitchFamily="34" charset="-120"/>
                        </a:rPr>
                        <a:t>KB502 ✓</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r h="384048">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3</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B23A32"/>
                          </a:solidFill>
                          <a:latin typeface="Calibri" pitchFamily="34" charset="0"/>
                          <a:ea typeface="Calibri" pitchFamily="34" charset="-122"/>
                          <a:cs typeface="Calibri" pitchFamily="34" charset="-120"/>
                        </a:rPr>
                        <a:t>KB103 ✗*</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B23A32"/>
                          </a:solidFill>
                          <a:latin typeface="Calibri" pitchFamily="34" charset="0"/>
                          <a:ea typeface="Calibri" pitchFamily="34" charset="-122"/>
                          <a:cs typeface="Calibri" pitchFamily="34" charset="-120"/>
                        </a:rPr>
                        <a:t>KB410 ✗</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r h="384048">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4</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B23A32"/>
                          </a:solidFill>
                          <a:latin typeface="Calibri" pitchFamily="34" charset="0"/>
                          <a:ea typeface="Calibri" pitchFamily="34" charset="-122"/>
                          <a:cs typeface="Calibri" pitchFamily="34" charset="-120"/>
                        </a:rPr>
                        <a:t>KB104 ✗</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B23A32"/>
                          </a:solidFill>
                          <a:latin typeface="Calibri" pitchFamily="34" charset="0"/>
                          <a:ea typeface="Calibri" pitchFamily="34" charset="-122"/>
                          <a:cs typeface="Calibri" pitchFamily="34" charset="-120"/>
                        </a:rPr>
                        <a:t>KB420 ✗</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r h="384048">
                <a:tc>
                  <a:txBody>
                    <a:bodyPr/>
                    <a:lstStyle/>
                    <a:p>
                      <a:pPr algn="ctr" indent="0" marL="0">
                        <a:buNone/>
                      </a:pPr>
                      <a:r>
                        <a:rPr lang="en-US" sz="1080" dirty="0">
                          <a:solidFill>
                            <a:srgbClr val="44506B"/>
                          </a:solidFill>
                          <a:latin typeface="Calibri" pitchFamily="34" charset="0"/>
                          <a:ea typeface="Calibri" pitchFamily="34" charset="-122"/>
                          <a:cs typeface="Calibri" pitchFamily="34" charset="-120"/>
                        </a:rPr>
                        <a:t>5</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B23A32"/>
                          </a:solidFill>
                          <a:latin typeface="Calibri" pitchFamily="34" charset="0"/>
                          <a:ea typeface="Calibri" pitchFamily="34" charset="-122"/>
                          <a:cs typeface="Calibri" pitchFamily="34" charset="-120"/>
                        </a:rPr>
                        <a:t>KB105 ✗*</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080" b="1" dirty="0">
                          <a:solidFill>
                            <a:srgbClr val="B23A32"/>
                          </a:solidFill>
                          <a:latin typeface="Calibri" pitchFamily="34" charset="0"/>
                          <a:ea typeface="Calibri" pitchFamily="34" charset="-122"/>
                          <a:cs typeface="Calibri" pitchFamily="34" charset="-120"/>
                        </a:rPr>
                        <a:t>KB430 ✗</a:t>
                      </a:r>
                      <a:endParaRPr lang="en-US" sz="108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bl>
          </a:graphicData>
        </a:graphic>
      </p:graphicFrame>
      <p:sp>
        <p:nvSpPr>
          <p:cNvPr id="14" name="Text 10"/>
          <p:cNvSpPr txBox="1"/>
          <p:nvPr/>
        </p:nvSpPr>
        <p:spPr>
          <a:xfrm>
            <a:off x="6537960" y="4572000"/>
            <a:ext cx="4937760" cy="548640"/>
          </a:xfrm>
          <a:prstGeom prst="rect">
            <a:avLst/>
          </a:prstGeom>
          <a:noFill/>
          <a:ln/>
        </p:spPr>
        <p:txBody>
          <a:bodyPr wrap="square" lIns="0" tIns="0" rIns="0" bIns="0" rtlCol="0" anchor="ctr"/>
          <a:lstStyle/>
          <a:p>
            <a:pPr indent="0" marL="0">
              <a:lnSpc>
                <a:spcPct val="120000"/>
              </a:lnSpc>
              <a:buNone/>
            </a:pPr>
            <a:r>
              <a:rPr lang="en-US" sz="1080" b="1" dirty="0">
                <a:solidFill>
                  <a:srgbClr val="1B2A4A"/>
                </a:solidFill>
                <a:latin typeface="Calibri" pitchFamily="34" charset="0"/>
                <a:ea typeface="Calibri" pitchFamily="34" charset="-122"/>
                <a:cs typeface="Calibri" pitchFamily="34" charset="-120"/>
              </a:rPr>
              <a:t>What happened: </a:t>
            </a:r>
            <a:pPr indent="0" marL="0">
              <a:lnSpc>
                <a:spcPct val="120000"/>
              </a:lnSpc>
              <a:buNone/>
            </a:pPr>
            <a:r>
              <a:rPr lang="en-US" sz="1080" dirty="0">
                <a:solidFill>
                  <a:srgbClr val="44506B"/>
                </a:solidFill>
                <a:latin typeface="Calibri" pitchFamily="34" charset="0"/>
                <a:ea typeface="Calibri" pitchFamily="34" charset="-122"/>
                <a:cs typeface="Calibri" pitchFamily="34" charset="-120"/>
              </a:rPr>
              <a:t>Baseline found 0 of the 2 relevant docs — total recall failure. Hybrid search's keyword layer correctly matched KB501/KB502, taking Recall@5 from 0.0 to a perfect 1.0.</a:t>
            </a:r>
            <a:endParaRPr lang="en-US" sz="1080" dirty="0"/>
          </a:p>
        </p:txBody>
      </p:sp>
      <p:sp>
        <p:nvSpPr>
          <p:cNvPr id="15" name="Text 11"/>
          <p:cNvSpPr txBox="1"/>
          <p:nvPr/>
        </p:nvSpPr>
        <p:spPr>
          <a:xfrm>
            <a:off x="457200" y="5394960"/>
            <a:ext cx="11247120" cy="365760"/>
          </a:xfrm>
          <a:prstGeom prst="rect">
            <a:avLst/>
          </a:prstGeom>
          <a:noFill/>
          <a:ln/>
        </p:spPr>
        <p:txBody>
          <a:bodyPr wrap="square" lIns="0" tIns="0" rIns="0" bIns="0" rtlCol="0" anchor="ctr"/>
          <a:lstStyle/>
          <a:p>
            <a:pPr indent="0" marL="0">
              <a:buNone/>
            </a:pPr>
            <a:r>
              <a:rPr lang="en-US" sz="1200" i="1" dirty="0">
                <a:solidFill>
                  <a:srgbClr val="8592AC"/>
                </a:solidFill>
                <a:latin typeface="Calibri" pitchFamily="34" charset="0"/>
                <a:ea typeface="Calibri" pitchFamily="34" charset="-122"/>
                <a:cs typeface="Calibri" pitchFamily="34" charset="-120"/>
              </a:rPr>
              <a:t>Next: let's put numbers on exactly how much this improved Recall@5.</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B2A4A"/>
          </a:solidFill>
          <a:ln/>
        </p:spPr>
      </p:sp>
      <p:sp>
        <p:nvSpPr>
          <p:cNvPr id="3" name="Text 1"/>
          <p:cNvSpPr txBox="1"/>
          <p:nvPr/>
        </p:nvSpPr>
        <p:spPr>
          <a:xfrm>
            <a:off x="457200" y="146304"/>
            <a:ext cx="9144000" cy="274320"/>
          </a:xfrm>
          <a:prstGeom prst="rect">
            <a:avLst/>
          </a:prstGeom>
          <a:noFill/>
          <a:ln/>
        </p:spPr>
        <p:txBody>
          <a:bodyPr wrap="square" lIns="0" tIns="0" rIns="0" bIns="0" rtlCol="0" anchor="ctr"/>
          <a:lstStyle/>
          <a:p>
            <a:pPr indent="0" marL="0">
              <a:buNone/>
            </a:pPr>
            <a:r>
              <a:rPr lang="en-US" sz="1150" b="1" spc="150" kern="0" dirty="0">
                <a:solidFill>
                  <a:srgbClr val="CADCFC"/>
                </a:solidFill>
                <a:latin typeface="Calibri" pitchFamily="34" charset="0"/>
                <a:ea typeface="Calibri" pitchFamily="34" charset="-122"/>
                <a:cs typeface="Calibri" pitchFamily="34" charset="-120"/>
              </a:rPr>
              <a:t>6 · HOW TO IMPROVE</a:t>
            </a:r>
            <a:endParaRPr lang="en-US" sz="1150" dirty="0"/>
          </a:p>
        </p:txBody>
      </p:sp>
      <p:sp>
        <p:nvSpPr>
          <p:cNvPr id="4" name="Text 2"/>
          <p:cNvSpPr txBox="1"/>
          <p:nvPr/>
        </p:nvSpPr>
        <p:spPr>
          <a:xfrm>
            <a:off x="457200" y="384048"/>
            <a:ext cx="11247120" cy="594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Recall@5 — Before vs. After, All 3 Queries</a:t>
            </a:r>
            <a:endParaRPr lang="en-US" sz="2600" dirty="0"/>
          </a:p>
        </p:txBody>
      </p:sp>
      <p:sp>
        <p:nvSpPr>
          <p:cNvPr id="5" name="Text 3"/>
          <p:cNvSpPr txBox="1"/>
          <p:nvPr/>
        </p:nvSpPr>
        <p:spPr>
          <a:xfrm>
            <a:off x="11430000" y="6519672"/>
            <a:ext cx="640080" cy="274320"/>
          </a:xfrm>
          <a:prstGeom prst="rect">
            <a:avLst/>
          </a:prstGeom>
          <a:noFill/>
          <a:ln/>
        </p:spPr>
        <p:txBody>
          <a:bodyPr wrap="square" lIns="0" tIns="0" rIns="0" bIns="0" rtlCol="0" anchor="ctr"/>
          <a:lstStyle/>
          <a:p>
            <a:pPr algn="r" indent="0" marL="0">
              <a:buNone/>
            </a:pPr>
            <a:r>
              <a:rPr lang="en-US" sz="900" dirty="0">
                <a:solidFill>
                  <a:srgbClr val="8592AC"/>
                </a:solidFill>
                <a:latin typeface="Calibri" pitchFamily="34" charset="0"/>
                <a:ea typeface="Calibri" pitchFamily="34" charset="-122"/>
                <a:cs typeface="Calibri" pitchFamily="34" charset="-120"/>
              </a:rPr>
              <a:t>11 / 13</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7680960" cy="914400"/>
        </p:xfrm>
        <a:graphic>
          <a:graphicData uri="http://schemas.openxmlformats.org/drawingml/2006/table">
            <a:tbl>
              <a:tblPr/>
              <a:tblGrid>
                <a:gridCol w="2743200"/>
                <a:gridCol w="731520"/>
                <a:gridCol w="1645920"/>
                <a:gridCol w="1645920"/>
                <a:gridCol w="914400"/>
              </a:tblGrid>
              <a:tr h="566928">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Query</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Baseline R@5</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Improved R@5</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Δ</a:t>
                      </a:r>
                      <a:endParaRPr lang="en-US" sz="11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solidFill>
                      <a:srgbClr val="1B2A4A"/>
                    </a:solidFill>
                  </a:tcPr>
                </a:tc>
              </a:tr>
              <a:tr h="566928">
                <a:tc>
                  <a:txBody>
                    <a:bodyPr/>
                    <a:lstStyle/>
                    <a:p>
                      <a:pPr indent="0" marL="0">
                        <a:buNone/>
                      </a:pPr>
                      <a:r>
                        <a:rPr lang="en-US" sz="1250" b="1" dirty="0">
                          <a:solidFill>
                            <a:srgbClr val="1B2A4A"/>
                          </a:solidFill>
                          <a:latin typeface="Calibri" pitchFamily="34" charset="0"/>
                          <a:ea typeface="Calibri" pitchFamily="34" charset="-122"/>
                          <a:cs typeface="Calibri" pitchFamily="34" charset="-120"/>
                        </a:rPr>
                        <a:t>Q1 — reset 2FA</a:t>
                      </a:r>
                      <a:endParaRPr lang="en-US" sz="12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200" dirty="0">
                          <a:solidFill>
                            <a:srgbClr val="44506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250" dirty="0">
                          <a:solidFill>
                            <a:srgbClr val="44506B"/>
                          </a:solidFill>
                          <a:latin typeface="Calibri" pitchFamily="34" charset="0"/>
                          <a:ea typeface="Calibri" pitchFamily="34" charset="-122"/>
                          <a:cs typeface="Calibri" pitchFamily="34" charset="-120"/>
                        </a:rPr>
                        <a:t>3/4 = 0.75</a:t>
                      </a:r>
                      <a:endParaRPr lang="en-US" sz="12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250" b="1" dirty="0">
                          <a:solidFill>
                            <a:srgbClr val="1B2A4A"/>
                          </a:solidFill>
                          <a:latin typeface="Calibri" pitchFamily="34" charset="0"/>
                          <a:ea typeface="Calibri" pitchFamily="34" charset="-122"/>
                          <a:cs typeface="Calibri" pitchFamily="34" charset="-120"/>
                        </a:rPr>
                        <a:t>4/4 = 1.00</a:t>
                      </a:r>
                      <a:endParaRPr lang="en-US" sz="12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300" b="1" dirty="0">
                          <a:solidFill>
                            <a:srgbClr val="1E7A46"/>
                          </a:solidFill>
                          <a:latin typeface="Calibri" pitchFamily="34" charset="0"/>
                          <a:ea typeface="Calibri" pitchFamily="34" charset="-122"/>
                          <a:cs typeface="Calibri" pitchFamily="34" charset="-120"/>
                        </a:rPr>
                        <a:t>+0.25</a:t>
                      </a:r>
                      <a:endParaRPr lang="en-US" sz="130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r h="566928">
                <a:tc>
                  <a:txBody>
                    <a:bodyPr/>
                    <a:lstStyle/>
                    <a:p>
                      <a:pPr indent="0" marL="0">
                        <a:buNone/>
                      </a:pPr>
                      <a:r>
                        <a:rPr lang="en-US" sz="1250" b="1" dirty="0">
                          <a:solidFill>
                            <a:srgbClr val="1B2A4A"/>
                          </a:solidFill>
                          <a:latin typeface="Calibri" pitchFamily="34" charset="0"/>
                          <a:ea typeface="Calibri" pitchFamily="34" charset="-122"/>
                          <a:cs typeface="Calibri" pitchFamily="34" charset="-120"/>
                        </a:rPr>
                        <a:t>Q2 — set up 2FA</a:t>
                      </a:r>
                      <a:endParaRPr lang="en-US" sz="12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200" dirty="0">
                          <a:solidFill>
                            <a:srgbClr val="44506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250" dirty="0">
                          <a:solidFill>
                            <a:srgbClr val="44506B"/>
                          </a:solidFill>
                          <a:latin typeface="Calibri" pitchFamily="34" charset="0"/>
                          <a:ea typeface="Calibri" pitchFamily="34" charset="-122"/>
                          <a:cs typeface="Calibri" pitchFamily="34" charset="-120"/>
                        </a:rPr>
                        <a:t>3/3 = 1.00</a:t>
                      </a:r>
                      <a:endParaRPr lang="en-US" sz="12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250" b="1" dirty="0">
                          <a:solidFill>
                            <a:srgbClr val="1B2A4A"/>
                          </a:solidFill>
                          <a:latin typeface="Calibri" pitchFamily="34" charset="0"/>
                          <a:ea typeface="Calibri" pitchFamily="34" charset="-122"/>
                          <a:cs typeface="Calibri" pitchFamily="34" charset="-120"/>
                        </a:rPr>
                        <a:t>3/3 = 1.00</a:t>
                      </a:r>
                      <a:endParaRPr lang="en-US" sz="12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300" b="1" dirty="0">
                          <a:solidFill>
                            <a:srgbClr val="8592AC"/>
                          </a:solidFill>
                          <a:latin typeface="Calibri" pitchFamily="34" charset="0"/>
                          <a:ea typeface="Calibri" pitchFamily="34" charset="-122"/>
                          <a:cs typeface="Calibri" pitchFamily="34" charset="-120"/>
                        </a:rPr>
                        <a:t>+0.00</a:t>
                      </a:r>
                      <a:endParaRPr lang="en-US" sz="130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r h="566928">
                <a:tc>
                  <a:txBody>
                    <a:bodyPr/>
                    <a:lstStyle/>
                    <a:p>
                      <a:pPr indent="0" marL="0">
                        <a:buNone/>
                      </a:pPr>
                      <a:r>
                        <a:rPr lang="en-US" sz="1250" b="1" dirty="0">
                          <a:solidFill>
                            <a:srgbClr val="1B2A4A"/>
                          </a:solidFill>
                          <a:latin typeface="Calibri" pitchFamily="34" charset="0"/>
                          <a:ea typeface="Calibri" pitchFamily="34" charset="-122"/>
                          <a:cs typeface="Calibri" pitchFamily="34" charset="-120"/>
                        </a:rPr>
                        <a:t>Q3 — change email</a:t>
                      </a:r>
                      <a:endParaRPr lang="en-US" sz="12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200" dirty="0">
                          <a:solidFill>
                            <a:srgbClr val="44506B"/>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250" dirty="0">
                          <a:solidFill>
                            <a:srgbClr val="44506B"/>
                          </a:solidFill>
                          <a:latin typeface="Calibri" pitchFamily="34" charset="0"/>
                          <a:ea typeface="Calibri" pitchFamily="34" charset="-122"/>
                          <a:cs typeface="Calibri" pitchFamily="34" charset="-120"/>
                        </a:rPr>
                        <a:t>0/2 = 0.00</a:t>
                      </a:r>
                      <a:endParaRPr lang="en-US" sz="12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250" b="1" dirty="0">
                          <a:solidFill>
                            <a:srgbClr val="1B2A4A"/>
                          </a:solidFill>
                          <a:latin typeface="Calibri" pitchFamily="34" charset="0"/>
                          <a:ea typeface="Calibri" pitchFamily="34" charset="-122"/>
                          <a:cs typeface="Calibri" pitchFamily="34" charset="-120"/>
                        </a:rPr>
                        <a:t>2/2 = 1.00</a:t>
                      </a:r>
                      <a:endParaRPr lang="en-US" sz="125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c>
                  <a:txBody>
                    <a:bodyPr/>
                    <a:lstStyle/>
                    <a:p>
                      <a:pPr algn="ctr" indent="0" marL="0">
                        <a:buNone/>
                      </a:pPr>
                      <a:r>
                        <a:rPr lang="en-US" sz="1300" b="1" dirty="0">
                          <a:solidFill>
                            <a:srgbClr val="1E7A46"/>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9525" cap="flat" cmpd="sng" algn="ctr">
                      <a:solidFill>
                        <a:srgbClr val="D9E2F1"/>
                      </a:solidFill>
                      <a:prstDash val="solid"/>
                      <a:round/>
                      <a:headEnd type="none" w="med" len="med"/>
                      <a:tailEnd type="none" w="med" len="med"/>
                    </a:lnL>
                    <a:lnR w="9525" cap="flat" cmpd="sng" algn="ctr">
                      <a:solidFill>
                        <a:srgbClr val="D9E2F1"/>
                      </a:solidFill>
                      <a:prstDash val="solid"/>
                      <a:round/>
                      <a:headEnd type="none" w="med" len="med"/>
                      <a:tailEnd type="none" w="med" len="med"/>
                    </a:lnR>
                    <a:lnT w="9525" cap="flat" cmpd="sng" algn="ctr">
                      <a:solidFill>
                        <a:srgbClr val="D9E2F1"/>
                      </a:solidFill>
                      <a:prstDash val="solid"/>
                      <a:round/>
                      <a:headEnd type="none" w="med" len="med"/>
                      <a:tailEnd type="none" w="med" len="med"/>
                    </a:lnT>
                    <a:lnB w="9525" cap="flat" cmpd="sng" algn="ctr">
                      <a:solidFill>
                        <a:srgbClr val="D9E2F1"/>
                      </a:solidFill>
                      <a:prstDash val="solid"/>
                      <a:round/>
                      <a:headEnd type="none" w="med" len="med"/>
                      <a:tailEnd type="none" w="med" len="med"/>
                    </a:lnB>
                  </a:tcPr>
                </a:tc>
              </a:tr>
            </a:tbl>
          </a:graphicData>
        </a:graphic>
      </p:graphicFrame>
      <p:sp>
        <p:nvSpPr>
          <p:cNvPr id="7" name="Shape 4"/>
          <p:cNvSpPr/>
          <p:nvPr/>
        </p:nvSpPr>
        <p:spPr>
          <a:xfrm>
            <a:off x="8366760" y="1371600"/>
            <a:ext cx="3383280" cy="4114800"/>
          </a:xfrm>
          <a:prstGeom prst="roundRect">
            <a:avLst>
              <a:gd name="adj" fmla="val 2162"/>
            </a:avLst>
          </a:prstGeom>
          <a:solidFill>
            <a:srgbClr val="223A5E"/>
          </a:solidFill>
          <a:ln/>
        </p:spPr>
      </p:sp>
      <p:sp>
        <p:nvSpPr>
          <p:cNvPr id="8" name="Text 5"/>
          <p:cNvSpPr txBox="1"/>
          <p:nvPr/>
        </p:nvSpPr>
        <p:spPr>
          <a:xfrm>
            <a:off x="8641080" y="1536192"/>
            <a:ext cx="2926080" cy="274320"/>
          </a:xfrm>
          <a:prstGeom prst="rect">
            <a:avLst/>
          </a:prstGeom>
          <a:noFill/>
          <a:ln/>
        </p:spPr>
        <p:txBody>
          <a:bodyPr wrap="square" lIns="0" tIns="0" rIns="0" bIns="0" rtlCol="0" anchor="ctr"/>
          <a:lstStyle/>
          <a:p>
            <a:pPr indent="0" marL="0">
              <a:buNone/>
            </a:pPr>
            <a:r>
              <a:rPr lang="en-US" sz="1250" b="1" dirty="0">
                <a:solidFill>
                  <a:srgbClr val="CADCFC"/>
                </a:solidFill>
                <a:latin typeface="Calibri" pitchFamily="34" charset="0"/>
                <a:ea typeface="Calibri" pitchFamily="34" charset="-122"/>
                <a:cs typeface="Calibri" pitchFamily="34" charset="-120"/>
              </a:rPr>
              <a:t>Average Recall@5</a:t>
            </a:r>
            <a:endParaRPr lang="en-US" sz="1250" dirty="0"/>
          </a:p>
        </p:txBody>
      </p:sp>
      <p:sp>
        <p:nvSpPr>
          <p:cNvPr id="9" name="Text 6"/>
          <p:cNvSpPr txBox="1"/>
          <p:nvPr/>
        </p:nvSpPr>
        <p:spPr>
          <a:xfrm>
            <a:off x="8641080" y="1874520"/>
            <a:ext cx="292608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Baseline</a:t>
            </a:r>
            <a:endParaRPr lang="en-US" sz="1100" dirty="0"/>
          </a:p>
        </p:txBody>
      </p:sp>
      <p:sp>
        <p:nvSpPr>
          <p:cNvPr id="10" name="Text 7"/>
          <p:cNvSpPr txBox="1"/>
          <p:nvPr/>
        </p:nvSpPr>
        <p:spPr>
          <a:xfrm>
            <a:off x="8641080" y="2148840"/>
            <a:ext cx="2926080" cy="640080"/>
          </a:xfrm>
          <a:prstGeom prst="rect">
            <a:avLst/>
          </a:prstGeom>
          <a:noFill/>
          <a:ln/>
        </p:spPr>
        <p:txBody>
          <a:bodyPr wrap="square" lIns="0" tIns="0" rIns="0" bIns="0" rtlCol="0" anchor="ctr"/>
          <a:lstStyle/>
          <a:p>
            <a:pPr indent="0" marL="0">
              <a:buNone/>
            </a:pPr>
            <a:r>
              <a:rPr lang="en-US" sz="3200" b="1" dirty="0">
                <a:solidFill>
                  <a:srgbClr val="B9C6DE"/>
                </a:solidFill>
                <a:latin typeface="Cambria" pitchFamily="34" charset="0"/>
                <a:ea typeface="Cambria" pitchFamily="34" charset="-122"/>
                <a:cs typeface="Cambria" pitchFamily="34" charset="-120"/>
              </a:rPr>
              <a:t>0.58</a:t>
            </a:r>
            <a:endParaRPr lang="en-US" sz="3200" dirty="0"/>
          </a:p>
        </p:txBody>
      </p:sp>
      <p:sp>
        <p:nvSpPr>
          <p:cNvPr id="11" name="Text 8"/>
          <p:cNvSpPr txBox="1"/>
          <p:nvPr/>
        </p:nvSpPr>
        <p:spPr>
          <a:xfrm>
            <a:off x="8641080" y="2788920"/>
            <a:ext cx="2926080" cy="365760"/>
          </a:xfrm>
          <a:prstGeom prst="rect">
            <a:avLst/>
          </a:prstGeom>
          <a:noFill/>
          <a:ln/>
        </p:spPr>
        <p:txBody>
          <a:bodyPr wrap="square" lIns="0" tIns="0" rIns="0" bIns="0" rtlCol="0" anchor="ctr"/>
          <a:lstStyle/>
          <a:p>
            <a:pPr algn="ctr" indent="0" marL="0">
              <a:buNone/>
            </a:pPr>
            <a:r>
              <a:rPr lang="en-US" sz="2200" dirty="0">
                <a:solidFill>
                  <a:srgbClr val="D9A441"/>
                </a:solidFill>
                <a:latin typeface="Calibri" pitchFamily="34" charset="0"/>
                <a:ea typeface="Calibri" pitchFamily="34" charset="-122"/>
                <a:cs typeface="Calibri" pitchFamily="34" charset="-120"/>
              </a:rPr>
              <a:t>↓</a:t>
            </a:r>
            <a:endParaRPr lang="en-US" sz="2200" dirty="0"/>
          </a:p>
        </p:txBody>
      </p:sp>
      <p:sp>
        <p:nvSpPr>
          <p:cNvPr id="12" name="Text 9"/>
          <p:cNvSpPr txBox="1"/>
          <p:nvPr/>
        </p:nvSpPr>
        <p:spPr>
          <a:xfrm>
            <a:off x="8641080" y="3154680"/>
            <a:ext cx="292608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Improved</a:t>
            </a:r>
            <a:endParaRPr lang="en-US" sz="1100" dirty="0"/>
          </a:p>
        </p:txBody>
      </p:sp>
      <p:sp>
        <p:nvSpPr>
          <p:cNvPr id="13" name="Text 10"/>
          <p:cNvSpPr txBox="1"/>
          <p:nvPr/>
        </p:nvSpPr>
        <p:spPr>
          <a:xfrm>
            <a:off x="8641080" y="3429000"/>
            <a:ext cx="2926080" cy="6400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1.00</a:t>
            </a:r>
            <a:endParaRPr lang="en-US" sz="3800" dirty="0"/>
          </a:p>
        </p:txBody>
      </p:sp>
      <p:sp>
        <p:nvSpPr>
          <p:cNvPr id="14" name="Text 11"/>
          <p:cNvSpPr txBox="1"/>
          <p:nvPr/>
        </p:nvSpPr>
        <p:spPr>
          <a:xfrm>
            <a:off x="8641080" y="4160520"/>
            <a:ext cx="2926080" cy="457200"/>
          </a:xfrm>
          <a:prstGeom prst="rect">
            <a:avLst/>
          </a:prstGeom>
          <a:noFill/>
          <a:ln/>
        </p:spPr>
        <p:txBody>
          <a:bodyPr wrap="square" lIns="0" tIns="0" rIns="0" bIns="0" rtlCol="0" anchor="ctr"/>
          <a:lstStyle/>
          <a:p>
            <a:pPr indent="0" marL="0">
              <a:lnSpc>
                <a:spcPct val="115000"/>
              </a:lnSpc>
              <a:buNone/>
            </a:pPr>
            <a:r>
              <a:rPr lang="en-US" sz="1050" i="1" dirty="0">
                <a:solidFill>
                  <a:srgbClr val="D9A441"/>
                </a:solidFill>
                <a:latin typeface="Calibri" pitchFamily="34" charset="0"/>
                <a:ea typeface="Calibri" pitchFamily="34" charset="-122"/>
                <a:cs typeface="Calibri" pitchFamily="34" charset="-120"/>
              </a:rPr>
              <a:t>+0.42 absolute  —  every relevant doc, every query</a:t>
            </a:r>
            <a:endParaRPr lang="en-US" sz="1050" dirty="0"/>
          </a:p>
        </p:txBody>
      </p:sp>
      <p:sp>
        <p:nvSpPr>
          <p:cNvPr id="15" name="Shape 12"/>
          <p:cNvSpPr/>
          <p:nvPr/>
        </p:nvSpPr>
        <p:spPr>
          <a:xfrm>
            <a:off x="457200" y="5623560"/>
            <a:ext cx="11292840" cy="822960"/>
          </a:xfrm>
          <a:prstGeom prst="roundRect">
            <a:avLst>
              <a:gd name="adj" fmla="val 8889"/>
            </a:avLst>
          </a:prstGeom>
          <a:solidFill>
            <a:srgbClr val="E4F6E9"/>
          </a:solidFill>
          <a:ln/>
        </p:spPr>
      </p:sp>
      <p:sp>
        <p:nvSpPr>
          <p:cNvPr id="16" name="Text 13"/>
          <p:cNvSpPr txBox="1"/>
          <p:nvPr/>
        </p:nvSpPr>
        <p:spPr>
          <a:xfrm>
            <a:off x="731520" y="5760720"/>
            <a:ext cx="10744200" cy="594360"/>
          </a:xfrm>
          <a:prstGeom prst="rect">
            <a:avLst/>
          </a:prstGeom>
          <a:noFill/>
          <a:ln/>
        </p:spPr>
        <p:txBody>
          <a:bodyPr wrap="square" lIns="0" tIns="0" rIns="0" bIns="0" rtlCol="0" anchor="ctr"/>
          <a:lstStyle/>
          <a:p>
            <a:pPr indent="0" marL="0">
              <a:lnSpc>
                <a:spcPct val="120000"/>
              </a:lnSpc>
              <a:buNone/>
            </a:pPr>
            <a:r>
              <a:rPr lang="en-US" sz="1200" b="1" dirty="0">
                <a:solidFill>
                  <a:srgbClr val="1E7A46"/>
                </a:solidFill>
                <a:latin typeface="Calibri" pitchFamily="34" charset="0"/>
                <a:ea typeface="Calibri" pitchFamily="34" charset="-122"/>
                <a:cs typeface="Calibri" pitchFamily="34" charset="-120"/>
              </a:rPr>
              <a:t>Interpretation:  </a:t>
            </a:r>
            <a:pPr indent="0" marL="0">
              <a:lnSpc>
                <a:spcPct val="120000"/>
              </a:lnSpc>
              <a:buNone/>
            </a:pPr>
            <a:r>
              <a:rPr lang="en-US" sz="1200" dirty="0">
                <a:solidFill>
                  <a:srgbClr val="44506B"/>
                </a:solidFill>
                <a:latin typeface="Calibri" pitchFamily="34" charset="0"/>
                <a:ea typeface="Calibri" pitchFamily="34" charset="-122"/>
                <a:cs typeface="Calibri" pitchFamily="34" charset="-120"/>
              </a:rPr>
              <a:t>Q3 improved the most (a total miss fixed by hybrid search) and Q1 moved from good to perfect (reranking surfaced the one doc that was previously just outside the window). Q2 was already at the ceiling — more on that next.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B2A4A"/>
          </a:solidFill>
          <a:ln/>
        </p:spPr>
      </p:sp>
      <p:sp>
        <p:nvSpPr>
          <p:cNvPr id="3" name="Text 1"/>
          <p:cNvSpPr txBox="1"/>
          <p:nvPr/>
        </p:nvSpPr>
        <p:spPr>
          <a:xfrm>
            <a:off x="457200" y="146304"/>
            <a:ext cx="9144000" cy="274320"/>
          </a:xfrm>
          <a:prstGeom prst="rect">
            <a:avLst/>
          </a:prstGeom>
          <a:noFill/>
          <a:ln/>
        </p:spPr>
        <p:txBody>
          <a:bodyPr wrap="square" lIns="0" tIns="0" rIns="0" bIns="0" rtlCol="0" anchor="ctr"/>
          <a:lstStyle/>
          <a:p>
            <a:pPr indent="0" marL="0">
              <a:buNone/>
            </a:pPr>
            <a:r>
              <a:rPr lang="en-US" sz="1150" b="1" spc="150" kern="0" dirty="0">
                <a:solidFill>
                  <a:srgbClr val="CADCFC"/>
                </a:solidFill>
                <a:latin typeface="Calibri" pitchFamily="34" charset="0"/>
                <a:ea typeface="Calibri" pitchFamily="34" charset="-122"/>
                <a:cs typeface="Calibri" pitchFamily="34" charset="-120"/>
              </a:rPr>
              <a:t>6 · HOW TO IMPROVE</a:t>
            </a:r>
            <a:endParaRPr lang="en-US" sz="1150" dirty="0"/>
          </a:p>
        </p:txBody>
      </p:sp>
      <p:sp>
        <p:nvSpPr>
          <p:cNvPr id="4" name="Text 2"/>
          <p:cNvSpPr txBox="1"/>
          <p:nvPr/>
        </p:nvSpPr>
        <p:spPr>
          <a:xfrm>
            <a:off x="457200" y="384048"/>
            <a:ext cx="11247120" cy="594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Which Technique Fixed What?</a:t>
            </a:r>
            <a:endParaRPr lang="en-US" sz="2600" dirty="0"/>
          </a:p>
        </p:txBody>
      </p:sp>
      <p:sp>
        <p:nvSpPr>
          <p:cNvPr id="5" name="Text 3"/>
          <p:cNvSpPr txBox="1"/>
          <p:nvPr/>
        </p:nvSpPr>
        <p:spPr>
          <a:xfrm>
            <a:off x="11430000" y="6519672"/>
            <a:ext cx="640080" cy="274320"/>
          </a:xfrm>
          <a:prstGeom prst="rect">
            <a:avLst/>
          </a:prstGeom>
          <a:noFill/>
          <a:ln/>
        </p:spPr>
        <p:txBody>
          <a:bodyPr wrap="square" lIns="0" tIns="0" rIns="0" bIns="0" rtlCol="0" anchor="ctr"/>
          <a:lstStyle/>
          <a:p>
            <a:pPr algn="r" indent="0" marL="0">
              <a:buNone/>
            </a:pPr>
            <a:r>
              <a:rPr lang="en-US" sz="900" dirty="0">
                <a:solidFill>
                  <a:srgbClr val="8592AC"/>
                </a:solidFill>
                <a:latin typeface="Calibri" pitchFamily="34" charset="0"/>
                <a:ea typeface="Calibri" pitchFamily="34" charset="-122"/>
                <a:cs typeface="Calibri" pitchFamily="34" charset="-120"/>
              </a:rPr>
              <a:t>12 / 13</a:t>
            </a:r>
            <a:endParaRPr lang="en-US" sz="900" dirty="0"/>
          </a:p>
        </p:txBody>
      </p:sp>
      <p:sp>
        <p:nvSpPr>
          <p:cNvPr id="6" name="Shape 4"/>
          <p:cNvSpPr/>
          <p:nvPr/>
        </p:nvSpPr>
        <p:spPr>
          <a:xfrm>
            <a:off x="457200" y="1371600"/>
            <a:ext cx="3657600" cy="2651760"/>
          </a:xfrm>
          <a:prstGeom prst="roundRect">
            <a:avLst>
              <a:gd name="adj" fmla="val 2759"/>
            </a:avLst>
          </a:prstGeom>
          <a:solidFill>
            <a:srgbClr val="E4F6E9"/>
          </a:solidFill>
          <a:ln/>
        </p:spPr>
      </p:sp>
      <p:sp>
        <p:nvSpPr>
          <p:cNvPr id="7" name="Text 5"/>
          <p:cNvSpPr txBox="1"/>
          <p:nvPr/>
        </p:nvSpPr>
        <p:spPr>
          <a:xfrm>
            <a:off x="685800" y="1536192"/>
            <a:ext cx="3200400" cy="502920"/>
          </a:xfrm>
          <a:prstGeom prst="rect">
            <a:avLst/>
          </a:prstGeom>
          <a:noFill/>
          <a:ln/>
        </p:spPr>
        <p:txBody>
          <a:bodyPr wrap="square" lIns="0" tIns="0" rIns="0" bIns="0" rtlCol="0" anchor="ctr"/>
          <a:lstStyle/>
          <a:p>
            <a:pPr indent="0" marL="0">
              <a:lnSpc>
                <a:spcPct val="110000"/>
              </a:lnSpc>
              <a:buNone/>
            </a:pPr>
            <a:r>
              <a:rPr lang="en-US" sz="1300" b="1" dirty="0">
                <a:solidFill>
                  <a:srgbClr val="1E7A46"/>
                </a:solidFill>
                <a:latin typeface="Calibri" pitchFamily="34" charset="0"/>
                <a:ea typeface="Calibri" pitchFamily="34" charset="-122"/>
                <a:cs typeface="Calibri" pitchFamily="34" charset="-120"/>
              </a:rPr>
              <a:t>Hybrid search (BM25 + vector)</a:t>
            </a:r>
            <a:endParaRPr lang="en-US" sz="1300" dirty="0"/>
          </a:p>
        </p:txBody>
      </p:sp>
      <p:sp>
        <p:nvSpPr>
          <p:cNvPr id="8" name="Text 6"/>
          <p:cNvSpPr txBox="1"/>
          <p:nvPr/>
        </p:nvSpPr>
        <p:spPr>
          <a:xfrm>
            <a:off x="685800" y="2084832"/>
            <a:ext cx="3200400" cy="1417320"/>
          </a:xfrm>
          <a:prstGeom prst="rect">
            <a:avLst/>
          </a:prstGeom>
          <a:noFill/>
          <a:ln/>
        </p:spPr>
        <p:txBody>
          <a:bodyPr wrap="square" lIns="0" tIns="0" rIns="0" bIns="0" rtlCol="0" anchor="ctr"/>
          <a:lstStyle/>
          <a:p>
            <a:pPr indent="0" marL="0">
              <a:lnSpc>
                <a:spcPct val="120000"/>
              </a:lnSpc>
              <a:buNone/>
            </a:pPr>
            <a:r>
              <a:rPr lang="en-US" sz="1060" dirty="0">
                <a:solidFill>
                  <a:srgbClr val="44506B"/>
                </a:solidFill>
                <a:latin typeface="Calibri" pitchFamily="34" charset="0"/>
                <a:ea typeface="Calibri" pitchFamily="34" charset="-122"/>
                <a:cs typeface="Calibri" pitchFamily="34" charset="-120"/>
              </a:rPr>
              <a:t>Fixed Query 3's total miss: pure embeddings confused “email address” with 2FA content; the keyword layer correctly matched KB501/KB502.</a:t>
            </a:r>
            <a:endParaRPr lang="en-US" sz="1060" dirty="0"/>
          </a:p>
        </p:txBody>
      </p:sp>
      <p:sp>
        <p:nvSpPr>
          <p:cNvPr id="9" name="Shape 7"/>
          <p:cNvSpPr/>
          <p:nvPr/>
        </p:nvSpPr>
        <p:spPr>
          <a:xfrm>
            <a:off x="685800" y="3566160"/>
            <a:ext cx="3200400" cy="0"/>
          </a:xfrm>
          <a:prstGeom prst="line">
            <a:avLst/>
          </a:prstGeom>
          <a:noFill/>
          <a:ln w="12700">
            <a:solidFill>
              <a:srgbClr val="C9E5D0"/>
            </a:solidFill>
            <a:prstDash val="solid"/>
          </a:ln>
        </p:spPr>
      </p:sp>
      <p:sp>
        <p:nvSpPr>
          <p:cNvPr id="10" name="Text 8"/>
          <p:cNvSpPr txBox="1"/>
          <p:nvPr/>
        </p:nvSpPr>
        <p:spPr>
          <a:xfrm>
            <a:off x="685800" y="3657600"/>
            <a:ext cx="3200400" cy="320040"/>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Q3: 0.00 → 1.00</a:t>
            </a:r>
            <a:endParaRPr lang="en-US" sz="1250" dirty="0"/>
          </a:p>
        </p:txBody>
      </p:sp>
      <p:sp>
        <p:nvSpPr>
          <p:cNvPr id="11" name="Shape 9"/>
          <p:cNvSpPr/>
          <p:nvPr/>
        </p:nvSpPr>
        <p:spPr>
          <a:xfrm>
            <a:off x="4297680" y="1371600"/>
            <a:ext cx="3657600" cy="2651760"/>
          </a:xfrm>
          <a:prstGeom prst="roundRect">
            <a:avLst>
              <a:gd name="adj" fmla="val 2759"/>
            </a:avLst>
          </a:prstGeom>
          <a:solidFill>
            <a:srgbClr val="E4F6E9"/>
          </a:solidFill>
          <a:ln/>
        </p:spPr>
      </p:sp>
      <p:sp>
        <p:nvSpPr>
          <p:cNvPr id="12" name="Text 10"/>
          <p:cNvSpPr txBox="1"/>
          <p:nvPr/>
        </p:nvSpPr>
        <p:spPr>
          <a:xfrm>
            <a:off x="4526280" y="1536192"/>
            <a:ext cx="3200400" cy="502920"/>
          </a:xfrm>
          <a:prstGeom prst="rect">
            <a:avLst/>
          </a:prstGeom>
          <a:noFill/>
          <a:ln/>
        </p:spPr>
        <p:txBody>
          <a:bodyPr wrap="square" lIns="0" tIns="0" rIns="0" bIns="0" rtlCol="0" anchor="ctr"/>
          <a:lstStyle/>
          <a:p>
            <a:pPr indent="0" marL="0">
              <a:lnSpc>
                <a:spcPct val="110000"/>
              </a:lnSpc>
              <a:buNone/>
            </a:pPr>
            <a:r>
              <a:rPr lang="en-US" sz="1300" b="1" dirty="0">
                <a:solidFill>
                  <a:srgbClr val="1E7A46"/>
                </a:solidFill>
                <a:latin typeface="Calibri" pitchFamily="34" charset="0"/>
                <a:ea typeface="Calibri" pitchFamily="34" charset="-122"/>
                <a:cs typeface="Calibri" pitchFamily="34" charset="-120"/>
              </a:rPr>
              <a:t>Cross-encoder reranking</a:t>
            </a:r>
            <a:endParaRPr lang="en-US" sz="1300" dirty="0"/>
          </a:p>
        </p:txBody>
      </p:sp>
      <p:sp>
        <p:nvSpPr>
          <p:cNvPr id="13" name="Text 11"/>
          <p:cNvSpPr txBox="1"/>
          <p:nvPr/>
        </p:nvSpPr>
        <p:spPr>
          <a:xfrm>
            <a:off x="4526280" y="2084832"/>
            <a:ext cx="3200400" cy="1417320"/>
          </a:xfrm>
          <a:prstGeom prst="rect">
            <a:avLst/>
          </a:prstGeom>
          <a:noFill/>
          <a:ln/>
        </p:spPr>
        <p:txBody>
          <a:bodyPr wrap="square" lIns="0" tIns="0" rIns="0" bIns="0" rtlCol="0" anchor="ctr"/>
          <a:lstStyle/>
          <a:p>
            <a:pPr indent="0" marL="0">
              <a:lnSpc>
                <a:spcPct val="120000"/>
              </a:lnSpc>
              <a:buNone/>
            </a:pPr>
            <a:r>
              <a:rPr lang="en-US" sz="1060" dirty="0">
                <a:solidFill>
                  <a:srgbClr val="44506B"/>
                </a:solidFill>
                <a:latin typeface="Calibri" pitchFamily="34" charset="0"/>
                <a:ea typeface="Calibri" pitchFamily="34" charset="-122"/>
                <a:cs typeface="Calibri" pitchFamily="34" charset="-120"/>
              </a:rPr>
              <a:t>Fixed Query 1's near-miss: KB108 was always retrievable, but reranking pulled it from rank 6 into the top 5, completing the relevant set inside the window.</a:t>
            </a:r>
            <a:endParaRPr lang="en-US" sz="1060" dirty="0"/>
          </a:p>
        </p:txBody>
      </p:sp>
      <p:sp>
        <p:nvSpPr>
          <p:cNvPr id="14" name="Shape 12"/>
          <p:cNvSpPr/>
          <p:nvPr/>
        </p:nvSpPr>
        <p:spPr>
          <a:xfrm>
            <a:off x="4526280" y="3566160"/>
            <a:ext cx="3200400" cy="0"/>
          </a:xfrm>
          <a:prstGeom prst="line">
            <a:avLst/>
          </a:prstGeom>
          <a:noFill/>
          <a:ln w="12700">
            <a:solidFill>
              <a:srgbClr val="C9E5D0"/>
            </a:solidFill>
            <a:prstDash val="solid"/>
          </a:ln>
        </p:spPr>
      </p:sp>
      <p:sp>
        <p:nvSpPr>
          <p:cNvPr id="15" name="Text 13"/>
          <p:cNvSpPr txBox="1"/>
          <p:nvPr/>
        </p:nvSpPr>
        <p:spPr>
          <a:xfrm>
            <a:off x="4526280" y="3657600"/>
            <a:ext cx="3200400" cy="320040"/>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Q1: 0.75 → 1.00</a:t>
            </a:r>
            <a:endParaRPr lang="en-US" sz="1250" dirty="0"/>
          </a:p>
        </p:txBody>
      </p:sp>
      <p:sp>
        <p:nvSpPr>
          <p:cNvPr id="16" name="Shape 14"/>
          <p:cNvSpPr/>
          <p:nvPr/>
        </p:nvSpPr>
        <p:spPr>
          <a:xfrm>
            <a:off x="8138160" y="1371600"/>
            <a:ext cx="3657600" cy="2651760"/>
          </a:xfrm>
          <a:prstGeom prst="roundRect">
            <a:avLst>
              <a:gd name="adj" fmla="val 2759"/>
            </a:avLst>
          </a:prstGeom>
          <a:solidFill>
            <a:srgbClr val="E4F6E9"/>
          </a:solidFill>
          <a:ln/>
        </p:spPr>
      </p:sp>
      <p:sp>
        <p:nvSpPr>
          <p:cNvPr id="17" name="Text 15"/>
          <p:cNvSpPr txBox="1"/>
          <p:nvPr/>
        </p:nvSpPr>
        <p:spPr>
          <a:xfrm>
            <a:off x="8366760" y="1536192"/>
            <a:ext cx="3200400" cy="502920"/>
          </a:xfrm>
          <a:prstGeom prst="rect">
            <a:avLst/>
          </a:prstGeom>
          <a:noFill/>
          <a:ln/>
        </p:spPr>
        <p:txBody>
          <a:bodyPr wrap="square" lIns="0" tIns="0" rIns="0" bIns="0" rtlCol="0" anchor="ctr"/>
          <a:lstStyle/>
          <a:p>
            <a:pPr indent="0" marL="0">
              <a:lnSpc>
                <a:spcPct val="110000"/>
              </a:lnSpc>
              <a:buNone/>
            </a:pPr>
            <a:r>
              <a:rPr lang="en-US" sz="1300" b="1" dirty="0">
                <a:solidFill>
                  <a:srgbClr val="1E7A46"/>
                </a:solidFill>
                <a:latin typeface="Calibri" pitchFamily="34" charset="0"/>
                <a:ea typeface="Calibri" pitchFamily="34" charset="-122"/>
                <a:cs typeface="Calibri" pitchFamily="34" charset="-120"/>
              </a:rPr>
              <a:t>Wider candidate pool (larger initial K)</a:t>
            </a:r>
            <a:endParaRPr lang="en-US" sz="1300" dirty="0"/>
          </a:p>
        </p:txBody>
      </p:sp>
      <p:sp>
        <p:nvSpPr>
          <p:cNvPr id="18" name="Text 16"/>
          <p:cNvSpPr txBox="1"/>
          <p:nvPr/>
        </p:nvSpPr>
        <p:spPr>
          <a:xfrm>
            <a:off x="8366760" y="2084832"/>
            <a:ext cx="3200400" cy="1417320"/>
          </a:xfrm>
          <a:prstGeom prst="rect">
            <a:avLst/>
          </a:prstGeom>
          <a:noFill/>
          <a:ln/>
        </p:spPr>
        <p:txBody>
          <a:bodyPr wrap="square" lIns="0" tIns="0" rIns="0" bIns="0" rtlCol="0" anchor="ctr"/>
          <a:lstStyle/>
          <a:p>
            <a:pPr indent="0" marL="0">
              <a:lnSpc>
                <a:spcPct val="120000"/>
              </a:lnSpc>
              <a:buNone/>
            </a:pPr>
            <a:r>
              <a:rPr lang="en-US" sz="1060" dirty="0">
                <a:solidFill>
                  <a:srgbClr val="44506B"/>
                </a:solidFill>
                <a:latin typeface="Calibri" pitchFamily="34" charset="0"/>
                <a:ea typeface="Calibri" pitchFamily="34" charset="-122"/>
                <a:cs typeface="Calibri" pitchFamily="34" charset="-120"/>
              </a:rPr>
              <a:t>A cheaper alternative to reranking when the missing doc is close to the cutoff: retrieve more candidates before truncating to the final K shown to the LLM.</a:t>
            </a:r>
            <a:endParaRPr lang="en-US" sz="1060" dirty="0"/>
          </a:p>
        </p:txBody>
      </p:sp>
      <p:sp>
        <p:nvSpPr>
          <p:cNvPr id="19" name="Shape 17"/>
          <p:cNvSpPr/>
          <p:nvPr/>
        </p:nvSpPr>
        <p:spPr>
          <a:xfrm>
            <a:off x="8366760" y="3566160"/>
            <a:ext cx="3200400" cy="0"/>
          </a:xfrm>
          <a:prstGeom prst="line">
            <a:avLst/>
          </a:prstGeom>
          <a:noFill/>
          <a:ln w="12700">
            <a:solidFill>
              <a:srgbClr val="C9E5D0"/>
            </a:solidFill>
            <a:prstDash val="solid"/>
          </a:ln>
        </p:spPr>
      </p:sp>
      <p:sp>
        <p:nvSpPr>
          <p:cNvPr id="20" name="Text 18"/>
          <p:cNvSpPr txBox="1"/>
          <p:nvPr/>
        </p:nvSpPr>
        <p:spPr>
          <a:xfrm>
            <a:off x="8366760" y="3657600"/>
            <a:ext cx="3200400" cy="320040"/>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(complementary)</a:t>
            </a:r>
            <a:endParaRPr lang="en-US" sz="1250" dirty="0"/>
          </a:p>
        </p:txBody>
      </p:sp>
      <p:sp>
        <p:nvSpPr>
          <p:cNvPr id="21" name="Shape 19"/>
          <p:cNvSpPr/>
          <p:nvPr/>
        </p:nvSpPr>
        <p:spPr>
          <a:xfrm>
            <a:off x="457200" y="4343400"/>
            <a:ext cx="11292840" cy="1737360"/>
          </a:xfrm>
          <a:prstGeom prst="roundRect">
            <a:avLst>
              <a:gd name="adj" fmla="val 4211"/>
            </a:avLst>
          </a:prstGeom>
          <a:solidFill>
            <a:srgbClr val="FDF3E0"/>
          </a:solidFill>
          <a:ln/>
        </p:spPr>
      </p:sp>
      <p:sp>
        <p:nvSpPr>
          <p:cNvPr id="22" name="Text 20"/>
          <p:cNvSpPr txBox="1"/>
          <p:nvPr/>
        </p:nvSpPr>
        <p:spPr>
          <a:xfrm>
            <a:off x="731520" y="4498848"/>
            <a:ext cx="10744200" cy="320040"/>
          </a:xfrm>
          <a:prstGeom prst="rect">
            <a:avLst/>
          </a:prstGeom>
          <a:noFill/>
          <a:ln/>
        </p:spPr>
        <p:txBody>
          <a:bodyPr wrap="square" lIns="0" tIns="0" rIns="0" bIns="0" rtlCol="0" anchor="ctr"/>
          <a:lstStyle/>
          <a:p>
            <a:pPr indent="0" marL="0">
              <a:buNone/>
            </a:pPr>
            <a:r>
              <a:rPr lang="en-US" sz="1400" b="1" dirty="0">
                <a:solidFill>
                  <a:srgbClr val="8A5A10"/>
                </a:solidFill>
                <a:latin typeface="Calibri" pitchFamily="34" charset="0"/>
                <a:ea typeface="Calibri" pitchFamily="34" charset="-122"/>
                <a:cs typeface="Calibri" pitchFamily="34" charset="-120"/>
              </a:rPr>
              <a:t>The important caveat: Recall@5 has a ceiling — Query 2 couldn't improve</a:t>
            </a:r>
            <a:endParaRPr lang="en-US" sz="1400" dirty="0"/>
          </a:p>
        </p:txBody>
      </p:sp>
      <p:sp>
        <p:nvSpPr>
          <p:cNvPr id="23" name="Text 21"/>
          <p:cNvSpPr txBox="1"/>
          <p:nvPr/>
        </p:nvSpPr>
        <p:spPr>
          <a:xfrm>
            <a:off x="731520" y="4846320"/>
            <a:ext cx="10744200" cy="1143000"/>
          </a:xfrm>
          <a:prstGeom prst="rect">
            <a:avLst/>
          </a:prstGeom>
          <a:noFill/>
          <a:ln/>
        </p:spPr>
        <p:txBody>
          <a:bodyPr wrap="square" lIns="0" tIns="0" rIns="0" bIns="0" rtlCol="0" anchor="ctr"/>
          <a:lstStyle/>
          <a:p>
            <a:pPr indent="0" marL="0">
              <a:lnSpc>
                <a:spcPct val="130000"/>
              </a:lnSpc>
              <a:buNone/>
            </a:pPr>
            <a:r>
              <a:rPr lang="en-US" sz="1230" dirty="0">
                <a:solidFill>
                  <a:srgbClr val="8A5A10"/>
                </a:solidFill>
                <a:latin typeface="Calibri" pitchFamily="34" charset="0"/>
                <a:ea typeface="Calibri" pitchFamily="34" charset="-122"/>
                <a:cs typeface="Calibri" pitchFamily="34" charset="-120"/>
              </a:rPr>
              <a:t>Query 2's Baseline already retrieved </a:t>
            </a:r>
            <a:pPr indent="0" marL="0">
              <a:lnSpc>
                <a:spcPct val="130000"/>
              </a:lnSpc>
              <a:buNone/>
            </a:pPr>
            <a:r>
              <a:rPr lang="en-US" sz="1230" b="1" dirty="0">
                <a:solidFill>
                  <a:srgbClr val="8A5A10"/>
                </a:solidFill>
                <a:latin typeface="Calibri" pitchFamily="34" charset="0"/>
                <a:ea typeface="Calibri" pitchFamily="34" charset="-122"/>
                <a:cs typeface="Calibri" pitchFamily="34" charset="-120"/>
              </a:rPr>
              <a:t>all 3</a:t>
            </a:r>
            <a:pPr indent="0" marL="0">
              <a:lnSpc>
                <a:spcPct val="130000"/>
              </a:lnSpc>
              <a:buNone/>
            </a:pPr>
            <a:r>
              <a:rPr lang="en-US" sz="1230" dirty="0">
                <a:solidFill>
                  <a:srgbClr val="8A5A10"/>
                </a:solidFill>
                <a:latin typeface="Calibri" pitchFamily="34" charset="0"/>
                <a:ea typeface="Calibri" pitchFamily="34" charset="-122"/>
                <a:cs typeface="Calibri" pitchFamily="34" charset="-120"/>
              </a:rPr>
              <a:t> relevant documents within the top 5 (Recall@5 = 1.00) — there was nothing left to find, so the Improved system's Recall@5 is unavoidably 1.00 too. This isn't a failure of the improvement; it's a </a:t>
            </a:r>
            <a:pPr indent="0" marL="0">
              <a:lnSpc>
                <a:spcPct val="130000"/>
              </a:lnSpc>
              <a:buNone/>
            </a:pPr>
            <a:r>
              <a:rPr lang="en-US" sz="1230" b="1" i="1" dirty="0">
                <a:solidFill>
                  <a:srgbClr val="8A5A10"/>
                </a:solidFill>
                <a:latin typeface="Calibri" pitchFamily="34" charset="0"/>
                <a:ea typeface="Calibri" pitchFamily="34" charset="-122"/>
                <a:cs typeface="Calibri" pitchFamily="34" charset="-120"/>
              </a:rPr>
              <a:t>ceiling effect</a:t>
            </a:r>
            <a:pPr indent="0" marL="0">
              <a:lnSpc>
                <a:spcPct val="130000"/>
              </a:lnSpc>
              <a:buNone/>
            </a:pPr>
            <a:r>
              <a:rPr lang="en-US" sz="1230" dirty="0">
                <a:solidFill>
                  <a:srgbClr val="8A5A10"/>
                </a:solidFill>
                <a:latin typeface="Calibri" pitchFamily="34" charset="0"/>
                <a:ea typeface="Calibri" pitchFamily="34" charset="-122"/>
                <a:cs typeface="Calibri" pitchFamily="34" charset="-120"/>
              </a:rPr>
              <a:t>: once Recall@K hits 1.0, no technique can push it higher, and the reranker's real benefit for this query (surfacing KB201 first instead of last) shows up only in rank-aware metrics like MRR — not here.</a:t>
            </a:r>
            <a:endParaRPr lang="en-US" sz="123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B2A4A"/>
          </a:solidFill>
          <a:ln/>
        </p:spPr>
      </p:sp>
      <p:sp>
        <p:nvSpPr>
          <p:cNvPr id="3" name="Text 1"/>
          <p:cNvSpPr txBox="1"/>
          <p:nvPr/>
        </p:nvSpPr>
        <p:spPr>
          <a:xfrm>
            <a:off x="548640" y="457200"/>
            <a:ext cx="5486400" cy="320040"/>
          </a:xfrm>
          <a:prstGeom prst="rect">
            <a:avLst/>
          </a:prstGeom>
          <a:noFill/>
          <a:ln/>
        </p:spPr>
        <p:txBody>
          <a:bodyPr wrap="square" lIns="0" tIns="0" rIns="0" bIns="0" rtlCol="0" anchor="ctr"/>
          <a:lstStyle/>
          <a:p>
            <a:pPr indent="0" marL="0">
              <a:buNone/>
            </a:pPr>
            <a:r>
              <a:rPr lang="en-US" sz="1300" b="1" spc="150" kern="0" dirty="0">
                <a:solidFill>
                  <a:srgbClr val="CADCFC"/>
                </a:solidFill>
                <a:latin typeface="Calibri" pitchFamily="34" charset="0"/>
                <a:ea typeface="Calibri" pitchFamily="34" charset="-122"/>
                <a:cs typeface="Calibri" pitchFamily="34" charset="-120"/>
              </a:rPr>
              <a:t>KEY NOTES</a:t>
            </a:r>
            <a:endParaRPr lang="en-US" sz="1300" dirty="0"/>
          </a:p>
        </p:txBody>
      </p:sp>
      <p:sp>
        <p:nvSpPr>
          <p:cNvPr id="4" name="Text 2"/>
          <p:cNvSpPr txBox="1"/>
          <p:nvPr/>
        </p:nvSpPr>
        <p:spPr>
          <a:xfrm>
            <a:off x="548640" y="777240"/>
            <a:ext cx="10058400" cy="5943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Recall@K — What To Remember</a:t>
            </a:r>
            <a:endParaRPr lang="en-US" sz="2800" dirty="0"/>
          </a:p>
        </p:txBody>
      </p:sp>
      <p:sp>
        <p:nvSpPr>
          <p:cNvPr id="5" name="Shape 3"/>
          <p:cNvSpPr/>
          <p:nvPr/>
        </p:nvSpPr>
        <p:spPr>
          <a:xfrm>
            <a:off x="548640" y="1600200"/>
            <a:ext cx="11064240" cy="749808"/>
          </a:xfrm>
          <a:prstGeom prst="roundRect">
            <a:avLst>
              <a:gd name="adj" fmla="val 9756"/>
            </a:avLst>
          </a:prstGeom>
          <a:solidFill>
            <a:srgbClr val="223A5E"/>
          </a:solidFill>
          <a:ln/>
        </p:spPr>
      </p:sp>
      <p:sp>
        <p:nvSpPr>
          <p:cNvPr id="6" name="Shape 4"/>
          <p:cNvSpPr/>
          <p:nvPr/>
        </p:nvSpPr>
        <p:spPr>
          <a:xfrm>
            <a:off x="777240" y="1801368"/>
            <a:ext cx="347472" cy="347472"/>
          </a:xfrm>
          <a:prstGeom prst="ellipse">
            <a:avLst/>
          </a:prstGeom>
          <a:solidFill>
            <a:srgbClr val="2E9E5B"/>
          </a:solidFill>
          <a:ln/>
        </p:spPr>
      </p:sp>
      <p:sp>
        <p:nvSpPr>
          <p:cNvPr id="7" name="Text 5"/>
          <p:cNvSpPr txBox="1"/>
          <p:nvPr/>
        </p:nvSpPr>
        <p:spPr>
          <a:xfrm>
            <a:off x="777240" y="180136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8" name="Text 6"/>
          <p:cNvSpPr txBox="1"/>
          <p:nvPr/>
        </p:nvSpPr>
        <p:spPr>
          <a:xfrm>
            <a:off x="1325880" y="1655064"/>
            <a:ext cx="10104120" cy="640080"/>
          </a:xfrm>
          <a:prstGeom prst="rect">
            <a:avLst/>
          </a:prstGeom>
          <a:noFill/>
          <a:ln/>
        </p:spPr>
        <p:txBody>
          <a:bodyPr wrap="square" lIns="0" tIns="0" rIns="0" bIns="0" rtlCol="0" anchor="ctr"/>
          <a:lstStyle/>
          <a:p>
            <a:pPr indent="0" marL="0">
              <a:lnSpc>
                <a:spcPct val="112000"/>
              </a:lnSpc>
              <a:buNone/>
            </a:pPr>
            <a:r>
              <a:rPr lang="en-US" sz="1210" dirty="0">
                <a:solidFill>
                  <a:srgbClr val="E8EEF9"/>
                </a:solidFill>
                <a:latin typeface="Calibri" pitchFamily="34" charset="0"/>
                <a:ea typeface="Calibri" pitchFamily="34" charset="-122"/>
                <a:cs typeface="Calibri" pitchFamily="34" charset="-120"/>
              </a:rPr>
              <a:t>Recall@K answers “did we find everything relevant,” never “how clean is what we retrieved” — always report it alongside Precision@K.</a:t>
            </a:r>
            <a:endParaRPr lang="en-US" sz="1210" dirty="0"/>
          </a:p>
        </p:txBody>
      </p:sp>
      <p:sp>
        <p:nvSpPr>
          <p:cNvPr id="9" name="Shape 7"/>
          <p:cNvSpPr/>
          <p:nvPr/>
        </p:nvSpPr>
        <p:spPr>
          <a:xfrm>
            <a:off x="548640" y="2441448"/>
            <a:ext cx="11064240" cy="749808"/>
          </a:xfrm>
          <a:prstGeom prst="roundRect">
            <a:avLst>
              <a:gd name="adj" fmla="val 9756"/>
            </a:avLst>
          </a:prstGeom>
          <a:solidFill>
            <a:srgbClr val="223A5E"/>
          </a:solidFill>
          <a:ln/>
        </p:spPr>
      </p:sp>
      <p:sp>
        <p:nvSpPr>
          <p:cNvPr id="10" name="Shape 8"/>
          <p:cNvSpPr/>
          <p:nvPr/>
        </p:nvSpPr>
        <p:spPr>
          <a:xfrm>
            <a:off x="777240" y="2642616"/>
            <a:ext cx="347472" cy="347472"/>
          </a:xfrm>
          <a:prstGeom prst="ellipse">
            <a:avLst/>
          </a:prstGeom>
          <a:solidFill>
            <a:srgbClr val="2E9E5B"/>
          </a:solidFill>
          <a:ln/>
        </p:spPr>
      </p:sp>
      <p:sp>
        <p:nvSpPr>
          <p:cNvPr id="11" name="Text 9"/>
          <p:cNvSpPr txBox="1"/>
          <p:nvPr/>
        </p:nvSpPr>
        <p:spPr>
          <a:xfrm>
            <a:off x="777240" y="2642616"/>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2" name="Text 10"/>
          <p:cNvSpPr txBox="1"/>
          <p:nvPr/>
        </p:nvSpPr>
        <p:spPr>
          <a:xfrm>
            <a:off x="1325880" y="2496312"/>
            <a:ext cx="10104120" cy="640080"/>
          </a:xfrm>
          <a:prstGeom prst="rect">
            <a:avLst/>
          </a:prstGeom>
          <a:noFill/>
          <a:ln/>
        </p:spPr>
        <p:txBody>
          <a:bodyPr wrap="square" lIns="0" tIns="0" rIns="0" bIns="0" rtlCol="0" anchor="ctr"/>
          <a:lstStyle/>
          <a:p>
            <a:pPr indent="0" marL="0">
              <a:lnSpc>
                <a:spcPct val="112000"/>
              </a:lnSpc>
              <a:buNone/>
            </a:pPr>
            <a:r>
              <a:rPr lang="en-US" sz="1210" dirty="0">
                <a:solidFill>
                  <a:srgbClr val="E8EEF9"/>
                </a:solidFill>
                <a:latin typeface="Calibri" pitchFamily="34" charset="0"/>
                <a:ea typeface="Calibri" pitchFamily="34" charset="-122"/>
                <a:cs typeface="Calibri" pitchFamily="34" charset="-120"/>
              </a:rPr>
              <a:t>It is fixed-denominator (|R|) by design — it can only go up or stay flat as K grows, which is exactly why it can be trivially maximized by over-retrieving.</a:t>
            </a:r>
            <a:endParaRPr lang="en-US" sz="1210" dirty="0"/>
          </a:p>
        </p:txBody>
      </p:sp>
      <p:sp>
        <p:nvSpPr>
          <p:cNvPr id="13" name="Shape 11"/>
          <p:cNvSpPr/>
          <p:nvPr/>
        </p:nvSpPr>
        <p:spPr>
          <a:xfrm>
            <a:off x="548640" y="3282696"/>
            <a:ext cx="11064240" cy="749808"/>
          </a:xfrm>
          <a:prstGeom prst="roundRect">
            <a:avLst>
              <a:gd name="adj" fmla="val 9756"/>
            </a:avLst>
          </a:prstGeom>
          <a:solidFill>
            <a:srgbClr val="223A5E"/>
          </a:solidFill>
          <a:ln/>
        </p:spPr>
      </p:sp>
      <p:sp>
        <p:nvSpPr>
          <p:cNvPr id="14" name="Shape 12"/>
          <p:cNvSpPr/>
          <p:nvPr/>
        </p:nvSpPr>
        <p:spPr>
          <a:xfrm>
            <a:off x="777240" y="3483864"/>
            <a:ext cx="347472" cy="347472"/>
          </a:xfrm>
          <a:prstGeom prst="ellipse">
            <a:avLst/>
          </a:prstGeom>
          <a:solidFill>
            <a:srgbClr val="2E9E5B"/>
          </a:solidFill>
          <a:ln/>
        </p:spPr>
      </p:sp>
      <p:sp>
        <p:nvSpPr>
          <p:cNvPr id="15" name="Text 13"/>
          <p:cNvSpPr txBox="1"/>
          <p:nvPr/>
        </p:nvSpPr>
        <p:spPr>
          <a:xfrm>
            <a:off x="777240" y="348386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6" name="Text 14"/>
          <p:cNvSpPr txBox="1"/>
          <p:nvPr/>
        </p:nvSpPr>
        <p:spPr>
          <a:xfrm>
            <a:off x="1325880" y="3337560"/>
            <a:ext cx="10104120" cy="640080"/>
          </a:xfrm>
          <a:prstGeom prst="rect">
            <a:avLst/>
          </a:prstGeom>
          <a:noFill/>
          <a:ln/>
        </p:spPr>
        <p:txBody>
          <a:bodyPr wrap="square" lIns="0" tIns="0" rIns="0" bIns="0" rtlCol="0" anchor="ctr"/>
          <a:lstStyle/>
          <a:p>
            <a:pPr indent="0" marL="0">
              <a:lnSpc>
                <a:spcPct val="112000"/>
              </a:lnSpc>
              <a:buNone/>
            </a:pPr>
            <a:r>
              <a:rPr lang="en-US" sz="1210" dirty="0">
                <a:solidFill>
                  <a:srgbClr val="E8EEF9"/>
                </a:solidFill>
                <a:latin typeface="Calibri" pitchFamily="34" charset="0"/>
                <a:ea typeface="Calibri" pitchFamily="34" charset="-122"/>
                <a:cs typeface="Calibri" pitchFamily="34" charset="-120"/>
              </a:rPr>
              <a:t>It's just as blind to ranking order and relevance grade as Precision@K — these are shared weaknesses of any “set overlap” metric, not unique quirks.</a:t>
            </a:r>
            <a:endParaRPr lang="en-US" sz="1210" dirty="0"/>
          </a:p>
        </p:txBody>
      </p:sp>
      <p:sp>
        <p:nvSpPr>
          <p:cNvPr id="17" name="Shape 15"/>
          <p:cNvSpPr/>
          <p:nvPr/>
        </p:nvSpPr>
        <p:spPr>
          <a:xfrm>
            <a:off x="548640" y="4123944"/>
            <a:ext cx="11064240" cy="749808"/>
          </a:xfrm>
          <a:prstGeom prst="roundRect">
            <a:avLst>
              <a:gd name="adj" fmla="val 9756"/>
            </a:avLst>
          </a:prstGeom>
          <a:solidFill>
            <a:srgbClr val="223A5E"/>
          </a:solidFill>
          <a:ln/>
        </p:spPr>
      </p:sp>
      <p:sp>
        <p:nvSpPr>
          <p:cNvPr id="18" name="Shape 16"/>
          <p:cNvSpPr/>
          <p:nvPr/>
        </p:nvSpPr>
        <p:spPr>
          <a:xfrm>
            <a:off x="777240" y="4325112"/>
            <a:ext cx="347472" cy="347472"/>
          </a:xfrm>
          <a:prstGeom prst="ellipse">
            <a:avLst/>
          </a:prstGeom>
          <a:solidFill>
            <a:srgbClr val="2E9E5B"/>
          </a:solidFill>
          <a:ln/>
        </p:spPr>
      </p:sp>
      <p:sp>
        <p:nvSpPr>
          <p:cNvPr id="19" name="Text 17"/>
          <p:cNvSpPr txBox="1"/>
          <p:nvPr/>
        </p:nvSpPr>
        <p:spPr>
          <a:xfrm>
            <a:off x="777240" y="432511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0" name="Text 18"/>
          <p:cNvSpPr txBox="1"/>
          <p:nvPr/>
        </p:nvSpPr>
        <p:spPr>
          <a:xfrm>
            <a:off x="1325880" y="4178808"/>
            <a:ext cx="10104120" cy="640080"/>
          </a:xfrm>
          <a:prstGeom prst="rect">
            <a:avLst/>
          </a:prstGeom>
          <a:noFill/>
          <a:ln/>
        </p:spPr>
        <p:txBody>
          <a:bodyPr wrap="square" lIns="0" tIns="0" rIns="0" bIns="0" rtlCol="0" anchor="ctr"/>
          <a:lstStyle/>
          <a:p>
            <a:pPr indent="0" marL="0">
              <a:lnSpc>
                <a:spcPct val="112000"/>
              </a:lnSpc>
              <a:buNone/>
            </a:pPr>
            <a:r>
              <a:rPr lang="en-US" sz="1210" dirty="0">
                <a:solidFill>
                  <a:srgbClr val="E8EEF9"/>
                </a:solidFill>
                <a:latin typeface="Calibri" pitchFamily="34" charset="0"/>
                <a:ea typeface="Calibri" pitchFamily="34" charset="-122"/>
                <a:cs typeface="Calibri" pitchFamily="34" charset="-120"/>
              </a:rPr>
              <a:t>It's only as trustworthy as your ground truth — an incomplete |R| silently inflates every Recall@K number you report.</a:t>
            </a:r>
            <a:endParaRPr lang="en-US" sz="1210" dirty="0"/>
          </a:p>
        </p:txBody>
      </p:sp>
      <p:sp>
        <p:nvSpPr>
          <p:cNvPr id="21" name="Shape 19"/>
          <p:cNvSpPr/>
          <p:nvPr/>
        </p:nvSpPr>
        <p:spPr>
          <a:xfrm>
            <a:off x="548640" y="4965192"/>
            <a:ext cx="11064240" cy="749808"/>
          </a:xfrm>
          <a:prstGeom prst="roundRect">
            <a:avLst>
              <a:gd name="adj" fmla="val 9756"/>
            </a:avLst>
          </a:prstGeom>
          <a:solidFill>
            <a:srgbClr val="223A5E"/>
          </a:solidFill>
          <a:ln/>
        </p:spPr>
      </p:sp>
      <p:sp>
        <p:nvSpPr>
          <p:cNvPr id="22" name="Shape 20"/>
          <p:cNvSpPr/>
          <p:nvPr/>
        </p:nvSpPr>
        <p:spPr>
          <a:xfrm>
            <a:off x="777240" y="5166360"/>
            <a:ext cx="347472" cy="347472"/>
          </a:xfrm>
          <a:prstGeom prst="ellipse">
            <a:avLst/>
          </a:prstGeom>
          <a:solidFill>
            <a:srgbClr val="2E9E5B"/>
          </a:solidFill>
          <a:ln/>
        </p:spPr>
      </p:sp>
      <p:sp>
        <p:nvSpPr>
          <p:cNvPr id="23" name="Text 21"/>
          <p:cNvSpPr txBox="1"/>
          <p:nvPr/>
        </p:nvSpPr>
        <p:spPr>
          <a:xfrm>
            <a:off x="777240" y="516636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4" name="Text 22"/>
          <p:cNvSpPr txBox="1"/>
          <p:nvPr/>
        </p:nvSpPr>
        <p:spPr>
          <a:xfrm>
            <a:off x="1325880" y="5020056"/>
            <a:ext cx="10104120" cy="640080"/>
          </a:xfrm>
          <a:prstGeom prst="rect">
            <a:avLst/>
          </a:prstGeom>
          <a:noFill/>
          <a:ln/>
        </p:spPr>
        <p:txBody>
          <a:bodyPr wrap="square" lIns="0" tIns="0" rIns="0" bIns="0" rtlCol="0" anchor="ctr"/>
          <a:lstStyle/>
          <a:p>
            <a:pPr indent="0" marL="0">
              <a:lnSpc>
                <a:spcPct val="112000"/>
              </a:lnSpc>
              <a:buNone/>
            </a:pPr>
            <a:r>
              <a:rPr lang="en-US" sz="1210" dirty="0">
                <a:solidFill>
                  <a:srgbClr val="E8EEF9"/>
                </a:solidFill>
                <a:latin typeface="Calibri" pitchFamily="34" charset="0"/>
                <a:ea typeface="Calibri" pitchFamily="34" charset="-122"/>
                <a:cs typeface="Calibri" pitchFamily="34" charset="-120"/>
              </a:rPr>
              <a:t>In our dataset, hybrid search fixed a total miss (Query 3) and reranking closed a near-miss (Query 1) — but Query 2 hit a ceiling at 1.00 where no technique could improve it further.</a:t>
            </a:r>
            <a:endParaRPr lang="en-US" sz="1210" dirty="0"/>
          </a:p>
        </p:txBody>
      </p:sp>
      <p:sp>
        <p:nvSpPr>
          <p:cNvPr id="25" name="Shape 23"/>
          <p:cNvSpPr/>
          <p:nvPr/>
        </p:nvSpPr>
        <p:spPr>
          <a:xfrm>
            <a:off x="548640" y="5806440"/>
            <a:ext cx="11064240" cy="749808"/>
          </a:xfrm>
          <a:prstGeom prst="roundRect">
            <a:avLst>
              <a:gd name="adj" fmla="val 9756"/>
            </a:avLst>
          </a:prstGeom>
          <a:solidFill>
            <a:srgbClr val="223A5E"/>
          </a:solidFill>
          <a:ln/>
        </p:spPr>
      </p:sp>
      <p:sp>
        <p:nvSpPr>
          <p:cNvPr id="26" name="Shape 24"/>
          <p:cNvSpPr/>
          <p:nvPr/>
        </p:nvSpPr>
        <p:spPr>
          <a:xfrm>
            <a:off x="777240" y="6007608"/>
            <a:ext cx="347472" cy="347472"/>
          </a:xfrm>
          <a:prstGeom prst="ellipse">
            <a:avLst/>
          </a:prstGeom>
          <a:solidFill>
            <a:srgbClr val="2E9E5B"/>
          </a:solidFill>
          <a:ln/>
        </p:spPr>
      </p:sp>
      <p:sp>
        <p:nvSpPr>
          <p:cNvPr id="27" name="Text 25"/>
          <p:cNvSpPr txBox="1"/>
          <p:nvPr/>
        </p:nvSpPr>
        <p:spPr>
          <a:xfrm>
            <a:off x="777240" y="600760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8" name="Text 26"/>
          <p:cNvSpPr txBox="1"/>
          <p:nvPr/>
        </p:nvSpPr>
        <p:spPr>
          <a:xfrm>
            <a:off x="1325880" y="5861304"/>
            <a:ext cx="10104120" cy="640080"/>
          </a:xfrm>
          <a:prstGeom prst="rect">
            <a:avLst/>
          </a:prstGeom>
          <a:noFill/>
          <a:ln/>
        </p:spPr>
        <p:txBody>
          <a:bodyPr wrap="square" lIns="0" tIns="0" rIns="0" bIns="0" rtlCol="0" anchor="ctr"/>
          <a:lstStyle/>
          <a:p>
            <a:pPr indent="0" marL="0">
              <a:lnSpc>
                <a:spcPct val="112000"/>
              </a:lnSpc>
              <a:buNone/>
            </a:pPr>
            <a:r>
              <a:rPr lang="en-US" sz="1210" dirty="0">
                <a:solidFill>
                  <a:srgbClr val="E8EEF9"/>
                </a:solidFill>
                <a:latin typeface="Calibri" pitchFamily="34" charset="0"/>
                <a:ea typeface="Calibri" pitchFamily="34" charset="-122"/>
                <a:cs typeface="Calibri" pitchFamily="34" charset="-120"/>
              </a:rPr>
              <a:t>Rule of thumb: a system with Recall@K = 1.0 isn't necessarily good — check what K it needed, and pair it with Precision@K, MRR, and NDCG@K before deciding.</a:t>
            </a:r>
            <a:endParaRPr lang="en-US" sz="1210" dirty="0"/>
          </a:p>
        </p:txBody>
      </p:sp>
      <p:sp>
        <p:nvSpPr>
          <p:cNvPr id="29" name="Text 27"/>
          <p:cNvSpPr txBox="1"/>
          <p:nvPr/>
        </p:nvSpPr>
        <p:spPr>
          <a:xfrm>
            <a:off x="11292840" y="6519672"/>
            <a:ext cx="594360" cy="274320"/>
          </a:xfrm>
          <a:prstGeom prst="rect">
            <a:avLst/>
          </a:prstGeom>
          <a:noFill/>
          <a:ln/>
        </p:spPr>
        <p:txBody>
          <a:bodyPr wrap="square" lIns="0" tIns="0" rIns="0" bIns="0" rtlCol="0" anchor="ctr"/>
          <a:lstStyle/>
          <a:p>
            <a:pPr algn="r" indent="0" marL="0">
              <a:buNone/>
            </a:pPr>
            <a:r>
              <a:rPr lang="en-US" sz="900" dirty="0">
                <a:solidFill>
                  <a:srgbClr val="8592AC"/>
                </a:solidFill>
                <a:latin typeface="Calibri" pitchFamily="34" charset="0"/>
                <a:ea typeface="Calibri" pitchFamily="34" charset="-122"/>
                <a:cs typeface="Calibri" pitchFamily="34" charset="-120"/>
              </a:rPr>
              <a:t>13 / 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2026-09-22T07:08:28Z</dcterms:created>
  <dcterms:modified xsi:type="dcterms:W3CDTF">2026-09-22T07:08:28Z</dcterms:modified>
</cp:coreProperties>
</file>