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23A5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METRIC DEEP DIVE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ranking ordered by relevance quality, not just relevance?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0698480" cy="2697480"/>
          </a:xfrm>
          <a:prstGeom prst="roundRect">
            <a:avLst>
              <a:gd name="adj" fmla="val 2712"/>
            </a:avLst>
          </a:prstGeom>
          <a:solidFill>
            <a:srgbClr val="223A5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our shared dataset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(2FA reset · 2FA setup · change email) against a shared SaaS knowledge-base corpus, retrieved by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systems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naive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(embedding similarity only) and an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(hybrid search + cross-encoder reranker). NDCG is the only metric in this series that uses the 0–3 graded relevance labels directly.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14016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414016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73552" y="516636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73552" y="516636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33088" y="516636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33088" y="516636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96712" y="51663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5166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Failure Modes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662672" y="516636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62672" y="51663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516636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26880" y="516636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INTUITION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NDCG@K Measure?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version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116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metric in this series treats relevance as yes/no. NDCG@K is different — it uses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relevance (0–3) and asks two things at once:
</a:t>
            </a:r>
            <a:pPr indent="0" marL="0">
              <a:lnSpc>
                <a:spcPct val="130000"/>
              </a:lnSpc>
              <a:buNone/>
            </a:pPr>
            <a:r>
              <a:rPr lang="en-US" sz="13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BEST documents ranked HIGHEST?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highly-relevant doc at rank 1 earns full credit; the same doc at rank 8 earns much less — discounted by its position.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475488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754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0749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can only show the LLM 3 chunks, are they the 3 BEST chunks, in the best order — or just 3 that happen to be relevant?”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37160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E7EF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grade-3 document at rank 1 contributes far more to the score than the same grade-3 document sitting at rank 8.”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4F6E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3337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NDCG@K means: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are relevant docs present — the BEST ones are ranked highest, exactly the ordering an LLM benefits most from.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572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7091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NDCG@K means: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029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relevant docs are missing, or the best ones are buried beneath weaker matches near the top.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Mathematical Definition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536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Discounted Cumulative Gain: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874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DCG@K</a:t>
            </a:r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Σ</a:t>
            </a:r>
            <a:pPr indent="0" marL="0">
              <a:buNone/>
            </a:pPr>
            <a:r>
              <a:rPr lang="en-US" sz="19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i=1..K</a:t>
            </a:r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rel</a:t>
            </a:r>
            <a:pPr indent="0" marL="0">
              <a:buNone/>
            </a:pPr>
            <a:r>
              <a:rPr lang="en-US" sz="19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/ log</a:t>
            </a:r>
            <a:pPr indent="0" marL="0">
              <a:buNone/>
            </a:pPr>
            <a:r>
              <a:rPr lang="en-US" sz="1900" i="1" baseline="-400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</a:t>
            </a:r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(i+1)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over each retrieved rank i, the grade divided by a discount that grows with rank.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959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Normalize by the ideal ranking: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1596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NDCG@K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315968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DCG@K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244291" y="4864608"/>
            <a:ext cx="2015338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4892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IDCG@K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72200" y="137160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15361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020824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56832" y="18562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relᵢ = </a:t>
            </a:r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graded relevance (e.g. 0–3) of the document at rank i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446520" y="2953512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56832" y="2788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log₂(i+1) = </a:t>
            </a:r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discount — grows as rank i increases, so lower-ranked docs count for less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446520" y="3886200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56832" y="37216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IDCG@K = </a:t>
            </a:r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DCG of the ideal ranking — the same documents sorted by grade, highest first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6446520" y="4818888"/>
            <a:ext cx="82296" cy="82296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56832" y="4654296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3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= </a:t>
            </a:r>
            <a:pPr indent="0" marL="0">
              <a:lnSpc>
                <a:spcPct val="120000"/>
              </a:lnSpc>
              <a:buNone/>
            </a:pPr>
            <a:r>
              <a:rPr lang="en-US" sz="123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DCG@K ÷ IDCG@K — normalized to 0–1 so scores are comparable across queries with different grade distributions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DATA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1, Baseline System — Graded Relevance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E7EF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 </a:t>
            </a:r>
            <a:pPr indent="0" marL="0">
              <a:buNone/>
            </a:pPr>
            <a:r>
              <a:rPr lang="en-US" sz="128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reset my two-factor authentication (2FA)?”    </a:t>
            </a:r>
            <a:pPr indent="0" marL="0">
              <a:buNone/>
            </a:pPr>
            <a:r>
              <a:rPr lang="en-US" sz="12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grades:  KB103=3, KB105=2, KB108=2, KB110=1</a:t>
            </a:r>
            <a:endParaRPr lang="en-US" sz="128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77724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429768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(0–3)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2FA Login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2FA — Setup 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2FA — Step-by-Step Guide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Backup Codes for 2FA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FAQ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58200" y="224028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0" y="23957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table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0" y="2843784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869680" y="27340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 column (not just Yes/No) is what makes NDCG different from every other metric so far.</a:t>
            </a:r>
            <a:endParaRPr lang="en-US" sz="1070" dirty="0"/>
          </a:p>
        </p:txBody>
      </p:sp>
      <p:sp>
        <p:nvSpPr>
          <p:cNvPr id="13" name="Shape 10"/>
          <p:cNvSpPr/>
          <p:nvPr/>
        </p:nvSpPr>
        <p:spPr>
          <a:xfrm>
            <a:off x="8686800" y="3758184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69680" y="36484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KB103 is the single best match (grade 3) — but it's sitting at rank 3, not rank 1.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8686800" y="4672584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869680" y="45628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KB105 (grade 2, a good-but-not-best match) is the one ranked first instead.</a:t>
            </a:r>
            <a:endParaRPr lang="en-US" sz="1070" dirty="0"/>
          </a:p>
        </p:txBody>
      </p:sp>
      <p:sp>
        <p:nvSpPr>
          <p:cNvPr id="17" name="Shape 14"/>
          <p:cNvSpPr/>
          <p:nvPr/>
        </p:nvSpPr>
        <p:spPr>
          <a:xfrm>
            <a:off x="8686800" y="5586984"/>
            <a:ext cx="73152" cy="73152"/>
          </a:xfrm>
          <a:prstGeom prst="ellipse">
            <a:avLst/>
          </a:prstGeom>
          <a:solidFill>
            <a:srgbClr val="5A7CA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9680" y="54772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ranking has all the right documents, but in a quality-suboptimal order — exactly what NDCG is built to penalize.</a:t>
            </a:r>
            <a:endParaRPr lang="en-US" sz="107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355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compute DCG, IDCG, and NDCG@5 for this exact ranking next.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CALCULATION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Step-by-Step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1, Baseline system, K = 5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309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371600"/>
                <a:gridCol w="137160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(relᵢ)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log₂(i+1)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relᵢ/log₂(i+1)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49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DCG@5 = 2.000 + 0 + 1.500 + 0.431 + 0 = 3.931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60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ranking (sorted by grade, best first) → IDCG@5: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0560"/>
          <a:ext cx="6309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7200" y="61081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IDCG@5 = 3.000 + 1.262 + 1.000 + 0.431 = 5.693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949440" y="1508760"/>
            <a:ext cx="4800600" cy="1737360"/>
          </a:xfrm>
          <a:prstGeom prst="roundRect">
            <a:avLst>
              <a:gd name="adj" fmla="val 4211"/>
            </a:avLst>
          </a:prstGeom>
          <a:solidFill>
            <a:srgbClr val="223A5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223760" y="1645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223760" y="221284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2688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326880" y="22128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6949440" y="3429000"/>
            <a:ext cx="4800600" cy="2971800"/>
          </a:xfrm>
          <a:prstGeom prst="roundRect">
            <a:avLst>
              <a:gd name="adj" fmla="val 2462"/>
            </a:avLst>
          </a:prstGeom>
          <a:solidFill>
            <a:srgbClr val="E4F6E9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223760" y="3584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3931920"/>
            <a:ext cx="4251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3.931 / 5.693 = 0.69. Our ranking isn't ideal — KB103 (grade 3, the best doc) sits at rank 3 instead of rank 1, so its contribution is discounted more than it should be. At K=10 the score rises to 0.82 as the remaining relevant doc (KB108) is folded in, even though it's still not perfectly placed.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1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True Grades, NDCG Can't See Its Own Blind Spot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Query 1 Baseline ranking, scored two ways: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true graded labels (0–3)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114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= 0.69 — correctly penalized: the single best doc (KB103) is buried at rank 3.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binary labels (relevant = 1)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“Grade”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592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1148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= 0.75 — looks BETTER, because “relevant” KB103 and KB105 now count as equally good.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5120640"/>
            <a:ext cx="11292840" cy="1234440"/>
          </a:xfrm>
          <a:prstGeom prst="roundRect">
            <a:avLst>
              <a:gd name="adj" fmla="val 5926"/>
            </a:avLst>
          </a:prstGeom>
          <a:solidFill>
            <a:srgbClr val="FDEA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276088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ranking, two different scores — 0.69 vs. 0.75. 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NDCG's entire value proposition depends on having genuinely graded relevance labels. Collapse them to binary and NDCG stops being able to see its own signature failure mode — burying the best document beneath a merely-okay one — and quietly reports a rosier number instead.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2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“NDCG” Isn't One Formula — It's a Family of Them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Query 1 Baseline ranking, K = 5, scored with two different (both widely used) gain formulas: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20440"/>
                <a:gridCol w="35204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(grade)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gain = relᵢ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gain = 2^relᵢ − 1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(grade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(grade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(grade 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 (grade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8620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4041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Linear-gain NDCG@5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43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263640" y="38862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4041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Exponential-gain NDCG@5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4343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457200" y="5623560"/>
            <a:ext cx="11292840" cy="868680"/>
          </a:xfrm>
          <a:prstGeom prst="roundRect">
            <a:avLst>
              <a:gd name="adj" fmla="val 8421"/>
            </a:avLst>
          </a:prstGeom>
          <a:solidFill>
            <a:srgbClr val="FDEA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57607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2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ranking, a real 0.05 gap.  </a:t>
            </a:r>
            <a:pPr indent="0" marL="0">
              <a:lnSpc>
                <a:spcPct val="125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gain (used in most industry search benchmarks) weights the grade-3 document far more heavily than linear gain does — which drops the score once you realize it's misplaced. “What's your NDCG?” is an incomplete question until you also ask which gain formula was used.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3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Document Is Worth Different Amounts by Position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fixed grade-2 document and slide it down the ranking — its DCG contribution (2 / log₂(rank+1)):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27048"/>
                <a:gridCol w="1527048"/>
                <a:gridCol w="1527048"/>
                <a:gridCol w="1527048"/>
                <a:gridCol w="1527048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29718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 → Rank 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down just ONE position near the top costs: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2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−0.738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263640" y="29718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37960" y="31272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9 → Rank 10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4564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down one position near the bottom costs only: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3931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−0.024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457200" y="5120640"/>
            <a:ext cx="11292840" cy="1188720"/>
          </a:xfrm>
          <a:prstGeom prst="roundRect">
            <a:avLst>
              <a:gd name="adj" fmla="val 6154"/>
            </a:avLst>
          </a:prstGeom>
          <a:solidFill>
            <a:srgbClr val="FDEA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1520" y="5276088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one-rank slip costs 30x more at the top than at the bottom.  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is heavily front-loaded by design — which is usually the right trade-off for what users actually see, but it means real quality differences deep in a long ranking are almost invisible to the score, however consequential they might be for a downstream system reading further down.</a:t>
            </a:r>
            <a:endParaRPr lang="en-US" sz="12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WHERE IT FAILS  —  FAILURE 4 OF 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Incomplete Ideal Ranking Quietly Inflates the Score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92840" cy="1417320"/>
          </a:xfrm>
          <a:prstGeom prst="roundRect">
            <a:avLst>
              <a:gd name="adj" fmla="val 5161"/>
            </a:avLst>
          </a:prstGeom>
          <a:solidFill>
            <a:srgbClr val="E7EF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63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755648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the missed document from the Recall@K deck: </a:t>
            </a:r>
            <a:pPr indent="0" marL="0">
              <a:lnSpc>
                <a:spcPct val="125000"/>
              </a:lnSpc>
              <a:buNone/>
            </a:pPr>
            <a:r>
              <a:rPr lang="en-US" sz="123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KB115 — “Recovering 2FA Access After Device Loss”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(grade 2), never added to ground truth. It doesn't just affect Recall — it also means our </a:t>
            </a:r>
            <a:pPr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ranking</a:t>
            </a:r>
            <a:pPr indent="0" marL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IDCG was built without it.</a:t>
            </a:r>
            <a:endParaRPr lang="en-US" sz="12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474720"/>
                <a:gridCol w="1554480"/>
                <a:gridCol w="173736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ranking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IDCG@5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DCG@5 (unchanged)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(KB115 missing)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KB103,KB105,KB108,KB110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(KB115 included)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KB103,KB105,KB108,KB115,…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B23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709160"/>
            <a:ext cx="11292840" cy="1691640"/>
          </a:xfrm>
          <a:prstGeom prst="roundRect">
            <a:avLst>
              <a:gd name="adj" fmla="val 4324"/>
            </a:avLst>
          </a:prstGeom>
          <a:solidFill>
            <a:srgbClr val="FDEA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48463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138928"/>
            <a:ext cx="10744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one missed grade-2 document to the ideal ranking raises IDCG from 5.693 to 6.510 — and since the retriever's actual DCG doesn't change, reported NDCG drops from </a:t>
            </a:r>
            <a:pPr indent="0" marL="0">
              <a:lnSpc>
                <a:spcPct val="126000"/>
              </a:lnSpc>
              <a:buNone/>
            </a:pPr>
            <a:r>
              <a:rPr lang="en-US" sz="122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 to a true 0.60</a:t>
            </a:r>
            <a:pPr indent="0" marL="0">
              <a:lnSpc>
                <a:spcPct val="126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9-point overstatement. Unlike Recall's ground-truth problem (missing a doc from |R|), NDCG has a second exposure: getting the </a:t>
            </a:r>
            <a:pPr indent="0" marL="0">
              <a:lnSpc>
                <a:spcPct val="126000"/>
              </a:lnSpc>
              <a:buNone/>
            </a:pPr>
            <a:r>
              <a:rPr lang="en-US" sz="122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pPr indent="0" marL="0">
              <a:lnSpc>
                <a:spcPct val="126000"/>
              </a:lnSpc>
              <a:buNone/>
            </a:pPr>
            <a:r>
              <a:rPr lang="en-US" sz="1220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wrong on documents you did include distorts IDCG just as much as missing one entirely.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Same Queries — What Changed?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plain embedding similarity.  Improved = hybrid (BM25 + vector) search + a cross-encoder reranker.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“reset my 2FA” — grade by rank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(g2)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(g3)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KB108 (g2)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KB103 (g3)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KB105 (g2)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 (g1)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KB302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KB110 (g1)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4251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reranker moved the grade-3 doc (KB103) from rank 3 to rank 1 — exactly the reordering-by-quality that NDCG rewards most heavily.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44068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101600" dist="25400" dir="5400000">
              <a:srgbClr val="3A4A6B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537960" y="1755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“set up 2FA” — grade by rank</a:t>
            </a:r>
            <a:endParaRPr lang="en-US" sz="13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03120"/>
          <a:ext cx="4937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KB305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(g3)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KB201 (g3)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KB210 (g2)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KB210 (g2)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KB410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KB215 (g1)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KB215 (g1)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KB305 (g0)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537960" y="4251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pattern: the grade-3 doc (KB201) moved from rank 2 to rank 1, and the grade-0 noise (KB305) was pushed to the very bottom.</a:t>
            </a:r>
            <a:endParaRPr lang="en-US" sz="108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let's put numbers on exactly how much this improved NDCG@5.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NDCG@5 — Before vs. After, All 3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NDCG@5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NDCG@5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— reset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— set up 2FA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— change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554480"/>
            <a:ext cx="3383280" cy="4023360"/>
          </a:xfrm>
          <a:prstGeom prst="roundRect">
            <a:avLst>
              <a:gd name="adj" fmla="val 2162"/>
            </a:avLst>
          </a:prstGeom>
          <a:solidFill>
            <a:srgbClr val="223A5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4108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NDCG@5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2331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9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+0.53 absolute  —  more than double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623560"/>
            <a:ext cx="11292840" cy="822960"/>
          </a:xfrm>
          <a:prstGeom prst="roundRect">
            <a:avLst>
              <a:gd name="adj" fmla="val 8889"/>
            </a:avLst>
          </a:prstGeom>
          <a:solidFill>
            <a:srgbClr val="E4F6E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" y="57607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largest improvement of any metric in this series so far. NDCG rewards both finding relevant docs AND ordering them by grade — the Improved system does both well, nearly maxing out the metric across all three queries.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HOW TO IMPROVE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Technique Fixed What?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5196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NDCG-aligned technique that exists — it directly optimizes for placing the highest-grade document first, which is exactly what NDCG rewards.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0.69 → 0.99  ·  Q2: 0.69 → 0.99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(BM25 + vector)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Query 3's total miss and, as a bonus, retrieved the 2 relevant docs in exactly the right grade order on the first try.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52628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0.00 → 1.00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E4F6E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5361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Learning-to-rank on graded labels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08483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4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production systems, train the reranker directly against NDCG-style objectives (e.g. LambdaMART) rather than a proxy binary-relevance loss.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8366760" y="3566160"/>
            <a:ext cx="3200400" cy="0"/>
          </a:xfrm>
          <a:prstGeom prst="line">
            <a:avLst/>
          </a:prstGeom>
          <a:noFill/>
          <a:ln w="12700">
            <a:solidFill>
              <a:srgbClr val="C9E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general-purpose version of this)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92840" cy="1737360"/>
          </a:xfrm>
          <a:prstGeom prst="roundRect">
            <a:avLst>
              <a:gd name="adj" fmla="val 4211"/>
            </a:avLst>
          </a:prstGeom>
          <a:solidFill>
            <a:srgbClr val="FDF3E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498848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caveat: Query 3 hit the absolute ceiling — NDCG@5 = 1.00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84632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DCG@K exactly equals IDCG@K, the ranking </a:t>
            </a:r>
            <a:pPr indent="0" marL="0">
              <a:lnSpc>
                <a:spcPct val="130000"/>
              </a:lnSpc>
              <a:buNone/>
            </a:pPr>
            <a:r>
              <a:rPr lang="en-US" sz="1230" b="1" i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pPr indent="0" marL="0">
              <a:lnSpc>
                <a:spcPct val="130000"/>
              </a:lnSpc>
              <a:buNone/>
            </a:pPr>
            <a:r>
              <a:rPr lang="en-US" sz="1230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ideal ranking — there is no better order the 2 relevant documents could possibly be in. No reranker, no amount of tuning, can push Query 3 higher than 1.00. </a:t>
            </a:r>
            <a:pPr indent="0" marL="0">
              <a:lnSpc>
                <a:spcPct val="130000"/>
              </a:lnSpc>
              <a:buNone/>
            </a:pPr>
            <a:r>
              <a:rPr lang="en-US" sz="1230" b="1" dirty="0">
                <a:solidFill>
                  <a:srgbClr val="8A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raise this ceiling further would be for the corpus itself to contain even better-matching content than KB501 and KB502 — an improvement to the knowledge base, not the retriever.</a:t>
            </a:r>
            <a:endParaRPr lang="en-US" sz="12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NDCG@K — 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0136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5506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 is the only metric in this series that uses graded relevance — it rewards ranking the BEST documents highest, not just finding relevant ones.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42616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496312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only as good as its labels twice over: it needs genuinely graded relevance judgments, AND a complete, correctly-graded ideal ranking to normalize against.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483864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33756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“NDCG” isn't one formula — linear vs. exponential gain can move the score by several points on the identical ranking. Always ask which variant is being reported.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325112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4178808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MRR, its log discount is heavily front-loaded — a one-rank slip near the top costs far more than the same slip deep in the list.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548640" y="496519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166360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20056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dataset, cross-encoder reranking was the single most NDCG-aligned technique — it directly rewards the exact behavior (placing the best-grade doc first) that reranking is trained to do, producing the largest improvement of any metric in this series (0.46 → 0.99).</a:t>
            </a:r>
            <a:endParaRPr lang="en-US" sz="116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23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6007608"/>
            <a:ext cx="347472" cy="34747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6007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861304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6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you have graded relevance labels, NDCG@K is usually the single best summary of ranking quality — but always pair it with Recall@K to confirm nothing relevant is missing entirely.</a:t>
            </a:r>
            <a:endParaRPr lang="en-US" sz="1160" dirty="0"/>
          </a:p>
        </p:txBody>
      </p:sp>
      <p:sp>
        <p:nvSpPr>
          <p:cNvPr id="29" name="Text 27"/>
          <p:cNvSpPr txBox="1"/>
          <p:nvPr/>
        </p:nvSpPr>
        <p:spPr>
          <a:xfrm>
            <a:off x="11292840" y="65196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2026-09-23T11:04:28Z</dcterms:created>
  <dcterms:modified xsi:type="dcterms:W3CDTF">2026-09-23T11:04:28Z</dcterms:modified>
</cp:coreProperties>
</file>