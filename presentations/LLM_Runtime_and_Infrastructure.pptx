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INFERENCE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828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</a:t>
            </a:r>
            <a:pPr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Batching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Caching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Parallelism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Disaggregation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production LLM serving stacks turn raw GPUs into fast, cheap tokens.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pillars: Runtime and Infrastructure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489"/>
            </a:avLst>
          </a:prstGeom>
          <a:solidFill>
            <a:srgbClr val="12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2011680" cy="457200"/>
          </a:xfrm>
          <a:prstGeom prst="roundRect">
            <a:avLst>
              <a:gd name="adj" fmla="val 60000"/>
            </a:avLst>
          </a:prstGeom>
          <a:solidFill>
            <a:srgbClr val="0F3D36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performance techniques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B27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0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88036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B27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880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38328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B27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38328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B27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3383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B27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86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Parallelism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388620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1B274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886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Disaggregation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· SGLang · TensorRT-LLM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 →  CUDA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1691640"/>
            <a:ext cx="5532120" cy="4297680"/>
          </a:xfrm>
          <a:prstGeom prst="roundRect">
            <a:avLst>
              <a:gd name="adj" fmla="val 1489"/>
            </a:avLst>
          </a:prstGeom>
          <a:solidFill>
            <a:srgbClr val="121B2E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1874520"/>
            <a:ext cx="2377440" cy="457200"/>
          </a:xfrm>
          <a:prstGeom prst="roundRect">
            <a:avLst>
              <a:gd name="adj" fmla="val 60000"/>
            </a:avLst>
          </a:prstGeom>
          <a:solidFill>
            <a:srgbClr val="3D2E0F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Serving-layer concerns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2880360"/>
            <a:ext cx="4937760" cy="365760"/>
          </a:xfrm>
          <a:prstGeom prst="roundRect">
            <a:avLst>
              <a:gd name="adj" fmla="val 12500"/>
            </a:avLst>
          </a:prstGeom>
          <a:solidFill>
            <a:srgbClr val="1B274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3337560"/>
            <a:ext cx="4937760" cy="365760"/>
          </a:xfrm>
          <a:prstGeom prst="roundRect">
            <a:avLst>
              <a:gd name="adj" fmla="val 12500"/>
            </a:avLst>
          </a:prstGeom>
          <a:solidFill>
            <a:srgbClr val="1B274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Balancing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3794760"/>
            <a:ext cx="4937760" cy="365760"/>
          </a:xfrm>
          <a:prstGeom prst="roundRect">
            <a:avLst>
              <a:gd name="adj" fmla="val 12500"/>
            </a:avLst>
          </a:prstGeom>
          <a:solidFill>
            <a:srgbClr val="1B274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Autoscaling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5080" y="4251960"/>
            <a:ext cx="4937760" cy="365760"/>
          </a:xfrm>
          <a:prstGeom prst="roundRect">
            <a:avLst>
              <a:gd name="adj" fmla="val 12500"/>
            </a:avLst>
          </a:prstGeom>
          <a:solidFill>
            <a:srgbClr val="1B2740"/>
          </a:solidFill>
          <a:ln w="9525">
            <a:solidFill>
              <a:srgbClr val="F5A5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Multi-Cloud Capacity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GPUs · Storage · Networking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— MODEL PERFORMANCE TECHNIQUES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techniques that make inference fast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targets a different bottleneck — compute, memory bandwidth, or latency. Production stacks combine several at once.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requests to keep the GPU busy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2423160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25603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71416" y="306324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 KV states instead of recomputing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2423160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5603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11312" y="306324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shrink weights/activations to move less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95928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651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3308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63600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ahead, verify in parallel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88536" y="3995928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651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1416" y="413308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Parallelism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71416" y="463600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the model across GPUs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28432" y="3995928"/>
            <a:ext cx="3584448" cy="1417320"/>
          </a:xfrm>
          <a:prstGeom prst="roundRect">
            <a:avLst>
              <a:gd name="adj" fmla="val 4516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413308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Disaggregation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11312" y="4636008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prefill and decode compute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1 — BATCHING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 batching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batching waits for a fixed group of requests. Continuous batching admits new requests into the running batch every decode step, so a finished sequence's slot is reused immediately.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 — continuous batching config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LLM(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model="meta-llama/Llama-3.1-8B-Instruct",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max_num_seqs=256,          # max concurrent sequences in a batch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max_num_batched_tokens=8192 # token budget per forward pass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utilization jumps from ~30-40% (static batching, idle on stragglers) to 70-90%+, since no slot ever sits empty waiting for the slowest sequence in the batch to finish.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2 — CACHING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cache &amp; prefix caching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generated token's key/value tensors are cached so attention doesn't recompute the full sequence each step. Prefix caching extends this across requests that share a prompt prefix (e.g. a system prompt).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49240" cy="1965960"/>
          </a:xfrm>
          <a:prstGeom prst="roundRect">
            <a:avLst>
              <a:gd name="adj" fmla="val 3256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LLM(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model=MODEL,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enable_prefix_caching=True,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gpu_memory_utilization=0.9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651760"/>
            <a:ext cx="5532120" cy="1965960"/>
          </a:xfrm>
          <a:prstGeom prst="roundRect">
            <a:avLst>
              <a:gd name="adj" fmla="val 3256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78892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SGLang — RadixAttention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sglang.launch_server \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--model-path $MODEL \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--disable-radix-cache=False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automatic prefix-tree sharing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006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cache size ≈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layers × heads × head_dim × seq_len × batch × 2 bytes (fp16)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this is why long context windows are memory-, not compute-, bound.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3 — QUANTIZATION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weights (and sometimes activations/KV cache) in fewer bits. Less data to move from HBM to compute cores means higher throughput, at some accuracy cost.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1920240"/>
          </a:xfrm>
          <a:prstGeom prst="roundRect">
            <a:avLst>
              <a:gd name="adj" fmla="val 3333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517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 — serve an AWQ 4-bit checkpoint on H100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serve TheBloke/Llama-3-8B-AWQ \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--quantization awq \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--dtype float16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native FP8 on Hopper/Blackwell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serve $MODEL --quantization fp8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73659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FP16 → INT8:  ~2× memory reduction, minimal accuracy loss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510235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FP16 → INT4 (AWQ/GPTQ):  ~4× memory reduction, small quality drop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4681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FP8 (H100/B200 native):  near-FP16 accuracy, ~2× throughput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4 — SPECULATION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Speculative decoding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small draft model (or n-gram/EAGLE head) proposes several tokens ahead; the large target model verifies them all in a single forward pass, accepting the matching prefix.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1965960"/>
          </a:xfrm>
          <a:prstGeom prst="roundRect">
            <a:avLst>
              <a:gd name="adj" fmla="val 3256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 — EAGLE speculative decoding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LLM(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model=TARGET_MODEL,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speculative_config={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"method": "eagle", "model": DRAFT_MODEL,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"num_speculative_tokens": 5,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 depends on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 rate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how often the target model agrees with the draft. Typical gains: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1.5×–3×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latency reduction for low-entropy tasks like code and structured output.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5 — PARALLELISM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Tensor, pipeline &amp; expert parallelism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model too big for one GPU gets split across many. Different splits trade off communication overhead differently.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 Parallel (TP)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54880" y="22402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each layer's matrices across GPUs — needs fast NVLink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Parallel (PP)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54880" y="3108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layers into stages across GPUs — tolerates slower links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 Parallel (EP)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MoE experts to different GPUs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serve $MODEL --tensor-parallel-size 8 --pipeline-parallel-size 2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16-GPU deployment: 8-way TP within a node, 2-way PP across nodes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6 — DISAGGREGATION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Prefill/decode disaggregation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Prefill (processing the prompt) is compute-bound; decode (generating tokens) is memory-bandwidth-bound. Running both on the same GPU pool wastes one or the other. Disaggregation splits them onto separate GPU pools connected by fast KV transfer.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017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Prefill Pool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compute-heavy, short-lived, optimized for throughput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33088" y="288036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88536" y="2880360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3017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Transfer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25696" y="3429000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NIXL / RDMA over InfiniBand moves KV cache between pools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72984" y="2880360"/>
            <a:ext cx="155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28432" y="2880360"/>
            <a:ext cx="3584448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017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Pool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65592" y="3429000"/>
            <a:ext cx="3310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memory-bandwidth-bound, long-lived, optimized for latency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vLLM disaggregated serving (P/D split)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serve $MODEL --kv-transfer-config '{"kv_connector":"NixlConnector",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"kv_role":"kv_producer"}'   # prefill instance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decode instance uses "kv_role":"kv_consumer"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 — FRAMEWORKS &amp;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runtime software stack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PagedAttention · continuous batching · broadest model support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737360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5696" y="1874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SGLang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25696" y="228600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RadixAttention prefix caching · structured/constrained decoding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28432" y="1737360"/>
            <a:ext cx="3584448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8745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TensorRT-LLM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65592" y="228600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NVIDIA-optimized kernels · best raw throughput on NVIDIA GPUs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built 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94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PyTorch  —  eager execution + torch.compile graph capture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built 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21B2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  —  kernels, memory management, NCCL for multi-GPU collectives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Beyond the model: serving-layer concerns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a perfectly optimized runtime needs infrastructure around it to serve traffic reliably, cheaply, and at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587752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6060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replica handles this request?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2468880"/>
            <a:ext cx="2587752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6060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Balancing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154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 load without hotspots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2468880"/>
            <a:ext cx="2587752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26060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Autoscaling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08192" y="3154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add/remove GPU capacity on demand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23376" y="2468880"/>
            <a:ext cx="2587752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33104" y="26060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Multi-Cloud Capacity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33104" y="315468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GPUs across providers &amp; regions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Underneath all of it: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GPUs, storage, and networking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the physical resources everything above is scheduled onto.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— ROUTING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Cache-aware request routing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round-robin ignores that a replica which already has a request's prefix cached will serve it far faster. Modern gateways route by cache locality, not just load.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llm-d / AIBrix-style gateway routing policy (conceptual)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strategy: prefix-cache-aware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fallback: least-outstanding-requests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cache_hit_bonus_weight: 0.7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805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 sharing a system prompt or few-shot examples land on the same replica, turning prefix caching (see Caching, earlier) into a fleet-wide optimization instead of a single-node one.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— LOAD BALANCING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balancing algorithms compared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846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Algorithm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Signal used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Weakness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Round Robin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 (sequential)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ignores request length / GPU load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Least Connections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 request count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 requests can still stack up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Power-of-Two-Choices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 2, pick less loaded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good default, low overhead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Queue-Depth Aware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pending + running requests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 for variable-length LLM output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B274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7091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production LLM serving,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queue-depth-aware balancing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usually wins — request duration varies 100×+ depending on output length.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— AUTOSCALING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Autoscaling on GPU-aware metrics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CPU-based Kubernetes HPA is meaningless for LLM serving — GPUs are the bottleneck. Scale on queue depth or GPU utilization instead, via a custom metrics adapter (e.g. KEDA).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2788920"/>
          </a:xfrm>
          <a:prstGeom prst="roundRect">
            <a:avLst>
              <a:gd name="adj" fmla="val 2295"/>
            </a:avLst>
          </a:prstGeom>
          <a:solidFill>
            <a:srgbClr val="0D1526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51760"/>
            <a:ext cx="10607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KEDA ScaledObject — scale vLLM pods on queue depth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keda.sh/v1alpha1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ScaledObject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scaleTargetRef: {name: vllm-deployment}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minReplicaCount: 2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maxReplicaCount: 32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triggers: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type: prometheus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metadata: {query: "vllm:num_requests_waiting", threshold: "5"}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— MULTI-CLOUD CAPACITY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Multi-cloud capacity management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supply is scarce and regional. Production systems mix commitment types and providers to keep capacity available and cost under control.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Reserved / CUDs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24231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guaranteed capacity, lowest risk, highest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On-Demand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0560" y="3291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flexible, no commitment, most expensive per hour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60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Spot / Preemptible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80560" y="4160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60-90% cheaper, can be reclaimed — pair with checkpointing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121B2E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29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Cross-region / cross-cloud failover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80560" y="5029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to secondary region when primary is capacity-constrained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— HARDWARE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GPUs, storage, and networking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84448" cy="2834640"/>
          </a:xfrm>
          <a:prstGeom prst="roundRect">
            <a:avLst>
              <a:gd name="adj" fmla="val 2258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H100: 80GB HBM3, 3.35TB/s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H200: 141GB HBM3e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B200: 192GB HBM3e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bandwidth, not FLOPs, usually caps decode throughput.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84448" cy="2834640"/>
          </a:xfrm>
          <a:prstGeom prst="roundRect">
            <a:avLst>
              <a:gd name="adj" fmla="val 2258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NVLink/NVSwitch: 900GB/s intra-node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InfiniBand/RoCE: 400Gb/s inter-node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for tensor parallelism and KV transfer in disaggregation.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474720" cy="2834640"/>
          </a:xfrm>
          <a:prstGeom prst="roundRect">
            <a:avLst>
              <a:gd name="adj" fmla="val 225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286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NVMe: model weight loading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store: checkpoints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RAM: KV cache offload tier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1B27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006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stack is only as fast as its slowest tier: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compute, memory bandwidth, and interconnect must scale together.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line per layer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121B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73736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 batching keeps GPUs busy — no idle slots waiting on stragglers.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121B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591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2359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+ prefix caching avoid recomputation within and across requests.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80944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12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809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98094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fewer bits moved per token = higher throughput, small accuracy trade.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12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0273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Speculation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60273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draft-then-verify trades extra compute for lower latency.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12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Parallelism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422452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the model to fit — TP for speed, PP for scale.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512064"/>
          </a:xfrm>
          <a:prstGeom prst="roundRect">
            <a:avLst>
              <a:gd name="adj" fmla="val 12500"/>
            </a:avLst>
          </a:prstGeom>
          <a:solidFill>
            <a:srgbClr val="12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463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Disaggregation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4846320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prefill and decode have opposite bottlenecks — don't share a pool.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(routing, balancing, autoscaling, capacity) turns single-node gains into fleet-wide reliability and cost efficiency.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pPr indent="0" marL="0">
              <a:buNone/>
            </a:pPr>
            <a:r>
              <a:rPr lang="en-US" sz="950" dirty="0">
                <a:solidFill>
                  <a:srgbClr val="556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linkedin.com/in/anantram-patel-a4796b234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828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this useful?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connect.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777240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Anantram Patel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709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linkedin.com/in/anantram-patel-a4796b234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2026-09-20T09:10:11Z</dcterms:created>
  <dcterms:modified xsi:type="dcterms:W3CDTF">2026-09-20T09:10:11Z</dcterms:modified>
</cp:coreProperties>
</file>