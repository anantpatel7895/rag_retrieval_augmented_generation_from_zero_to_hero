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498DB"/>
                </a:solidFill>
                <a:latin typeface="Aptos"/>
              </a:rPr>
              <a:t>RAG MODEL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7680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How do you detect answer-quality
degradation before users notice?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DB8C7"/>
                </a:solidFill>
                <a:latin typeface="Aptos"/>
              </a:rPr>
              <a:t>A production monitoring approach for RAG &amp; LLM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Aptos"/>
              </a:rPr>
              <a:t>Question → Architecture → Metrics → Drift Detection → Alerts</a:t>
            </a:r>
          </a:p>
        </p:txBody>
      </p:sp>
      <p:pic>
        <p:nvPicPr>
          <p:cNvPr id="6" name="Picture 5" descr="RAG_monitor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685800"/>
            <a:ext cx="3154680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685800"/>
            <a:ext cx="3154680" cy="4892040"/>
          </a:xfrm>
          <a:prstGeom prst="rect">
            <a:avLst/>
          </a:prstGeom>
          <a:noFill/>
          <a:ln w="19050"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8C7"/>
                </a:solidFill>
                <a:latin typeface="Aptos"/>
              </a:rPr>
              <a:t>AI / ML • GenAI • RAG • LLM 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8C7"/>
                </a:solidFill>
                <a:latin typeface="Aptos"/>
              </a:rPr>
              <a:t>A realistic production failure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27080" cy="132588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105156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Your RAG system worked well 3 months ago. Now answers feel “off”, but your code has not changed. The LLM provider silently updated the underlying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How would you build a monitoring system that detects: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3383280" cy="15087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73152" cy="1508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01  MODEL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70248"/>
            <a:ext cx="297180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Detect changes in model behavior even when the API/model name remains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03320"/>
            <a:ext cx="3383280" cy="15087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703320"/>
            <a:ext cx="73152" cy="15087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6791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02  ANSWER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70248"/>
            <a:ext cx="297180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Detect declining faithfulness, relevance, groundedness and citation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703320"/>
            <a:ext cx="3383280" cy="15087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703320"/>
            <a:ext cx="73152" cy="1508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86791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AF50"/>
                </a:solidFill>
                <a:latin typeface="Aptos"/>
              </a:rPr>
              <a:t>03  BEFORE USERS NOTICE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70248"/>
            <a:ext cx="297180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Use baselines, canary evaluations and alerts to catch statistically meaningful changes early.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Why Traditional Monitoring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Your service can be technically healthy while the answers get worse.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429000" cy="32918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73152" cy="3291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AF50"/>
                </a:solidFill>
                <a:latin typeface="Aptos"/>
              </a:rPr>
              <a:t>APPLICATION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3017520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✓ HTTP 200
✓ Low latency
✓ CPU normal
✓ Memory normal
✓ No exceptions
✓ Vector DB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29000" cy="32918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73152" cy="3291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RAG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41448"/>
            <a:ext cx="3017520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✓ Documents retrieved
✓ Similarity scores stable
✓ Retrieval latency stable
✓ Prompt unchanged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429000" cy="32918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74519"/>
            <a:ext cx="73152" cy="32918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41448"/>
            <a:ext cx="3017520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✗ Answers less precise
✗ More unsupported claims
✗ Worse instruction following
✗ More irrelevant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Aptos"/>
              </a:rPr>
              <a:t>Key idea: monitor QUALITY, not just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Production RAG Monitoring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8C7"/>
                </a:solidFill>
                <a:latin typeface="Aptos"/>
              </a:rPr>
              <a:t>Capture traces first; evaluate quality second; detect drift third.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RAG
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8568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OpenTelemetry
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Metrics + Logs
+ 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Evaluation
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Drift
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11680"/>
            <a:ext cx="1417320" cy="960120"/>
          </a:xfrm>
          <a:prstGeom prst="roundRect">
            <a:avLst/>
          </a:prstGeom>
          <a:solidFill>
            <a:srgbClr val="111B2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7" y="2084832"/>
            <a:ext cx="119786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Alerting
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2496312"/>
            <a:ext cx="228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2496312"/>
            <a:ext cx="32004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2496312"/>
            <a:ext cx="32004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" y="2496312"/>
            <a:ext cx="32004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496312"/>
            <a:ext cx="32004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37033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7315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TRACE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702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Query • retrieved chunks • scores • prompt version • model identifier • response • latency •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033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0332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QUALITY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702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Faithfulness • context precision/recall • answer relevance • citation correctness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033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703320"/>
            <a:ext cx="73152" cy="14173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DECISION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702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Baseline • current score • delta • affected slice • likely failure layer • alert severity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DB8C7"/>
                </a:solidFill>
                <a:latin typeface="Aptos"/>
              </a:rPr>
              <a:t>For regulated environments: redact/anonymize sensitive prompts, contexts and responses.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1 — Instrument Every RAG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 useful trace should make the answer reproducible and diagnosable.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" cy="1051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query, timestamp, tenant/domain,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783080"/>
            <a:ext cx="73152" cy="10515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50008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document IDs, chunk IDs, similarity scores, top-K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75887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prompt/template version, system instructions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10896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108960"/>
            <a:ext cx="73152" cy="1051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735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AF50"/>
                </a:solidFill>
                <a:latin typeface="Aptos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75887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provider, model ID, model/version metadata,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73152" cy="10515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01768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response, tokens, finish reason, latency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434840"/>
            <a:ext cx="5166360" cy="10515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434840"/>
            <a:ext cx="73152" cy="1051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59943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01768"/>
            <a:ext cx="4754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quality scores, evaluator version,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978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DB8C7"/>
                </a:solidFill>
                <a:latin typeface="Aptos"/>
              </a:rPr>
              <a:t>Privacy principle: do not store sensitive raw data unless there is a justified, protected use case.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2 — Measure RAG Quality at Multiple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74720" cy="434340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4343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RETRIEVAL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92807"/>
            <a:ext cx="3063239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• Recall@K
• Precision@K
• MRR / NDCG
• Context precision
• Context recall
• Similarity-score distribution
• Empty retrieval rate
• Retrieval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34340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43434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GENERATION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3063239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• Faithfulness
• Answer relevance
• Groundedness
• Instruction following
• Citation correctness
• Unsupported-claim rate
• Refusal / fallback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474720" cy="434340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73152" cy="4343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SYSTEM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92807"/>
            <a:ext cx="3063239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• End-to-end quality
• p50 / p95 latency
• Cost per request
• Token usage
• Error rate
• User feedback
• Quality by domain / language / query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DB8C7"/>
                </a:solidFill>
                <a:latin typeface="Aptos"/>
              </a:rPr>
              <a:t>Never rely on one LLM-as-a-judge score. Combine automated evaluation, deterministic checks and sampled human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3 — Build a Golden Evaluation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8C7"/>
                </a:solidFill>
                <a:latin typeface="Aptos"/>
              </a:rPr>
              <a:t>This is your early-warning system for silent provider/model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11680" cy="1097280"/>
          </a:xfrm>
          <a:prstGeom prst="roundRect">
            <a:avLst/>
          </a:prstGeom>
          <a:solidFill>
            <a:srgbClr val="111B2A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47672"/>
            <a:ext cx="1792224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Representative
Golden Questions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2423160"/>
            <a:ext cx="960120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874519"/>
            <a:ext cx="2011680" cy="109728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7328" y="1947672"/>
            <a:ext cx="1792224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Production
RAG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0" y="2423160"/>
            <a:ext cx="96012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29400" y="1874519"/>
            <a:ext cx="2011680" cy="1097280"/>
          </a:xfrm>
          <a:prstGeom prst="roundRect">
            <a:avLst/>
          </a:prstGeom>
          <a:solidFill>
            <a:srgbClr val="111B2A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947672"/>
            <a:ext cx="1792224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Evaluation
Engine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2423160"/>
            <a:ext cx="960120" cy="0"/>
          </a:xfrm>
          <a:prstGeom prst="line">
            <a:avLst/>
          </a:prstGeom>
          <a:ln w="254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1874519"/>
            <a:ext cx="1828800" cy="1097280"/>
          </a:xfrm>
          <a:prstGeom prst="roundRect">
            <a:avLst/>
          </a:prstGeom>
          <a:solidFill>
            <a:srgbClr val="111B2A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1947672"/>
            <a:ext cx="1609344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Baseline vs
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03320"/>
            <a:ext cx="32461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6791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WHAT GOES INTO THE SET?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28346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Common user intents + high-risk cases + edge cases + known failure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703320"/>
            <a:ext cx="32461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703320"/>
            <a:ext cx="7315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86791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HOW OFTEN?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70248"/>
            <a:ext cx="28346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Hourly for critical systems, or less frequently when cost/latency matters. Run more often around deployments.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703320"/>
            <a:ext cx="379476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3703320"/>
            <a:ext cx="7315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867911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WHAT DO WE COMPARE?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70248"/>
            <a:ext cx="33832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Current scores vs historical baseline and/or a frozen reference configuration.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4 — Detect Statistical Quality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Do not alert on a single noisy score. Detect sustained changes against a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424160" cy="2148840"/>
          </a:xfrm>
          <a:prstGeom prst="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2697480"/>
            <a:ext cx="9966960" cy="0"/>
          </a:xfrm>
          <a:prstGeom prst="line">
            <a:avLst/>
          </a:prstGeom>
          <a:ln w="19050">
            <a:solidFill>
              <a:srgbClr val="ADB8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" y="24231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DB8C7"/>
                </a:solidFill>
                <a:latin typeface="Aptos"/>
              </a:rPr>
              <a:t>baseline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920240" y="2560320"/>
            <a:ext cx="1005839" cy="91440"/>
          </a:xfrm>
          <a:prstGeom prst="line">
            <a:avLst/>
          </a:prstGeom>
          <a:ln w="381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26079" y="2560320"/>
            <a:ext cx="1005841" cy="109728"/>
          </a:xfrm>
          <a:prstGeom prst="line">
            <a:avLst/>
          </a:prstGeom>
          <a:ln w="381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931920" y="2578608"/>
            <a:ext cx="1005840" cy="91440"/>
          </a:xfrm>
          <a:prstGeom prst="line">
            <a:avLst/>
          </a:prstGeom>
          <a:ln w="381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2578608"/>
            <a:ext cx="1005840" cy="27432"/>
          </a:xfrm>
          <a:prstGeom prst="line">
            <a:avLst/>
          </a:prstGeom>
          <a:ln w="381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2606040"/>
            <a:ext cx="1005840" cy="137160"/>
          </a:xfrm>
          <a:prstGeom prst="line">
            <a:avLst/>
          </a:prstGeom>
          <a:ln w="381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743200"/>
            <a:ext cx="1005839" cy="137160"/>
          </a:xfrm>
          <a:prstGeom prst="line">
            <a:avLst/>
          </a:prstGeom>
          <a:ln w="3810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79" y="2880360"/>
            <a:ext cx="1005841" cy="182880"/>
          </a:xfrm>
          <a:prstGeom prst="line">
            <a:avLst/>
          </a:prstGeom>
          <a:ln w="3810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61120" y="3063240"/>
            <a:ext cx="1005840" cy="118872"/>
          </a:xfrm>
          <a:prstGeom prst="line">
            <a:avLst/>
          </a:prstGeom>
          <a:ln w="3810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0" y="3182112"/>
            <a:ext cx="1005840" cy="91440"/>
          </a:xfrm>
          <a:prstGeom prst="line">
            <a:avLst/>
          </a:prstGeom>
          <a:ln w="3810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3675887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5B5B"/>
                </a:solidFill>
                <a:latin typeface="Aptos"/>
              </a:rPr>
              <a:t>quality degradation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2514600" cy="12344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434840"/>
            <a:ext cx="73152" cy="1234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943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ROLLING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01768"/>
            <a:ext cx="21031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Track moving mean/std over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434840"/>
            <a:ext cx="2514600" cy="12344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4434840"/>
            <a:ext cx="73152" cy="1234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59943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EWMA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01768"/>
            <a:ext cx="21031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Smooth noise and highlight persistent shifts.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434840"/>
            <a:ext cx="2514600" cy="12344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434840"/>
            <a:ext cx="7315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9943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CUSUM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01768"/>
            <a:ext cx="21031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Detect small sustained changes quickly.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4434840"/>
            <a:ext cx="2514600" cy="123444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4434840"/>
            <a:ext cx="73152" cy="12344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59943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CHANGE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001768"/>
            <a:ext cx="21031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Identify when behavior distribution shifted.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5 — Localize the Source of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Different symptoms point to different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828800" cy="59436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10512"/>
            <a:ext cx="1609344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737360"/>
            <a:ext cx="2011680" cy="59436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810512"/>
            <a:ext cx="1792224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37360"/>
            <a:ext cx="6035040" cy="594360"/>
          </a:xfrm>
          <a:prstGeom prst="roundRect">
            <a:avLst/>
          </a:prstGeom>
          <a:solidFill>
            <a:srgbClr val="111B2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76088" y="1810512"/>
            <a:ext cx="5815583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Likely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5B5B"/>
                </a:solidFill>
                <a:latin typeface="Aptos"/>
              </a:rPr>
              <a:t>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017520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5B5B"/>
                </a:solidFill>
                <a:latin typeface="Aptos"/>
              </a:rPr>
              <a:t>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017520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66360" y="251460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Retriever / embeddings / knowledge 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017520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227832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730752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80360" y="322783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5B5B"/>
                </a:solidFill>
                <a:latin typeface="Aptos"/>
              </a:rPr>
              <a:t>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730752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3227832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LLM / prompt / generation behavior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730752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941064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5B5B"/>
                </a:solidFill>
                <a:latin typeface="Aptos"/>
              </a:rPr>
              <a:t>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4443984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80360" y="3941064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443984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66360" y="3941064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Retrieval pipeline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443984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654296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Stable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157216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80360" y="465429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5157216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66360" y="4654296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No meaningful quality degradation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157216"/>
            <a:ext cx="10469880" cy="0"/>
          </a:xfrm>
          <a:prstGeom prst="line">
            <a:avLst/>
          </a:prstGeom>
          <a:ln w="8890">
            <a:solidFill>
              <a:srgbClr val="2F3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20" y="5440680"/>
            <a:ext cx="3383280" cy="8229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440680"/>
            <a:ext cx="73152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0527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DATA 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6007608"/>
            <a:ext cx="2971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User query distribution changes.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440680"/>
            <a:ext cx="3383280" cy="8229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5440680"/>
            <a:ext cx="73152" cy="822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560527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PROMPT DRIFT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6007608"/>
            <a:ext cx="2971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Template/system instruction changes.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440680"/>
            <a:ext cx="3154680" cy="82296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5440680"/>
            <a:ext cx="73152" cy="8229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56052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MODEL DRIFT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6007608"/>
            <a:ext cx="27432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Provider behavior changes.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Step 6 — Make Alerts Actionable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An alert should tell the engineer what changed, how much, and where to investigate.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10789920" cy="338328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73152" cy="338328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🚨 RAG QUALITY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1037844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Environment: Production
Model: provider-model-x
Faithfulness        7-day baseline: 0.92   →   Current: 0.79   (−14.1%)
Context Recall      baseline: 0.91          →   Current: 0.90   (−1.1%)
Retrieval latency   Stable
Prompt version      Unchanged
Retriever           Unchanged
Likely investigation path: generation/model behavior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Aptos"/>
              </a:rPr>
              <a:t>Severity can be based on magnitude × duration × affected traffic × business criticality.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A Practical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OpenTelemetry • Prometheus • Grafana • structured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7315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Aptos"/>
              </a:rPr>
              <a:t>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Trace ID across API → retrieval → reranking → LLM →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RAGAS / custom evaluators / LLM-as-judge + deterministic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107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AF50"/>
                </a:solidFill>
                <a:latin typeface="Aptos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Postgres / ClickHouse / warehouse for metrics and evaluation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461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246120"/>
            <a:ext cx="73152" cy="14173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4107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130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Rolling statistics • EWMA • CUSUM • change-point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46120"/>
            <a:ext cx="3474720" cy="14173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246120"/>
            <a:ext cx="7315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4107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ALERTING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1304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Slack / email / PagerDuty / incident-management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DB8C7"/>
                </a:solidFill>
                <a:latin typeface="Aptos"/>
              </a:rPr>
              <a:t>The exact tools can change; the architecture and evaluation principles are the important part.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Interview Answer — In 30 Seconds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10789920" cy="3474720"/>
          </a:xfrm>
          <a:prstGeom prst="roundRect">
            <a:avLst/>
          </a:prstGeom>
          <a:solidFill>
            <a:srgbClr val="111B2A"/>
          </a:solidFill>
          <a:ln>
            <a:solidFill>
              <a:srgbClr val="2F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3152" cy="3474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98DB"/>
                </a:solidFill>
                <a:latin typeface="Aptos"/>
              </a:rPr>
              <a:t>MY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1037844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“I would treat RAG observability as a multi-layer evaluation problem. I would instrument retrieval, generation and end-to-end traces using OpenTelemetry, capturing retrieved chunks, scores, prompt version, model metadata, latency and token usage.
For quality, I would maintain a representative golden dataset and periodically evaluate the production model on faithfulness, context precision/recall, answer relevance and citation correctness. I would compare these metrics against historical baselines using rolling statistics and change-point detection.
If retrieval remains stable but answer quality drops suddenly, that is a strong signal of generation/model drift — exactly the type of silent provider update described in the scenario.”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EC4B6"/>
                </a:solidFill>
                <a:latin typeface="Aptos"/>
              </a:rPr>
              <a:t>Monitor → Evaluate → Baseline → Detect → Localize → Alert → Investigate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  <a:latin typeface="Aptos"/>
              </a:rPr>
              <a:t>Key takeaway: RAG systems need quality observability, not just infrastructure observability.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DB8C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