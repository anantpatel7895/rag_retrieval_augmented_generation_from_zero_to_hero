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SEARCH INDEXES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8288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SEARCH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INDEXES</a:t>
            </a:r>
            <a:pPr indent="0" marL="0">
              <a:buNone/>
            </a:pPr>
            <a:r>
              <a:rPr lang="en-US" sz="4400" b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 DETAILED GUIDE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22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search billions of embeddings fast — without checking every vector.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 search vectors, not text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 search, RAG, recommendations, and image search all store data as vectors (embeddings) — typically 384–3072 dimensions.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12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love machine learning."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[0.123, -0.992, 0.445, ..., 0.381]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1B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3434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a query comes in, we convert it to a vector and search for the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 vectors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this is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 Neighbor Search (NNS).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 we need indexes?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Searching every vector one by one becomes increasingly expensive as datasets grow.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587752" cy="822960"/>
          </a:xfrm>
          <a:prstGeom prst="roundRect">
            <a:avLst>
              <a:gd name="adj" fmla="val 7778"/>
            </a:avLst>
          </a:prstGeom>
          <a:solidFill>
            <a:srgbClr val="121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73552" y="2286000"/>
            <a:ext cx="2587752" cy="822960"/>
          </a:xfrm>
          <a:prstGeom prst="roundRect">
            <a:avLst>
              <a:gd name="adj" fmla="val 7778"/>
            </a:avLst>
          </a:prstGeom>
          <a:solidFill>
            <a:srgbClr val="121B2E"/>
          </a:solidFill>
          <a:ln/>
        </p:spPr>
      </p:sp>
      <p:sp>
        <p:nvSpPr>
          <p:cNvPr id="8" name="Text 6"/>
          <p:cNvSpPr/>
          <p:nvPr/>
        </p:nvSpPr>
        <p:spPr>
          <a:xfrm>
            <a:off x="3273552" y="2286000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million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98464" y="2286000"/>
            <a:ext cx="2587752" cy="822960"/>
          </a:xfrm>
          <a:prstGeom prst="roundRect">
            <a:avLst>
              <a:gd name="adj" fmla="val 7778"/>
            </a:avLst>
          </a:prstGeom>
          <a:solidFill>
            <a:srgbClr val="121B2E"/>
          </a:solidFill>
          <a:ln/>
        </p:spPr>
      </p:sp>
      <p:sp>
        <p:nvSpPr>
          <p:cNvPr id="10" name="Text 8"/>
          <p:cNvSpPr/>
          <p:nvPr/>
        </p:nvSpPr>
        <p:spPr>
          <a:xfrm>
            <a:off x="5998464" y="2286000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million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23376" y="2286000"/>
            <a:ext cx="2587752" cy="822960"/>
          </a:xfrm>
          <a:prstGeom prst="roundRect">
            <a:avLst>
              <a:gd name="adj" fmla="val 7778"/>
            </a:avLst>
          </a:prstGeom>
          <a:solidFill>
            <a:srgbClr val="12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8723376" y="2286000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billion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121B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AN INDEX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7947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 →  compare with Vector 1, Vector 2, Vector 3, ... Vector N  →  sort  →  return closest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complexity:  </a:t>
            </a:r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Indexes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 the number of comparisons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while trying to return almost the same results.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MAJOR APPROACHES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search vs. Approximate Nearest Neighbor (ANN)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246120"/>
          </a:xfrm>
          <a:prstGeom prst="roundRect">
            <a:avLst>
              <a:gd name="adj" fmla="val 1972"/>
            </a:avLst>
          </a:prstGeom>
          <a:solidFill>
            <a:srgbClr val="121B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SEARCH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the mathematically correct nearest neighbors.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100% recall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Perfect accuracy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Slow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Expensive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80760" y="1783080"/>
            <a:ext cx="5532120" cy="3246120"/>
          </a:xfrm>
          <a:prstGeom prst="roundRect">
            <a:avLst>
              <a:gd name="adj" fmla="val 1972"/>
            </a:avLst>
          </a:prstGeom>
          <a:solidFill>
            <a:srgbClr val="121B2E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APPROXIMATE (ANN)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2331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vectors that are almost always the nearest neighbors.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3246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Very fast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Scales to billions of vectors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5508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4160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May miss a few true neighbors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(typical recall: 95–99.9%)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1B274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production AI systems use </a:t>
            </a:r>
            <a:pPr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INDEX — EXACT SEARCH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Index: how it works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called: Flat · Brute Force · Exhaustive Search · IndexFlatL2 (FAISS). No index is built — every query compares against every vector.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87752" cy="1005840"/>
          </a:xfrm>
          <a:prstGeom prst="roundRect">
            <a:avLst>
              <a:gd name="adj" fmla="val 6364"/>
            </a:avLst>
          </a:prstGeom>
          <a:solidFill>
            <a:srgbClr val="121B2E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1460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36392" y="2514600"/>
            <a:ext cx="137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73552" y="2514600"/>
            <a:ext cx="2587752" cy="1005840"/>
          </a:xfrm>
          <a:prstGeom prst="roundRect">
            <a:avLst>
              <a:gd name="adj" fmla="val 6364"/>
            </a:avLst>
          </a:prstGeom>
          <a:solidFill>
            <a:srgbClr val="121B2E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251460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1, 2, 3 ... 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61304" y="2514600"/>
            <a:ext cx="137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98464" y="2514600"/>
            <a:ext cx="2587752" cy="1005840"/>
          </a:xfrm>
          <a:prstGeom prst="roundRect">
            <a:avLst>
              <a:gd name="adj" fmla="val 6364"/>
            </a:avLst>
          </a:prstGeom>
          <a:solidFill>
            <a:srgbClr val="121B2E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9904" y="251460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distances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86216" y="2514600"/>
            <a:ext cx="137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23376" y="2514600"/>
            <a:ext cx="2587752" cy="1005840"/>
          </a:xfrm>
          <a:prstGeom prst="roundRect">
            <a:avLst>
              <a:gd name="adj" fmla="val 6364"/>
            </a:avLst>
          </a:prstGeom>
          <a:solidFill>
            <a:srgbClr val="121B2E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14816" y="2514600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Top-K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12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Search: 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O(N)
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Memory:  </a:t>
            </a:r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vectors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80760" y="3840480"/>
            <a:ext cx="5532120" cy="1737360"/>
          </a:xfrm>
          <a:prstGeom prst="roundRect">
            <a:avLst>
              <a:gd name="adj" fmla="val 3684"/>
            </a:avLst>
          </a:prstGeom>
          <a:solidFill>
            <a:srgbClr val="121B2E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4343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Dataset: 10,000 vectors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Query: compare all 10,000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 and accurate.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INDEX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Index: trade-offs and use cases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21B2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Perfect accuracy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No preprocessing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No tuning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Easy to implement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532120" cy="1828800"/>
          </a:xfrm>
          <a:prstGeom prst="roundRect">
            <a:avLst>
              <a:gd name="adj" fmla="val 3500"/>
            </a:avLst>
          </a:prstGeom>
          <a:solidFill>
            <a:srgbClr val="121B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22860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Slow on large datasets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Doesn't scale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1B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USE CASES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datasets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47872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2784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 truth generation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97696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97696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— HIERARCHICAL NAVIGABLE SMALL WORLD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HNSW: the main idea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of the most popular ANN algorithms. Used by Milvus, Qdrant, Weaviate, pgvector, OpenSearch, and Elasticsearch.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B274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Instead of checking every vector, HNSW builds 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each vector connects to nearby vectors. Searching becomes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navigation.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57400" y="3886200"/>
            <a:ext cx="2286000" cy="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3886200"/>
            <a:ext cx="2286000" cy="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3886200"/>
            <a:ext cx="0" cy="128016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3886200"/>
            <a:ext cx="0" cy="128016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3886200"/>
            <a:ext cx="0" cy="128016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5166360"/>
            <a:ext cx="2286000" cy="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5166360"/>
            <a:ext cx="2286000" cy="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5166360"/>
            <a:ext cx="0" cy="914400"/>
          </a:xfrm>
          <a:prstGeom prst="line">
            <a:avLst/>
          </a:prstGeom>
          <a:noFill/>
          <a:ln w="19050">
            <a:solidFill>
              <a:srgbClr val="2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36576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0" y="36576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365760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828800" y="493776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0" y="493776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493776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0" y="5852160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0" y="5852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HNSW: the multi-layer structure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21B2E"/>
          </a:solidFill>
          <a:ln w="15240">
            <a:solidFill>
              <a:srgbClr val="C084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737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0" y="1737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fewest nodes — long-distance navigation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21B2E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163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81635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  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95344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21B2E"/>
          </a:solidFill>
          <a:ln w="1524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9534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895344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  E   F   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974336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97433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497433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many vectors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4974336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nodes — local refinement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layers: fewer nodes, long jumps.   Lower layers: many nodes, fine-grained refinement.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HNSW: the search process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Suppose the query is near node 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084832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at top layer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87752" y="2286000"/>
            <a:ext cx="210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52344" y="2286000"/>
            <a:ext cx="2084832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43784" y="228600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to closest node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91456" y="2286000"/>
            <a:ext cx="210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56048" y="2286000"/>
            <a:ext cx="2084832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228600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995160" y="2286000"/>
            <a:ext cx="210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59752" y="2286000"/>
            <a:ext cx="2084832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51192" y="228600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98864" y="2286000"/>
            <a:ext cx="210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63456" y="2286000"/>
            <a:ext cx="2084832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54896" y="2286000"/>
            <a:ext cx="1901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Reach nearest neighbors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1B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7490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Instead of checking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million vectors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maybe only a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few thousand nodes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 visited.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HNSW: important parameters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47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 neighbors per node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→ </a:t>
            </a:r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recall, more memory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2359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→ </a:t>
            </a:r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smaller graph, faster build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2104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21040" y="2194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32 · 48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10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efConstruction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37673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 index quality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→ </a:t>
            </a:r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slower build, better graph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21040" y="3383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21040" y="3657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100–400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73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efSearch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2960" y="52303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 search accuracy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4846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→ </a:t>
            </a:r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 recall, slower search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2104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5120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50–300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HNSW: trade-offs and use cases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21B2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Extremely fast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Excellent recall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No clustering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Good for dynamic inserts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532120" cy="1828800"/>
          </a:xfrm>
          <a:prstGeom prst="roundRect">
            <a:avLst>
              <a:gd name="adj" fmla="val 3500"/>
            </a:avLst>
          </a:prstGeom>
          <a:solidFill>
            <a:srgbClr val="121B2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DISADVANTAGES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22860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High RAM usage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Slow index construction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1B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USE CASES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semantic search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547872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2784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97696" y="4297680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1B274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97696" y="429768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 systems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— INVERTED FILE INDEX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IVF, step 1: cluster the vectors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called IVF / IVFFlat. Instead of graph navigation, IVF partitions the dataset.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1,000,000 vectors  →  clustered into  1,000 centroids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584448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7180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Centroid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 ○ ○ ○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88536" y="2834640"/>
            <a:ext cx="3584448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1416" y="297180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Centroid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71416" y="3429000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 ○ ○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28432" y="2834640"/>
            <a:ext cx="3584448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2971800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Centroid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11312" y="3429000"/>
            <a:ext cx="3218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 ○ ○ ○ 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cluster groups nearby vectors around a centroid.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IVF, step 2: search only the nearest cluster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84448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33088" y="1783080"/>
            <a:ext cx="155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88536" y="1783080"/>
            <a:ext cx="3584448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79976" y="1783080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nearest centroid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72984" y="1783080"/>
            <a:ext cx="155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28432" y="1783080"/>
            <a:ext cx="3584448" cy="1051560"/>
          </a:xfrm>
          <a:prstGeom prst="roundRect">
            <a:avLst>
              <a:gd name="adj" fmla="val 6087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9872" y="1783080"/>
            <a:ext cx="3401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only inside that cluster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11064240" cy="1463040"/>
          </a:xfrm>
          <a:prstGeom prst="roundRect">
            <a:avLst>
              <a:gd name="adj" fmla="val 4375"/>
            </a:avLst>
          </a:prstGeom>
          <a:solidFill>
            <a:srgbClr val="1B274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5468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Instead of searching  </a:t>
            </a:r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1,000,000 vectors
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maybe  </a:t>
            </a:r>
            <a:pPr indent="0" marL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 vectors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Huge speed improvement.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IVF: important parameters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103120"/>
          </a:xfrm>
          <a:prstGeom prst="roundRect">
            <a:avLst>
              <a:gd name="adj" fmla="val 3043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nlist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clusters.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→ smaller clusters, faster search, more memory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TYPICAL:  1024 · 4096 · 8192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532120" cy="2103120"/>
          </a:xfrm>
          <a:prstGeom prst="roundRect">
            <a:avLst>
              <a:gd name="adj" fmla="val 3043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nprobe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5508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many clusters to search.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743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nlist=1000, nprobe=10 → only 10 clusters searched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nprobe → higher recall, slower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49240" cy="1554480"/>
          </a:xfrm>
          <a:prstGeom prst="roundRect">
            <a:avLst>
              <a:gd name="adj" fmla="val 4118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Fast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Memory efficient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Great for huge datasets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4114800"/>
            <a:ext cx="5532120" cy="1554480"/>
          </a:xfrm>
          <a:prstGeom prst="roundRect">
            <a:avLst>
              <a:gd name="adj" fmla="val 4118"/>
            </a:avLst>
          </a:prstGeom>
          <a:solidFill>
            <a:srgbClr val="121B2E"/>
          </a:solidFill>
          <a:ln w="1651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DISADVANTAGES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572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Needs training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Sensitive to parameter tuning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IVF: best use cases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011680"/>
          </a:xfrm>
          <a:prstGeom prst="roundRect">
            <a:avLst>
              <a:gd name="adj" fmla="val 3182"/>
            </a:avLst>
          </a:prstGeom>
          <a:solidFill>
            <a:srgbClr val="121B2E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USE CASES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 datasets — 10M+ vectors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trades a small amount of recall for a dramatic reduction in the number of vectors scanned per query.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QUANTIZATION (PQ)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PQ: compressing vectors into tiny codes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 compresses vectors — instead of storing full floating-point values, it stores compact integer codes.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VECTOR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[0.15, -0.77, 0.22, ..., 0.81]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 floats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2286000"/>
            <a:ext cx="5532120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423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 REPRESENTATION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[14, 22, 9, 7, 19]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3246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 integer codes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1737360"/>
          </a:xfrm>
          <a:prstGeom prst="roundRect">
            <a:avLst>
              <a:gd name="adj" fmla="val 3684"/>
            </a:avLst>
          </a:prstGeom>
          <a:solidFill>
            <a:srgbClr val="1B274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PQ WORKS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389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 dimensions  →  split into 96 groups  →  each group compressed via its own codebook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Instead of storing actual values, PQ stores codebook IDs.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PQ: memory savings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554480"/>
          </a:xfrm>
          <a:prstGeom prst="roundRect">
            <a:avLst>
              <a:gd name="adj" fmla="val 4118"/>
            </a:avLst>
          </a:prstGeom>
          <a:solidFill>
            <a:srgbClr val="121B2E"/>
          </a:solidFill>
          <a:ln w="16510">
            <a:solidFill>
              <a:srgbClr val="F871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768 floats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3 KB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80760" y="1783080"/>
            <a:ext cx="5532120" cy="1554480"/>
          </a:xfrm>
          <a:prstGeom prst="roundRect">
            <a:avLst>
              <a:gd name="adj" fmla="val 4118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55080" y="2286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bytes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1B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204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Often  </a:t>
            </a:r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4×–16× smaller</a:t>
            </a:r>
            <a:pPr indent="0" marL="0">
              <a:buNone/>
            </a:pPr>
            <a:r>
              <a:rPr lang="en-US" sz="2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 sometimes even more.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5349240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010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28523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Huge memory reduction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Billion-scale search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Faster cache performance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4892040"/>
            <a:ext cx="5532120" cy="1371600"/>
          </a:xfrm>
          <a:prstGeom prst="roundRect">
            <a:avLst>
              <a:gd name="adj" fmla="val 4667"/>
            </a:avLst>
          </a:prstGeom>
          <a:solidFill>
            <a:srgbClr val="121B2E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5010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DISADVANTAGES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528523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Approximate distances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Lower recall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 — CONTINUED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PQ: best use cases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64240" cy="2377440"/>
          </a:xfrm>
          <a:prstGeom prst="roundRect">
            <a:avLst>
              <a:gd name="adj" fmla="val 2692"/>
            </a:avLst>
          </a:prstGeom>
          <a:solidFill>
            <a:srgbClr val="121B2E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USE CASES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Billion-vector datasets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Memory-constrained systems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Large-scale search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 is what makes billion-scale vector search fit in reasonable RAM.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SCALAR QUANTIZATION (SQ)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SQ: a simpler compression technique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Simpler than PQ. Instead of float32, convert each value to int8 or uint8.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float32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89320" y="2377440"/>
            <a:ext cx="182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080760" y="2377440"/>
            <a:ext cx="5532120" cy="1463040"/>
          </a:xfrm>
          <a:prstGeom prst="roundRect">
            <a:avLst>
              <a:gd name="adj" fmla="val 4375"/>
            </a:avLst>
          </a:prstGeom>
          <a:solidFill>
            <a:srgbClr val="121B2E"/>
          </a:solidFill>
          <a:ln w="16510">
            <a:solidFill>
              <a:srgbClr val="C084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3774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int8 / uint8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1B274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233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becomes  </a:t>
            </a:r>
            <a:pPr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4× smaller.</a:t>
            </a:r>
            <a:pPr indent="0" marL="0">
              <a:buNone/>
            </a:pPr>
            <a:r>
              <a:rPr lang="en-US" sz="2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Accuracy loss is usually small.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vs. HNSW vs. IVF vs. PQ</a:t>
            </a:r>
            <a:endParaRPr lang="en-US" sz="2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389120"/>
        </p:xfrm>
        <a:graphic>
          <a:graphicData uri="http://schemas.openxmlformats.org/drawingml/2006/table">
            <a:tbl>
              <a:tblPr/>
              <a:tblGrid>
                <a:gridCol w="2926080"/>
                <a:gridCol w="2034540"/>
                <a:gridCol w="2034540"/>
                <a:gridCol w="2034540"/>
                <a:gridCol w="203454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Feature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HNSW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IVF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PQ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Exact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✅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Recall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Very High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 Speed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Slow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Very Fast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Memory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Very Low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Build Time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Slow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Needs Training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Scales to Billions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❌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Limited by RAM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CHOOSING THE RIGHT INDEX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the index to your dataset size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F5F7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560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Dataset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1737360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100k vectors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66560" y="1737360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Flat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34640"/>
            <a:ext cx="2560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 Dataset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834640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100k – 10M vectors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2834640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HNSW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31920"/>
            <a:ext cx="2560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 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931920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10M – 100M vectors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3931920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IVF or HNSW (depends on RAM)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29200"/>
            <a:ext cx="2560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Massive Dataset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5029200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Billion scale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66560" y="5029200"/>
            <a:ext cx="4663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IVF + PQ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 COMBINATIONS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Indexes are often combined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+ Flat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cluster  →  exact search inside cluster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and accurate.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55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+ PQ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7764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cluster  →  search compressed vectors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417880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Extremely memory efficient.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64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 + PQ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2852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navigation  →  compressed vectors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568756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 search with reduced RAM (supported by some systems).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METRICS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to measure an index's performance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691640"/>
          </a:xfrm>
          <a:prstGeom prst="roundRect">
            <a:avLst>
              <a:gd name="adj" fmla="val 3784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Correct / Actual Correct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actual, 9 found → 90% recall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532120" cy="1691640"/>
          </a:xfrm>
          <a:prstGeom prst="roundRect">
            <a:avLst>
              <a:gd name="adj" fmla="val 3784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per search.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606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Flat: 150ms   HNSW: 5ms   IVF: 12ms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12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THROUGHPUT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Queries per second. Higher = more concurrent users.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3611880"/>
            <a:ext cx="5532120" cy="1234440"/>
          </a:xfrm>
          <a:prstGeom prst="roundRect">
            <a:avLst>
              <a:gd name="adj" fmla="val 5185"/>
            </a:avLst>
          </a:prstGeom>
          <a:solidFill>
            <a:srgbClr val="12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BUILD 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4114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required to construct the index before searching.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B274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USAGE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3949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 vectors, graph, centroids, and compressed codes.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PRACTICAL EXAMPLES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real-world scenarios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F5F7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10,000 PDFs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06240" y="173736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92240" y="1737360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dataset; exact search is fast enough.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3464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million products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283464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latency and high recall for production search.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93192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million documents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393192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3931920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Partitioning dramatically reduces search cost.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64240" cy="932688"/>
          </a:xfrm>
          <a:prstGeom prst="roundRect">
            <a:avLst>
              <a:gd name="adj" fmla="val 6863"/>
            </a:avLst>
          </a:prstGeom>
          <a:solidFill>
            <a:srgbClr val="121B2E"/>
          </a:solidFill>
          <a:ln w="1651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29200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billion embeddings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502920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 + PQ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5029200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Compression keeps storage and RAM manageable.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 → recommended index</a:t>
            </a:r>
            <a:endParaRPr lang="en-US" sz="2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480560"/>
        </p:xfrm>
        <a:graphic>
          <a:graphicData uri="http://schemas.openxmlformats.org/drawingml/2006/table">
            <a:tbl>
              <a:tblPr/>
              <a:tblGrid>
                <a:gridCol w="6858000"/>
                <a:gridCol w="4206240"/>
              </a:tblGrid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Scenario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8B9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Recommended Index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4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Ground-truth evaluation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Small datasets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Low-latency production search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HNSW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Large datasets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IVF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Limited RAM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PQ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Billion-scale vector search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IVF + PQ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Highest accuracy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Best speed/accuracy balance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HNSW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F5F7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Lowest memory footprint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PQ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line per index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173736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exhaustive search — perfect accuracy, poor scalability.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14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251460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navigable multi-layer graph — extremely fast, very high recall, more memory.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918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329184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clusters vectors and searches only relevant partitions — needs tuning (nlist, nprobe).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69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77440" y="406908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compresses vectors into compact codes — billion-scale search, some recall loss.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12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46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377440" y="484632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simpler compression (float32 → int8) — modest memory savings, minor accuracy loss.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7150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ideal index depends on exactness, latency, dataset size, memory, and acceptable recall trade-offs.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2026-08-31T07:32:27Z</dcterms:created>
  <dcterms:modified xsi:type="dcterms:W3CDTF">2026-08-31T07:32:27Z</dcterms:modified>
</cp:coreProperties>
</file>